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95" r:id="rId2"/>
    <p:sldId id="29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7" r:id="rId13"/>
    <p:sldId id="306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4" r:id="rId30"/>
    <p:sldId id="325" r:id="rId31"/>
    <p:sldId id="327" r:id="rId32"/>
    <p:sldId id="328" r:id="rId33"/>
    <p:sldId id="329" r:id="rId34"/>
    <p:sldId id="330" r:id="rId35"/>
    <p:sldId id="326" r:id="rId3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0000" autoAdjust="0"/>
  </p:normalViewPr>
  <p:slideViewPr>
    <p:cSldViewPr>
      <p:cViewPr varScale="1">
        <p:scale>
          <a:sx n="75" d="100"/>
          <a:sy n="75" d="100"/>
        </p:scale>
        <p:origin x="-1632" y="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notesMaster" Target="notesMasters/notesMaster1.xml"/><Relationship Id="rId38" Type="http://schemas.openxmlformats.org/officeDocument/2006/relationships/printerSettings" Target="printerSettings/printerSettings1.bin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7D605E-7B07-4309-9883-12B22783BA2D}" type="doc">
      <dgm:prSet loTypeId="urn:microsoft.com/office/officeart/2005/8/layout/radial5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D6ADCF55-DF0D-404E-842F-05D646BFA4B9}">
      <dgm:prSet phldrT="[文本]"/>
      <dgm:spPr/>
      <dgm:t>
        <a:bodyPr/>
        <a:lstStyle/>
        <a:p>
          <a:r>
            <a:rPr lang="zh-CN" altLang="en-US" dirty="0" smtClean="0"/>
            <a:t>文件类型</a:t>
          </a:r>
          <a:endParaRPr lang="zh-CN" altLang="en-US" dirty="0"/>
        </a:p>
      </dgm:t>
    </dgm:pt>
    <dgm:pt modelId="{C1B6DCC1-CCDA-4B9F-A18A-256591252F5E}" type="parTrans" cxnId="{A44BB71D-53CA-47B2-AD67-2EA2F3F06C1E}">
      <dgm:prSet/>
      <dgm:spPr/>
      <dgm:t>
        <a:bodyPr/>
        <a:lstStyle/>
        <a:p>
          <a:endParaRPr lang="zh-CN" altLang="en-US"/>
        </a:p>
      </dgm:t>
    </dgm:pt>
    <dgm:pt modelId="{95135D9A-7CD1-4C8B-96B9-538FC03111A7}" type="sibTrans" cxnId="{A44BB71D-53CA-47B2-AD67-2EA2F3F06C1E}">
      <dgm:prSet/>
      <dgm:spPr/>
      <dgm:t>
        <a:bodyPr/>
        <a:lstStyle/>
        <a:p>
          <a:endParaRPr lang="zh-CN" altLang="en-US"/>
        </a:p>
      </dgm:t>
    </dgm:pt>
    <dgm:pt modelId="{E149715D-5042-42A0-9773-716CB5F094E0}">
      <dgm:prSet phldrT="[文本]"/>
      <dgm:spPr/>
      <dgm:t>
        <a:bodyPr/>
        <a:lstStyle/>
        <a:p>
          <a:r>
            <a:rPr lang="zh-CN" altLang="en-US" dirty="0" smtClean="0"/>
            <a:t>目录文件</a:t>
          </a:r>
          <a:endParaRPr lang="en-US" altLang="zh-CN" dirty="0" smtClean="0"/>
        </a:p>
        <a:p>
          <a:r>
            <a:rPr lang="en-US" altLang="zh-CN" dirty="0" smtClean="0"/>
            <a:t>d</a:t>
          </a:r>
          <a:endParaRPr lang="zh-CN" altLang="en-US" dirty="0"/>
        </a:p>
      </dgm:t>
    </dgm:pt>
    <dgm:pt modelId="{40220DFE-F696-4BBA-A37C-B27E30B1B179}" type="parTrans" cxnId="{7B98B880-A3F4-4CEB-A488-0B8B3D108B08}">
      <dgm:prSet/>
      <dgm:spPr/>
      <dgm:t>
        <a:bodyPr/>
        <a:lstStyle/>
        <a:p>
          <a:endParaRPr lang="zh-CN" altLang="en-US"/>
        </a:p>
      </dgm:t>
    </dgm:pt>
    <dgm:pt modelId="{1A4A6C07-89AC-415B-9FBA-9F6522E8B205}" type="sibTrans" cxnId="{7B98B880-A3F4-4CEB-A488-0B8B3D108B08}">
      <dgm:prSet/>
      <dgm:spPr/>
      <dgm:t>
        <a:bodyPr/>
        <a:lstStyle/>
        <a:p>
          <a:endParaRPr lang="zh-CN" altLang="en-US"/>
        </a:p>
      </dgm:t>
    </dgm:pt>
    <dgm:pt modelId="{E829FC89-3662-4EB7-A7C6-76AE79F3D632}">
      <dgm:prSet phldrT="[文本]"/>
      <dgm:spPr/>
      <dgm:t>
        <a:bodyPr/>
        <a:lstStyle/>
        <a:p>
          <a:r>
            <a:rPr lang="zh-CN" altLang="en-US" dirty="0" smtClean="0"/>
            <a:t>特殊文件</a:t>
          </a:r>
          <a:endParaRPr lang="en-US" altLang="zh-CN" dirty="0" smtClean="0"/>
        </a:p>
        <a:p>
          <a:r>
            <a:rPr lang="en-US" altLang="zh-CN" dirty="0" smtClean="0"/>
            <a:t>p/l/b/c</a:t>
          </a:r>
          <a:endParaRPr lang="zh-CN" altLang="en-US" dirty="0"/>
        </a:p>
      </dgm:t>
    </dgm:pt>
    <dgm:pt modelId="{752CB86D-4CF9-4E62-89D4-816A754A5E47}" type="parTrans" cxnId="{48F82373-0983-4270-BADA-DBACD8D45D50}">
      <dgm:prSet/>
      <dgm:spPr/>
      <dgm:t>
        <a:bodyPr/>
        <a:lstStyle/>
        <a:p>
          <a:endParaRPr lang="zh-CN" altLang="en-US"/>
        </a:p>
      </dgm:t>
    </dgm:pt>
    <dgm:pt modelId="{61D85254-2BC1-435E-9F4F-05B1F5FB5C07}" type="sibTrans" cxnId="{48F82373-0983-4270-BADA-DBACD8D45D50}">
      <dgm:prSet/>
      <dgm:spPr/>
      <dgm:t>
        <a:bodyPr/>
        <a:lstStyle/>
        <a:p>
          <a:endParaRPr lang="zh-CN" altLang="en-US"/>
        </a:p>
      </dgm:t>
    </dgm:pt>
    <dgm:pt modelId="{2F068A16-7028-4360-9682-D94F8C0268F7}">
      <dgm:prSet phldrT="[文本]"/>
      <dgm:spPr/>
      <dgm:t>
        <a:bodyPr/>
        <a:lstStyle/>
        <a:p>
          <a:r>
            <a:rPr lang="zh-CN" altLang="en-US" dirty="0" smtClean="0"/>
            <a:t>普通文件</a:t>
          </a:r>
          <a:endParaRPr lang="en-US" altLang="zh-CN" dirty="0" smtClean="0"/>
        </a:p>
        <a:p>
          <a:r>
            <a:rPr lang="en-US" altLang="zh-CN" dirty="0" smtClean="0"/>
            <a:t>-</a:t>
          </a:r>
          <a:endParaRPr lang="zh-CN" altLang="en-US" dirty="0"/>
        </a:p>
      </dgm:t>
    </dgm:pt>
    <dgm:pt modelId="{C3FA78B1-FD5F-4339-A0FE-AF8096F63CEE}" type="parTrans" cxnId="{82EACEB0-B4D0-47BC-A11A-9416471CC655}">
      <dgm:prSet/>
      <dgm:spPr/>
      <dgm:t>
        <a:bodyPr/>
        <a:lstStyle/>
        <a:p>
          <a:endParaRPr lang="zh-CN" altLang="en-US"/>
        </a:p>
      </dgm:t>
    </dgm:pt>
    <dgm:pt modelId="{312B01C2-56D9-4246-8444-83BDBD45626E}" type="sibTrans" cxnId="{82EACEB0-B4D0-47BC-A11A-9416471CC655}">
      <dgm:prSet/>
      <dgm:spPr/>
      <dgm:t>
        <a:bodyPr/>
        <a:lstStyle/>
        <a:p>
          <a:endParaRPr lang="zh-CN" altLang="en-US"/>
        </a:p>
      </dgm:t>
    </dgm:pt>
    <dgm:pt modelId="{A4F2A222-7709-46C5-AFEE-B71E7D86CACE}" type="pres">
      <dgm:prSet presAssocID="{1B7D605E-7B07-4309-9883-12B22783BA2D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4E0E9BC-47AF-4BA2-BC04-445AC84AC54C}" type="pres">
      <dgm:prSet presAssocID="{D6ADCF55-DF0D-404E-842F-05D646BFA4B9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5CBBFBB9-DD4D-48B0-B55E-DFD161D35E23}" type="pres">
      <dgm:prSet presAssocID="{40220DFE-F696-4BBA-A37C-B27E30B1B179}" presName="parTrans" presStyleLbl="sibTrans2D1" presStyleIdx="0" presStyleCnt="3"/>
      <dgm:spPr/>
      <dgm:t>
        <a:bodyPr/>
        <a:lstStyle/>
        <a:p>
          <a:endParaRPr lang="zh-CN" altLang="en-US"/>
        </a:p>
      </dgm:t>
    </dgm:pt>
    <dgm:pt modelId="{036D8CFD-B3CE-42F8-9D8D-87F6BDE321D1}" type="pres">
      <dgm:prSet presAssocID="{40220DFE-F696-4BBA-A37C-B27E30B1B179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A0AF75D3-22F0-44A7-B788-853D8ED05815}" type="pres">
      <dgm:prSet presAssocID="{E149715D-5042-42A0-9773-716CB5F094E0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10DE7BB-CE69-46A0-9C2B-3C23F9ADCBF1}" type="pres">
      <dgm:prSet presAssocID="{752CB86D-4CF9-4E62-89D4-816A754A5E47}" presName="parTrans" presStyleLbl="sibTrans2D1" presStyleIdx="1" presStyleCnt="3"/>
      <dgm:spPr/>
      <dgm:t>
        <a:bodyPr/>
        <a:lstStyle/>
        <a:p>
          <a:endParaRPr lang="zh-CN" altLang="en-US"/>
        </a:p>
      </dgm:t>
    </dgm:pt>
    <dgm:pt modelId="{491626FB-4595-4475-AD9C-4C1EEFDF75CC}" type="pres">
      <dgm:prSet presAssocID="{752CB86D-4CF9-4E62-89D4-816A754A5E47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A611FF16-FE84-455E-BA32-E32D0ECC34F4}" type="pres">
      <dgm:prSet presAssocID="{E829FC89-3662-4EB7-A7C6-76AE79F3D632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AAFB589-438A-48ED-B2CD-8B57B08E2222}" type="pres">
      <dgm:prSet presAssocID="{C3FA78B1-FD5F-4339-A0FE-AF8096F63CEE}" presName="parTrans" presStyleLbl="sibTrans2D1" presStyleIdx="2" presStyleCnt="3"/>
      <dgm:spPr/>
      <dgm:t>
        <a:bodyPr/>
        <a:lstStyle/>
        <a:p>
          <a:endParaRPr lang="zh-CN" altLang="en-US"/>
        </a:p>
      </dgm:t>
    </dgm:pt>
    <dgm:pt modelId="{AE1970D6-F826-4964-B283-C4D92D38339E}" type="pres">
      <dgm:prSet presAssocID="{C3FA78B1-FD5F-4339-A0FE-AF8096F63CEE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  <dgm:pt modelId="{82CA23B7-D194-4BEE-B432-83F8C9AF2039}" type="pres">
      <dgm:prSet presAssocID="{2F068A16-7028-4360-9682-D94F8C0268F7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E8E8820-06DC-4BE6-A86D-4C381701D24E}" type="presOf" srcId="{752CB86D-4CF9-4E62-89D4-816A754A5E47}" destId="{491626FB-4595-4475-AD9C-4C1EEFDF75CC}" srcOrd="1" destOrd="0" presId="urn:microsoft.com/office/officeart/2005/8/layout/radial5"/>
    <dgm:cxn modelId="{D079D474-EB77-4963-8766-67E6CE3CC63F}" type="presOf" srcId="{40220DFE-F696-4BBA-A37C-B27E30B1B179}" destId="{036D8CFD-B3CE-42F8-9D8D-87F6BDE321D1}" srcOrd="1" destOrd="0" presId="urn:microsoft.com/office/officeart/2005/8/layout/radial5"/>
    <dgm:cxn modelId="{6B8130CF-BC59-4C7D-A32D-81C582DD765A}" type="presOf" srcId="{D6ADCF55-DF0D-404E-842F-05D646BFA4B9}" destId="{14E0E9BC-47AF-4BA2-BC04-445AC84AC54C}" srcOrd="0" destOrd="0" presId="urn:microsoft.com/office/officeart/2005/8/layout/radial5"/>
    <dgm:cxn modelId="{4FD4BD67-938A-407A-ABD6-AF9224F67171}" type="presOf" srcId="{C3FA78B1-FD5F-4339-A0FE-AF8096F63CEE}" destId="{AE1970D6-F826-4964-B283-C4D92D38339E}" srcOrd="1" destOrd="0" presId="urn:microsoft.com/office/officeart/2005/8/layout/radial5"/>
    <dgm:cxn modelId="{4F7D89A3-D186-40A5-8C00-46B5E057E41C}" type="presOf" srcId="{E149715D-5042-42A0-9773-716CB5F094E0}" destId="{A0AF75D3-22F0-44A7-B788-853D8ED05815}" srcOrd="0" destOrd="0" presId="urn:microsoft.com/office/officeart/2005/8/layout/radial5"/>
    <dgm:cxn modelId="{EEFC3E0E-3D12-42A8-8406-1220F58F11B0}" type="presOf" srcId="{1B7D605E-7B07-4309-9883-12B22783BA2D}" destId="{A4F2A222-7709-46C5-AFEE-B71E7D86CACE}" srcOrd="0" destOrd="0" presId="urn:microsoft.com/office/officeart/2005/8/layout/radial5"/>
    <dgm:cxn modelId="{A44BB71D-53CA-47B2-AD67-2EA2F3F06C1E}" srcId="{1B7D605E-7B07-4309-9883-12B22783BA2D}" destId="{D6ADCF55-DF0D-404E-842F-05D646BFA4B9}" srcOrd="0" destOrd="0" parTransId="{C1B6DCC1-CCDA-4B9F-A18A-256591252F5E}" sibTransId="{95135D9A-7CD1-4C8B-96B9-538FC03111A7}"/>
    <dgm:cxn modelId="{4A8716F9-89E7-4805-A4C3-460551850D28}" type="presOf" srcId="{E829FC89-3662-4EB7-A7C6-76AE79F3D632}" destId="{A611FF16-FE84-455E-BA32-E32D0ECC34F4}" srcOrd="0" destOrd="0" presId="urn:microsoft.com/office/officeart/2005/8/layout/radial5"/>
    <dgm:cxn modelId="{5754762B-9320-440A-8530-EB74861A3BF6}" type="presOf" srcId="{2F068A16-7028-4360-9682-D94F8C0268F7}" destId="{82CA23B7-D194-4BEE-B432-83F8C9AF2039}" srcOrd="0" destOrd="0" presId="urn:microsoft.com/office/officeart/2005/8/layout/radial5"/>
    <dgm:cxn modelId="{886913D2-6AB1-4497-9400-0240800BCB5B}" type="presOf" srcId="{752CB86D-4CF9-4E62-89D4-816A754A5E47}" destId="{D10DE7BB-CE69-46A0-9C2B-3C23F9ADCBF1}" srcOrd="0" destOrd="0" presId="urn:microsoft.com/office/officeart/2005/8/layout/radial5"/>
    <dgm:cxn modelId="{2B03DABA-B777-4C31-A42B-D37C5A0A66D0}" type="presOf" srcId="{C3FA78B1-FD5F-4339-A0FE-AF8096F63CEE}" destId="{CAAFB589-438A-48ED-B2CD-8B57B08E2222}" srcOrd="0" destOrd="0" presId="urn:microsoft.com/office/officeart/2005/8/layout/radial5"/>
    <dgm:cxn modelId="{7B98B880-A3F4-4CEB-A488-0B8B3D108B08}" srcId="{D6ADCF55-DF0D-404E-842F-05D646BFA4B9}" destId="{E149715D-5042-42A0-9773-716CB5F094E0}" srcOrd="0" destOrd="0" parTransId="{40220DFE-F696-4BBA-A37C-B27E30B1B179}" sibTransId="{1A4A6C07-89AC-415B-9FBA-9F6522E8B205}"/>
    <dgm:cxn modelId="{82EACEB0-B4D0-47BC-A11A-9416471CC655}" srcId="{D6ADCF55-DF0D-404E-842F-05D646BFA4B9}" destId="{2F068A16-7028-4360-9682-D94F8C0268F7}" srcOrd="2" destOrd="0" parTransId="{C3FA78B1-FD5F-4339-A0FE-AF8096F63CEE}" sibTransId="{312B01C2-56D9-4246-8444-83BDBD45626E}"/>
    <dgm:cxn modelId="{48F82373-0983-4270-BADA-DBACD8D45D50}" srcId="{D6ADCF55-DF0D-404E-842F-05D646BFA4B9}" destId="{E829FC89-3662-4EB7-A7C6-76AE79F3D632}" srcOrd="1" destOrd="0" parTransId="{752CB86D-4CF9-4E62-89D4-816A754A5E47}" sibTransId="{61D85254-2BC1-435E-9F4F-05B1F5FB5C07}"/>
    <dgm:cxn modelId="{89E11C78-1D8B-4C8E-B709-681C6CA74B31}" type="presOf" srcId="{40220DFE-F696-4BBA-A37C-B27E30B1B179}" destId="{5CBBFBB9-DD4D-48B0-B55E-DFD161D35E23}" srcOrd="0" destOrd="0" presId="urn:microsoft.com/office/officeart/2005/8/layout/radial5"/>
    <dgm:cxn modelId="{ECF02C4B-840E-45D8-BE27-8D79C91663C8}" type="presParOf" srcId="{A4F2A222-7709-46C5-AFEE-B71E7D86CACE}" destId="{14E0E9BC-47AF-4BA2-BC04-445AC84AC54C}" srcOrd="0" destOrd="0" presId="urn:microsoft.com/office/officeart/2005/8/layout/radial5"/>
    <dgm:cxn modelId="{CE0C4053-FEF7-41CF-9E51-6DFF7A5D9FF7}" type="presParOf" srcId="{A4F2A222-7709-46C5-AFEE-B71E7D86CACE}" destId="{5CBBFBB9-DD4D-48B0-B55E-DFD161D35E23}" srcOrd="1" destOrd="0" presId="urn:microsoft.com/office/officeart/2005/8/layout/radial5"/>
    <dgm:cxn modelId="{FE01A790-9E81-41B6-B8BC-E295ECF6645F}" type="presParOf" srcId="{5CBBFBB9-DD4D-48B0-B55E-DFD161D35E23}" destId="{036D8CFD-B3CE-42F8-9D8D-87F6BDE321D1}" srcOrd="0" destOrd="0" presId="urn:microsoft.com/office/officeart/2005/8/layout/radial5"/>
    <dgm:cxn modelId="{50C4704A-F861-4D9C-AC99-ADDFE7440238}" type="presParOf" srcId="{A4F2A222-7709-46C5-AFEE-B71E7D86CACE}" destId="{A0AF75D3-22F0-44A7-B788-853D8ED05815}" srcOrd="2" destOrd="0" presId="urn:microsoft.com/office/officeart/2005/8/layout/radial5"/>
    <dgm:cxn modelId="{FA43B31E-F1EF-4D49-872E-83A99FDFEF49}" type="presParOf" srcId="{A4F2A222-7709-46C5-AFEE-B71E7D86CACE}" destId="{D10DE7BB-CE69-46A0-9C2B-3C23F9ADCBF1}" srcOrd="3" destOrd="0" presId="urn:microsoft.com/office/officeart/2005/8/layout/radial5"/>
    <dgm:cxn modelId="{91751B36-7EAE-477B-953C-4EFF2F9F9B45}" type="presParOf" srcId="{D10DE7BB-CE69-46A0-9C2B-3C23F9ADCBF1}" destId="{491626FB-4595-4475-AD9C-4C1EEFDF75CC}" srcOrd="0" destOrd="0" presId="urn:microsoft.com/office/officeart/2005/8/layout/radial5"/>
    <dgm:cxn modelId="{A80FE7A7-8550-40AA-8807-F0F790386EC3}" type="presParOf" srcId="{A4F2A222-7709-46C5-AFEE-B71E7D86CACE}" destId="{A611FF16-FE84-455E-BA32-E32D0ECC34F4}" srcOrd="4" destOrd="0" presId="urn:microsoft.com/office/officeart/2005/8/layout/radial5"/>
    <dgm:cxn modelId="{C84D740E-1776-4F92-B246-7C1304F52BA6}" type="presParOf" srcId="{A4F2A222-7709-46C5-AFEE-B71E7D86CACE}" destId="{CAAFB589-438A-48ED-B2CD-8B57B08E2222}" srcOrd="5" destOrd="0" presId="urn:microsoft.com/office/officeart/2005/8/layout/radial5"/>
    <dgm:cxn modelId="{8C48CD40-E4D0-43D7-9811-B73D65CB3CE7}" type="presParOf" srcId="{CAAFB589-438A-48ED-B2CD-8B57B08E2222}" destId="{AE1970D6-F826-4964-B283-C4D92D38339E}" srcOrd="0" destOrd="0" presId="urn:microsoft.com/office/officeart/2005/8/layout/radial5"/>
    <dgm:cxn modelId="{261A430D-743C-48C9-882D-B4734162F3BF}" type="presParOf" srcId="{A4F2A222-7709-46C5-AFEE-B71E7D86CACE}" destId="{82CA23B7-D194-4BEE-B432-83F8C9AF2039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E0E9BC-47AF-4BA2-BC04-445AC84AC54C}">
      <dsp:nvSpPr>
        <dsp:cNvPr id="0" name=""/>
        <dsp:cNvSpPr/>
      </dsp:nvSpPr>
      <dsp:spPr>
        <a:xfrm>
          <a:off x="3430674" y="1919258"/>
          <a:ext cx="1368251" cy="136825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kern="1200" dirty="0" smtClean="0"/>
            <a:t>文件类型</a:t>
          </a:r>
          <a:endParaRPr lang="zh-CN" altLang="en-US" sz="3200" kern="1200" dirty="0"/>
        </a:p>
      </dsp:txBody>
      <dsp:txXfrm>
        <a:off x="3631050" y="2119634"/>
        <a:ext cx="967499" cy="967499"/>
      </dsp:txXfrm>
    </dsp:sp>
    <dsp:sp modelId="{5CBBFBB9-DD4D-48B0-B55E-DFD161D35E23}">
      <dsp:nvSpPr>
        <dsp:cNvPr id="0" name=""/>
        <dsp:cNvSpPr/>
      </dsp:nvSpPr>
      <dsp:spPr>
        <a:xfrm rot="16200000">
          <a:off x="3969318" y="1420397"/>
          <a:ext cx="290962" cy="4652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900" kern="1200"/>
        </a:p>
      </dsp:txBody>
      <dsp:txXfrm>
        <a:off x="4012963" y="1557083"/>
        <a:ext cx="203673" cy="279123"/>
      </dsp:txXfrm>
    </dsp:sp>
    <dsp:sp modelId="{A0AF75D3-22F0-44A7-B788-853D8ED05815}">
      <dsp:nvSpPr>
        <dsp:cNvPr id="0" name=""/>
        <dsp:cNvSpPr/>
      </dsp:nvSpPr>
      <dsp:spPr>
        <a:xfrm>
          <a:off x="3430674" y="2021"/>
          <a:ext cx="1368251" cy="136825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目录文件</a:t>
          </a:r>
          <a:endParaRPr lang="en-US" altLang="zh-CN" sz="1900" kern="1200" dirty="0" smtClean="0"/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900" kern="1200" dirty="0" smtClean="0"/>
            <a:t>d</a:t>
          </a:r>
          <a:endParaRPr lang="zh-CN" altLang="en-US" sz="1900" kern="1200" dirty="0"/>
        </a:p>
      </dsp:txBody>
      <dsp:txXfrm>
        <a:off x="3631050" y="202397"/>
        <a:ext cx="967499" cy="967499"/>
      </dsp:txXfrm>
    </dsp:sp>
    <dsp:sp modelId="{D10DE7BB-CE69-46A0-9C2B-3C23F9ADCBF1}">
      <dsp:nvSpPr>
        <dsp:cNvPr id="0" name=""/>
        <dsp:cNvSpPr/>
      </dsp:nvSpPr>
      <dsp:spPr>
        <a:xfrm rot="1800000">
          <a:off x="4792375" y="2845973"/>
          <a:ext cx="290962" cy="4652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900" kern="1200"/>
        </a:p>
      </dsp:txBody>
      <dsp:txXfrm>
        <a:off x="4798222" y="2917192"/>
        <a:ext cx="203673" cy="279123"/>
      </dsp:txXfrm>
    </dsp:sp>
    <dsp:sp modelId="{A611FF16-FE84-455E-BA32-E32D0ECC34F4}">
      <dsp:nvSpPr>
        <dsp:cNvPr id="0" name=""/>
        <dsp:cNvSpPr/>
      </dsp:nvSpPr>
      <dsp:spPr>
        <a:xfrm>
          <a:off x="5091050" y="2877877"/>
          <a:ext cx="1368251" cy="1368251"/>
        </a:xfrm>
        <a:prstGeom prst="ellips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特殊文件</a:t>
          </a:r>
          <a:endParaRPr lang="en-US" altLang="zh-CN" sz="1900" kern="1200" dirty="0" smtClean="0"/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900" kern="1200" dirty="0" smtClean="0"/>
            <a:t>p/l/b/c</a:t>
          </a:r>
          <a:endParaRPr lang="zh-CN" altLang="en-US" sz="1900" kern="1200" dirty="0"/>
        </a:p>
      </dsp:txBody>
      <dsp:txXfrm>
        <a:off x="5291426" y="3078253"/>
        <a:ext cx="967499" cy="967499"/>
      </dsp:txXfrm>
    </dsp:sp>
    <dsp:sp modelId="{CAAFB589-438A-48ED-B2CD-8B57B08E2222}">
      <dsp:nvSpPr>
        <dsp:cNvPr id="0" name=""/>
        <dsp:cNvSpPr/>
      </dsp:nvSpPr>
      <dsp:spPr>
        <a:xfrm rot="9000000">
          <a:off x="3146262" y="2845973"/>
          <a:ext cx="290962" cy="4652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900" kern="1200"/>
        </a:p>
      </dsp:txBody>
      <dsp:txXfrm rot="10800000">
        <a:off x="3227704" y="2917192"/>
        <a:ext cx="203673" cy="279123"/>
      </dsp:txXfrm>
    </dsp:sp>
    <dsp:sp modelId="{82CA23B7-D194-4BEE-B432-83F8C9AF2039}">
      <dsp:nvSpPr>
        <dsp:cNvPr id="0" name=""/>
        <dsp:cNvSpPr/>
      </dsp:nvSpPr>
      <dsp:spPr>
        <a:xfrm>
          <a:off x="1770298" y="2877877"/>
          <a:ext cx="1368251" cy="1368251"/>
        </a:xfrm>
        <a:prstGeom prst="ellips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普通文件</a:t>
          </a:r>
          <a:endParaRPr lang="en-US" altLang="zh-CN" sz="1900" kern="1200" dirty="0" smtClean="0"/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900" kern="1200" dirty="0" smtClean="0"/>
            <a:t>-</a:t>
          </a:r>
          <a:endParaRPr lang="zh-CN" altLang="en-US" sz="1900" kern="1200" dirty="0"/>
        </a:p>
      </dsp:txBody>
      <dsp:txXfrm>
        <a:off x="1970674" y="3078253"/>
        <a:ext cx="967499" cy="967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2E97E-C7DF-44DD-9C05-3701349C3EDC}" type="datetimeFigureOut">
              <a:rPr lang="zh-CN" altLang="en-US" smtClean="0"/>
              <a:pPr/>
              <a:t>16/10/31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9ECA6-B362-41E9-A86D-E29A7E59E29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751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F9ECA6-B362-41E9-A86D-E29A7E59E29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F9ECA6-B362-41E9-A86D-E29A7E59E299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F9ECA6-B362-41E9-A86D-E29A7E59E299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7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1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logo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文件是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用来存储信息的基本结构，它是被命名（称为文件名）的存储在某种介质上的一组信息的集合。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文件的定义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68313" y="2205038"/>
          <a:ext cx="8229600" cy="4248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CN" dirty="0" err="1" smtClean="0"/>
              <a:t>ls</a:t>
            </a:r>
            <a:endParaRPr lang="en-US" altLang="zh-CN" dirty="0" smtClean="0"/>
          </a:p>
          <a:p>
            <a:r>
              <a:rPr lang="en-US" altLang="zh-CN" dirty="0" smtClean="0"/>
              <a:t>touch</a:t>
            </a:r>
          </a:p>
          <a:p>
            <a:r>
              <a:rPr lang="en-US" altLang="zh-CN" dirty="0" smtClean="0"/>
              <a:t>cp</a:t>
            </a:r>
          </a:p>
          <a:p>
            <a:r>
              <a:rPr lang="en-US" altLang="zh-CN" dirty="0" err="1" smtClean="0"/>
              <a:t>mv</a:t>
            </a:r>
            <a:endParaRPr lang="en-US" altLang="zh-CN" dirty="0" smtClean="0"/>
          </a:p>
          <a:p>
            <a:r>
              <a:rPr lang="en-US" altLang="zh-CN" dirty="0" err="1" smtClean="0"/>
              <a:t>rm</a:t>
            </a:r>
            <a:endParaRPr lang="en-US" altLang="zh-CN" dirty="0" smtClean="0"/>
          </a:p>
          <a:p>
            <a:r>
              <a:rPr lang="en-US" altLang="zh-CN" dirty="0" smtClean="0"/>
              <a:t>find</a:t>
            </a:r>
          </a:p>
          <a:p>
            <a:r>
              <a:rPr lang="en-US" altLang="zh-CN" dirty="0" smtClean="0"/>
              <a:t>cat</a:t>
            </a:r>
          </a:p>
          <a:p>
            <a:r>
              <a:rPr lang="en-US" altLang="zh-CN" dirty="0" smtClean="0"/>
              <a:t>more</a:t>
            </a:r>
          </a:p>
          <a:p>
            <a:r>
              <a:rPr lang="en-US" altLang="zh-CN" dirty="0" smtClean="0"/>
              <a:t>head</a:t>
            </a:r>
          </a:p>
          <a:p>
            <a:r>
              <a:rPr lang="en-US" altLang="zh-CN" dirty="0" smtClean="0"/>
              <a:t>Tail</a:t>
            </a:r>
          </a:p>
          <a:p>
            <a:r>
              <a:rPr lang="en-US" altLang="zh-CN" dirty="0" smtClean="0"/>
              <a:t>Tar</a:t>
            </a:r>
          </a:p>
          <a:p>
            <a:r>
              <a:rPr lang="en-US" altLang="zh-CN" dirty="0" smtClean="0"/>
              <a:t>Zip</a:t>
            </a:r>
            <a:r>
              <a:rPr lang="en-US" altLang="zh-CN" smtClean="0"/>
              <a:t>/unzip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文件操作命令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 smtClean="0"/>
              <a:t>功能：列出指定目录中的内容。</a:t>
            </a:r>
            <a:endParaRPr lang="en-US" altLang="zh-CN" dirty="0" smtClean="0"/>
          </a:p>
          <a:p>
            <a:r>
              <a:rPr lang="zh-CN" altLang="en-US" dirty="0" smtClean="0"/>
              <a:t>语法：</a:t>
            </a:r>
            <a:r>
              <a:rPr lang="en-US" altLang="zh-CN" dirty="0" err="1" smtClean="0"/>
              <a:t>ls</a:t>
            </a:r>
            <a:r>
              <a:rPr lang="en-US" altLang="zh-CN" dirty="0" smtClean="0"/>
              <a:t> [</a:t>
            </a:r>
            <a:r>
              <a:rPr lang="zh-CN" altLang="en-US" dirty="0" smtClean="0"/>
              <a:t>参数</a:t>
            </a:r>
            <a:r>
              <a:rPr lang="en-US" altLang="zh-CN" dirty="0" smtClean="0"/>
              <a:t>] [</a:t>
            </a:r>
            <a:r>
              <a:rPr lang="zh-CN" altLang="en-US" dirty="0" smtClean="0"/>
              <a:t>文件或目录</a:t>
            </a:r>
            <a:r>
              <a:rPr lang="en-US" altLang="zh-CN" dirty="0" smtClean="0"/>
              <a:t>]</a:t>
            </a:r>
          </a:p>
          <a:p>
            <a:r>
              <a:rPr lang="zh-CN" altLang="en-US" dirty="0" smtClean="0"/>
              <a:t>常用参数：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/>
              <a:t>l</a:t>
            </a:r>
            <a:r>
              <a:rPr lang="zh-CN" altLang="en-US" dirty="0" smtClean="0"/>
              <a:t>：显示目录下详细信息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/>
              <a:t>a</a:t>
            </a:r>
            <a:r>
              <a:rPr lang="zh-CN" altLang="en-US" dirty="0" smtClean="0"/>
              <a:t>：显示所有文件和目录，包括隐含文件和非隐含文件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/>
              <a:t>d</a:t>
            </a:r>
            <a:r>
              <a:rPr lang="zh-CN" altLang="en-US" dirty="0" smtClean="0"/>
              <a:t>：把目录像文件那样显示，不显示目录下的文件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err="1" smtClean="0"/>
              <a:t>i</a:t>
            </a:r>
            <a:r>
              <a:rPr lang="zh-CN" altLang="en-US" dirty="0" smtClean="0"/>
              <a:t>：显示目录和文件的节点号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ls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85925"/>
            <a:ext cx="9144000" cy="4716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* 匹配任何字符和任何数目的字符</a:t>
            </a:r>
          </a:p>
          <a:p>
            <a:r>
              <a:rPr lang="zh-CN" altLang="en-US" dirty="0" smtClean="0"/>
              <a:t>？匹配单一数目的任何数目的字符</a:t>
            </a:r>
          </a:p>
          <a:p>
            <a:r>
              <a:rPr lang="en-US" altLang="zh-CN" dirty="0" smtClean="0"/>
              <a:t>[ ] </a:t>
            </a:r>
            <a:r>
              <a:rPr lang="zh-CN" altLang="en-US" dirty="0" smtClean="0"/>
              <a:t>匹配中括号之内的任意一个字符</a:t>
            </a:r>
            <a:endParaRPr lang="en-US" altLang="zh-CN" dirty="0" smtClean="0"/>
          </a:p>
          <a:p>
            <a:r>
              <a:rPr lang="zh-CN" altLang="en-US" dirty="0" smtClean="0"/>
              <a:t>举例：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err="1" smtClean="0"/>
              <a:t>ls</a:t>
            </a:r>
            <a:r>
              <a:rPr lang="en-US" altLang="zh-CN" dirty="0" smtClean="0"/>
              <a:t> *.conf</a:t>
            </a:r>
          </a:p>
          <a:p>
            <a:pPr lvl="1">
              <a:buFont typeface="Wingdings"/>
              <a:buChar char="u"/>
            </a:pPr>
            <a:r>
              <a:rPr lang="en-US" altLang="zh-CN" dirty="0" err="1" smtClean="0"/>
              <a:t>ls</a:t>
            </a:r>
            <a:r>
              <a:rPr lang="en-US" altLang="zh-CN" dirty="0" smtClean="0"/>
              <a:t> /home/*.txt</a:t>
            </a:r>
          </a:p>
          <a:p>
            <a:pPr lvl="1">
              <a:buFont typeface="Wingdings"/>
              <a:buChar char="u"/>
            </a:pPr>
            <a:r>
              <a:rPr lang="en-US" altLang="zh-CN" dirty="0" err="1" smtClean="0"/>
              <a:t>ls</a:t>
            </a:r>
            <a:r>
              <a:rPr lang="en-US" altLang="zh-CN" dirty="0" smtClean="0"/>
              <a:t> *</a:t>
            </a:r>
            <a:r>
              <a:rPr lang="en-US" altLang="zh-CN" dirty="0" err="1" smtClean="0"/>
              <a:t>h.conf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err="1" smtClean="0"/>
              <a:t>ls</a:t>
            </a:r>
            <a:r>
              <a:rPr lang="en-US" altLang="zh-CN" dirty="0" smtClean="0"/>
              <a:t> test?.</a:t>
            </a:r>
            <a:r>
              <a:rPr lang="en-US" altLang="zh-CN" dirty="0" err="1" smtClean="0"/>
              <a:t>aa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err="1" smtClean="0"/>
              <a:t>ls</a:t>
            </a:r>
            <a:r>
              <a:rPr lang="en-US" altLang="zh-CN" dirty="0" smtClean="0"/>
              <a:t> [</a:t>
            </a:r>
            <a:r>
              <a:rPr lang="en-US" altLang="zh-CN" dirty="0" err="1" smtClean="0"/>
              <a:t>a,b,c</a:t>
            </a:r>
            <a:r>
              <a:rPr lang="en-US" altLang="zh-CN" dirty="0" smtClean="0"/>
              <a:t>].*</a:t>
            </a:r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通配符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通过命令参数直接查看帮助</a:t>
            </a:r>
            <a:r>
              <a:rPr lang="en-US" altLang="zh-CN" dirty="0" err="1" smtClean="0"/>
              <a:t>cmd</a:t>
            </a:r>
            <a:r>
              <a:rPr lang="en-US" altLang="zh-CN" dirty="0" smtClean="0"/>
              <a:t> –help</a:t>
            </a:r>
          </a:p>
          <a:p>
            <a:pPr lvl="1"/>
            <a:r>
              <a:rPr lang="zh-CN" altLang="en-US" dirty="0" smtClean="0"/>
              <a:t>例如：</a:t>
            </a:r>
            <a:r>
              <a:rPr lang="en-US" altLang="zh-CN" dirty="0" err="1" smtClean="0"/>
              <a:t>ls</a:t>
            </a:r>
            <a:r>
              <a:rPr lang="en-US" altLang="zh-CN" dirty="0" smtClean="0"/>
              <a:t> –help</a:t>
            </a:r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使用</a:t>
            </a:r>
            <a:r>
              <a:rPr lang="en-US" altLang="zh-CN" dirty="0" smtClean="0"/>
              <a:t>man</a:t>
            </a:r>
            <a:r>
              <a:rPr lang="zh-CN" altLang="en-US" dirty="0" smtClean="0"/>
              <a:t>命令获得帮助 </a:t>
            </a:r>
            <a:r>
              <a:rPr lang="en-US" altLang="zh-CN" dirty="0" smtClean="0"/>
              <a:t>man </a:t>
            </a:r>
            <a:r>
              <a:rPr lang="en-US" altLang="zh-CN" dirty="0" err="1" smtClean="0"/>
              <a:t>cmd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例如：</a:t>
            </a:r>
            <a:r>
              <a:rPr lang="en-US" altLang="zh-CN" dirty="0" smtClean="0"/>
              <a:t>man </a:t>
            </a:r>
            <a:r>
              <a:rPr lang="en-US" altLang="zh-CN" dirty="0" err="1" smtClean="0"/>
              <a:t>ls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使用</a:t>
            </a:r>
            <a:r>
              <a:rPr lang="en-US" altLang="zh-CN" dirty="0" smtClean="0"/>
              <a:t>info</a:t>
            </a:r>
            <a:r>
              <a:rPr lang="zh-CN" altLang="en-US" dirty="0" smtClean="0"/>
              <a:t>命令获得帮助  </a:t>
            </a:r>
            <a:r>
              <a:rPr lang="en-US" altLang="zh-CN" dirty="0" smtClean="0"/>
              <a:t>info </a:t>
            </a:r>
            <a:r>
              <a:rPr lang="en-US" altLang="zh-CN" dirty="0" err="1" smtClean="0"/>
              <a:t>cmd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例如：</a:t>
            </a:r>
            <a:r>
              <a:rPr lang="en-US" altLang="zh-CN" dirty="0" smtClean="0"/>
              <a:t>info </a:t>
            </a:r>
            <a:r>
              <a:rPr lang="en-US" altLang="zh-CN" dirty="0" err="1" smtClean="0"/>
              <a:t>ls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命令帮助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altLang="zh-CN" dirty="0" smtClean="0"/>
              <a:t>     -F — </a:t>
            </a:r>
            <a:r>
              <a:rPr lang="zh-CN" altLang="en-US" dirty="0" smtClean="0"/>
              <a:t>文件类型（</a:t>
            </a:r>
            <a:r>
              <a:rPr lang="en-US" altLang="zh-CN" dirty="0" smtClean="0"/>
              <a:t>File type</a:t>
            </a:r>
            <a:r>
              <a:rPr lang="zh-CN" altLang="en-US" dirty="0" smtClean="0"/>
              <a:t>）。在每一个列举项目之后添加一个符号。这些符号包括：</a:t>
            </a:r>
            <a:r>
              <a:rPr lang="en-US" altLang="zh-CN" dirty="0" smtClean="0"/>
              <a:t>/ </a:t>
            </a:r>
            <a:r>
              <a:rPr lang="zh-CN" altLang="en-US" dirty="0" smtClean="0"/>
              <a:t>表明是一个目录；</a:t>
            </a:r>
            <a:r>
              <a:rPr lang="en-US" altLang="zh-CN" dirty="0" smtClean="0"/>
              <a:t>@ </a:t>
            </a:r>
            <a:r>
              <a:rPr lang="zh-CN" altLang="en-US" dirty="0" smtClean="0"/>
              <a:t>表明是到其它文件的符号链接；* 表明是一个可执行文件。 </a:t>
            </a:r>
            <a:br>
              <a:rPr lang="zh-CN" altLang="en-US" dirty="0" smtClean="0"/>
            </a:b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en-US" altLang="zh-CN" dirty="0" smtClean="0"/>
              <a:t>-r — </a:t>
            </a:r>
            <a:r>
              <a:rPr lang="zh-CN" altLang="en-US" dirty="0" smtClean="0"/>
              <a:t>逆向（</a:t>
            </a:r>
            <a:r>
              <a:rPr lang="en-US" altLang="zh-CN" dirty="0" smtClean="0"/>
              <a:t>reverse</a:t>
            </a:r>
            <a:r>
              <a:rPr lang="zh-CN" altLang="en-US" dirty="0" smtClean="0"/>
              <a:t>）。从后向前地列举目录中的内容。 </a:t>
            </a:r>
            <a:br>
              <a:rPr lang="zh-CN" altLang="en-US" dirty="0" smtClean="0"/>
            </a:b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en-US" altLang="zh-CN" dirty="0" smtClean="0"/>
              <a:t>-R — </a:t>
            </a:r>
            <a:r>
              <a:rPr lang="zh-CN" altLang="en-US" dirty="0" smtClean="0"/>
              <a:t>递归（</a:t>
            </a:r>
            <a:r>
              <a:rPr lang="en-US" altLang="zh-CN" dirty="0" smtClean="0"/>
              <a:t>recursive</a:t>
            </a:r>
            <a:r>
              <a:rPr lang="zh-CN" altLang="en-US" dirty="0" smtClean="0"/>
              <a:t>）。该选项递归地列举所有目录（在当前目录之下）的内容。 </a:t>
            </a:r>
            <a:br>
              <a:rPr lang="zh-CN" altLang="en-US" dirty="0" smtClean="0"/>
            </a:b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en-US" altLang="zh-CN" dirty="0" smtClean="0"/>
              <a:t>-S — </a:t>
            </a:r>
            <a:r>
              <a:rPr lang="zh-CN" altLang="en-US" dirty="0" smtClean="0"/>
              <a:t>大小（</a:t>
            </a:r>
            <a:r>
              <a:rPr lang="en-US" altLang="zh-CN" dirty="0" smtClean="0"/>
              <a:t>size</a:t>
            </a:r>
            <a:r>
              <a:rPr lang="zh-CN" altLang="en-US" dirty="0" smtClean="0"/>
              <a:t>）。按文件大小排序。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   -t — </a:t>
            </a:r>
            <a:r>
              <a:rPr lang="zh-CN" altLang="en-US" dirty="0" smtClean="0"/>
              <a:t>时间（</a:t>
            </a:r>
            <a:r>
              <a:rPr lang="en-US" altLang="zh-CN" dirty="0" smtClean="0"/>
              <a:t>time</a:t>
            </a:r>
            <a:r>
              <a:rPr lang="zh-CN" altLang="en-US" dirty="0" smtClean="0"/>
              <a:t>）。按文件修改时间排序。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ls</a:t>
            </a:r>
            <a:r>
              <a:rPr lang="zh-CN" altLang="en-US" dirty="0" smtClean="0"/>
              <a:t>扩展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功能：改变文件或目录时间，如果文件不存在则新建一个空文件。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r>
              <a:rPr lang="zh-CN" altLang="en-US" dirty="0" smtClean="0"/>
              <a:t>例子：</a:t>
            </a:r>
            <a:endParaRPr lang="en-US" altLang="zh-CN" dirty="0" smtClean="0"/>
          </a:p>
          <a:p>
            <a:r>
              <a:rPr lang="zh-CN" altLang="en-US" dirty="0" smtClean="0"/>
              <a:t>新建一个空文件</a:t>
            </a:r>
            <a:r>
              <a:rPr lang="en-US" altLang="zh-CN" dirty="0" smtClean="0"/>
              <a:t>abc.txt</a:t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touch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5143512"/>
            <a:ext cx="7190235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功能：将文件或目录从一个目录拷贝到另一个目录。</a:t>
            </a:r>
            <a:endParaRPr lang="en-US" altLang="zh-CN" dirty="0" smtClean="0"/>
          </a:p>
          <a:p>
            <a:r>
              <a:rPr lang="zh-CN" altLang="en-US" dirty="0" smtClean="0"/>
              <a:t>语法：</a:t>
            </a:r>
            <a:r>
              <a:rPr lang="en-US" altLang="zh-CN" dirty="0" smtClean="0"/>
              <a:t>cp [ </a:t>
            </a:r>
            <a:r>
              <a:rPr lang="zh-CN" altLang="en-US" dirty="0" smtClean="0"/>
              <a:t>参数 </a:t>
            </a:r>
            <a:r>
              <a:rPr lang="en-US" altLang="zh-CN" dirty="0" smtClean="0"/>
              <a:t>] </a:t>
            </a:r>
            <a:r>
              <a:rPr lang="zh-CN" altLang="en-US" dirty="0" smtClean="0"/>
              <a:t>源文件或目录 目的文件或目录</a:t>
            </a:r>
            <a:endParaRPr lang="en-US" altLang="zh-CN" dirty="0" smtClean="0"/>
          </a:p>
          <a:p>
            <a:r>
              <a:rPr lang="zh-CN" altLang="en-US" dirty="0" smtClean="0"/>
              <a:t>常用参数：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i</a:t>
            </a:r>
            <a:r>
              <a:rPr lang="zh-CN" altLang="en-US" dirty="0" smtClean="0"/>
              <a:t>当目的文件存在时，系统提示是否拷贝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f</a:t>
            </a:r>
            <a:r>
              <a:rPr lang="zh-CN" altLang="en-US" dirty="0" smtClean="0"/>
              <a:t>当目的文件存在时，不提示，直接拷贝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</a:t>
            </a:r>
            <a:r>
              <a:rPr lang="zh-CN" altLang="en-US" dirty="0" smtClean="0"/>
              <a:t>使拷贝的文件权限或日期不发生变化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</a:t>
            </a:r>
            <a:r>
              <a:rPr lang="zh-CN" altLang="en-US" dirty="0" smtClean="0"/>
              <a:t>拷贝整个目录及子目录中的所有文件和子目录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cp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拷贝文件</a:t>
            </a:r>
            <a:r>
              <a:rPr lang="en-US" altLang="zh-CN" dirty="0" smtClean="0"/>
              <a:t>abc.txt </a:t>
            </a:r>
            <a:r>
              <a:rPr lang="zh-CN" altLang="en-US" dirty="0" smtClean="0"/>
              <a:t>到</a:t>
            </a:r>
            <a:r>
              <a:rPr lang="en-US" altLang="zh-CN" dirty="0" smtClean="0"/>
              <a:t>test/</a:t>
            </a:r>
            <a:r>
              <a:rPr lang="zh-CN" altLang="en-US" dirty="0" smtClean="0"/>
              <a:t>目录下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cp abc.txt test/</a:t>
            </a:r>
          </a:p>
          <a:p>
            <a:pPr lvl="1"/>
            <a:endParaRPr lang="en-US" altLang="zh-CN" dirty="0" smtClean="0">
              <a:solidFill>
                <a:srgbClr val="FF0000"/>
              </a:solidFill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sz="3200" dirty="0" smtClean="0"/>
              <a:t>备份文件</a:t>
            </a:r>
            <a:r>
              <a:rPr lang="en-US" altLang="zh-CN" sz="3200" dirty="0" smtClean="0"/>
              <a:t>abc.txt</a:t>
            </a:r>
            <a:r>
              <a:rPr lang="zh-CN" altLang="en-US" sz="3200" dirty="0" smtClean="0"/>
              <a:t>，备份文件名为</a:t>
            </a:r>
            <a:r>
              <a:rPr lang="en-US" altLang="zh-CN" sz="3200" dirty="0" err="1" smtClean="0"/>
              <a:t>abc.txt.bak</a:t>
            </a:r>
            <a:endParaRPr lang="en-US" altLang="zh-CN" sz="3200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cp abc.txt </a:t>
            </a:r>
            <a:r>
              <a:rPr lang="en-US" altLang="zh-CN" dirty="0" err="1" smtClean="0">
                <a:solidFill>
                  <a:srgbClr val="FF0000"/>
                </a:solidFill>
              </a:rPr>
              <a:t>abc.txt.bak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将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目录以及子目录子文件都拷贝到</a:t>
            </a:r>
            <a:r>
              <a:rPr lang="en-US" altLang="zh-CN" dirty="0" err="1" smtClean="0"/>
              <a:t>testa</a:t>
            </a:r>
            <a:r>
              <a:rPr lang="zh-CN" altLang="en-US" dirty="0" smtClean="0"/>
              <a:t>目录下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cp -r test </a:t>
            </a:r>
            <a:r>
              <a:rPr lang="en-US" altLang="zh-CN" dirty="0" err="1" smtClean="0">
                <a:solidFill>
                  <a:srgbClr val="FF0000"/>
                </a:solidFill>
              </a:rPr>
              <a:t>testa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功能：将目录或文件移动的命令。另一个功能是对文件或目录重命名。</a:t>
            </a:r>
            <a:endParaRPr lang="en-US" altLang="zh-CN" dirty="0" smtClean="0"/>
          </a:p>
          <a:p>
            <a:r>
              <a:rPr lang="zh-CN" altLang="en-US" dirty="0" smtClean="0"/>
              <a:t>语法： </a:t>
            </a:r>
            <a:r>
              <a:rPr lang="en-US" altLang="zh-CN" dirty="0" err="1" smtClean="0"/>
              <a:t>mv</a:t>
            </a:r>
            <a:r>
              <a:rPr lang="en-US" altLang="zh-CN" dirty="0" smtClean="0"/>
              <a:t> [ </a:t>
            </a:r>
            <a:r>
              <a:rPr lang="zh-CN" altLang="en-US" dirty="0" smtClean="0"/>
              <a:t>参数 </a:t>
            </a:r>
            <a:r>
              <a:rPr lang="en-US" altLang="zh-CN" dirty="0" smtClean="0"/>
              <a:t>] </a:t>
            </a:r>
            <a:r>
              <a:rPr lang="zh-CN" altLang="en-US" dirty="0" smtClean="0"/>
              <a:t>源文件或目录 目的文件或目录</a:t>
            </a:r>
            <a:br>
              <a:rPr lang="zh-CN" altLang="en-US" dirty="0" smtClean="0"/>
            </a:br>
            <a:r>
              <a:rPr lang="zh-CN" altLang="en-US" dirty="0" smtClean="0"/>
              <a:t> 常用参数：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err="1" smtClean="0"/>
              <a:t>i</a:t>
            </a:r>
            <a:r>
              <a:rPr lang="zh-CN" altLang="en-US" dirty="0" smtClean="0"/>
              <a:t>：移动时需要提示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/>
              <a:t>f</a:t>
            </a:r>
            <a:r>
              <a:rPr lang="zh-CN" altLang="en-US" dirty="0" smtClean="0"/>
              <a:t>：覆盖前永不提示</a:t>
            </a:r>
            <a:br>
              <a:rPr lang="zh-CN" altLang="en-US" dirty="0" smtClean="0"/>
            </a:b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mv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将</a:t>
            </a:r>
            <a:r>
              <a:rPr lang="en-US" altLang="zh-CN" dirty="0" smtClean="0"/>
              <a:t>abc.txt</a:t>
            </a:r>
            <a:r>
              <a:rPr lang="zh-CN" altLang="en-US" dirty="0" smtClean="0"/>
              <a:t>文件重命名为</a:t>
            </a:r>
            <a:r>
              <a:rPr lang="en-US" altLang="zh-CN" dirty="0" smtClean="0"/>
              <a:t>a.txt</a:t>
            </a:r>
          </a:p>
          <a:p>
            <a:pPr lvl="1">
              <a:buFont typeface="Wingdings"/>
              <a:buChar char="u"/>
            </a:pPr>
            <a:r>
              <a:rPr lang="en-US" altLang="zh-CN" dirty="0" err="1" smtClean="0">
                <a:solidFill>
                  <a:srgbClr val="FF0000"/>
                </a:solidFill>
              </a:rPr>
              <a:t>mv</a:t>
            </a:r>
            <a:r>
              <a:rPr lang="en-US" altLang="zh-CN" dirty="0" smtClean="0">
                <a:solidFill>
                  <a:srgbClr val="FF0000"/>
                </a:solidFill>
              </a:rPr>
              <a:t> abc.txt a.txt</a:t>
            </a:r>
          </a:p>
          <a:p>
            <a:pPr>
              <a:buFont typeface="Wingdings"/>
              <a:buChar char="u"/>
            </a:pPr>
            <a:endParaRPr lang="en-US" altLang="zh-CN" dirty="0" smtClean="0"/>
          </a:p>
          <a:p>
            <a:pPr>
              <a:buFont typeface="Wingdings"/>
              <a:buChar char="u"/>
            </a:pPr>
            <a:r>
              <a:rPr lang="zh-CN" altLang="en-US" dirty="0" smtClean="0"/>
              <a:t>将</a:t>
            </a:r>
            <a:r>
              <a:rPr lang="en-US" altLang="zh-CN" dirty="0" smtClean="0"/>
              <a:t>a.txt</a:t>
            </a:r>
            <a:r>
              <a:rPr lang="zh-CN" altLang="en-US" dirty="0" smtClean="0"/>
              <a:t>文件剪切到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目录下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err="1" smtClean="0">
                <a:solidFill>
                  <a:srgbClr val="FF0000"/>
                </a:solidFill>
              </a:rPr>
              <a:t>mv</a:t>
            </a:r>
            <a:r>
              <a:rPr lang="en-US" altLang="zh-CN" dirty="0" smtClean="0">
                <a:solidFill>
                  <a:srgbClr val="FF0000"/>
                </a:solidFill>
              </a:rPr>
              <a:t> a.txt test/</a:t>
            </a:r>
          </a:p>
          <a:p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功能：删除文件</a:t>
            </a:r>
            <a:endParaRPr lang="en-US" altLang="zh-CN" dirty="0" smtClean="0"/>
          </a:p>
          <a:p>
            <a:r>
              <a:rPr lang="zh-CN" altLang="en-US" dirty="0" smtClean="0"/>
              <a:t>语法：</a:t>
            </a:r>
            <a:r>
              <a:rPr lang="en-US" altLang="zh-CN" dirty="0" err="1" smtClean="0"/>
              <a:t>rm</a:t>
            </a:r>
            <a:r>
              <a:rPr lang="en-US" altLang="zh-CN" dirty="0" smtClean="0"/>
              <a:t> [ </a:t>
            </a:r>
            <a:r>
              <a:rPr lang="zh-CN" altLang="en-US" dirty="0" smtClean="0"/>
              <a:t>参数 </a:t>
            </a:r>
            <a:r>
              <a:rPr lang="en-US" altLang="zh-CN" dirty="0" smtClean="0"/>
              <a:t>] </a:t>
            </a:r>
            <a:r>
              <a:rPr lang="zh-CN" altLang="en-US" dirty="0" smtClean="0"/>
              <a:t>要删除文件或目录</a:t>
            </a:r>
            <a:endParaRPr lang="en-US" altLang="zh-CN" dirty="0" smtClean="0"/>
          </a:p>
          <a:p>
            <a:r>
              <a:rPr lang="zh-CN" altLang="en-US" dirty="0" smtClean="0"/>
              <a:t>常用参数：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err="1" smtClean="0"/>
              <a:t>i</a:t>
            </a:r>
            <a:r>
              <a:rPr lang="zh-CN" altLang="en-US" dirty="0" smtClean="0"/>
              <a:t>：删除文件时需要确认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/>
              <a:t>f</a:t>
            </a:r>
            <a:r>
              <a:rPr lang="zh-CN" altLang="en-US" dirty="0" smtClean="0"/>
              <a:t>：删除文件时不需要确认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/>
              <a:t>r</a:t>
            </a:r>
            <a:r>
              <a:rPr lang="zh-CN" altLang="en-US" dirty="0" smtClean="0"/>
              <a:t>：递归删除目录以及子目录子文件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rm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删除</a:t>
            </a:r>
            <a:r>
              <a:rPr lang="en-US" altLang="zh-CN" dirty="0" smtClean="0"/>
              <a:t>a.txt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err="1" smtClean="0">
                <a:solidFill>
                  <a:srgbClr val="FF0000"/>
                </a:solidFill>
              </a:rPr>
              <a:t>rm</a:t>
            </a:r>
            <a:r>
              <a:rPr lang="en-US" altLang="zh-CN" dirty="0" smtClean="0">
                <a:solidFill>
                  <a:srgbClr val="FF0000"/>
                </a:solidFill>
              </a:rPr>
              <a:t> a.txt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删除所有以</a:t>
            </a:r>
            <a:r>
              <a:rPr lang="en-US" altLang="zh-CN" dirty="0" smtClean="0"/>
              <a:t>.txt</a:t>
            </a:r>
            <a:r>
              <a:rPr lang="zh-CN" altLang="en-US" dirty="0" smtClean="0"/>
              <a:t>为后缀的文件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err="1" smtClean="0">
                <a:solidFill>
                  <a:srgbClr val="FF0000"/>
                </a:solidFill>
              </a:rPr>
              <a:t>rm</a:t>
            </a:r>
            <a:r>
              <a:rPr lang="en-US" altLang="zh-CN" dirty="0" smtClean="0">
                <a:solidFill>
                  <a:srgbClr val="FF0000"/>
                </a:solidFill>
              </a:rPr>
              <a:t> *.txt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删除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目录以及目录中的文件、子目录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err="1" smtClean="0">
                <a:solidFill>
                  <a:srgbClr val="FF0000"/>
                </a:solidFill>
              </a:rPr>
              <a:t>rm</a:t>
            </a:r>
            <a:r>
              <a:rPr lang="en-US" altLang="zh-CN" dirty="0" smtClean="0">
                <a:solidFill>
                  <a:srgbClr val="FF0000"/>
                </a:solidFill>
              </a:rPr>
              <a:t> -</a:t>
            </a:r>
            <a:r>
              <a:rPr lang="en-US" altLang="zh-CN" dirty="0" err="1" smtClean="0">
                <a:solidFill>
                  <a:srgbClr val="FF0000"/>
                </a:solidFill>
              </a:rPr>
              <a:t>rf</a:t>
            </a:r>
            <a:r>
              <a:rPr lang="en-US" altLang="zh-CN" dirty="0" smtClean="0">
                <a:solidFill>
                  <a:srgbClr val="FF0000"/>
                </a:solidFill>
              </a:rPr>
              <a:t> test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功能：查找文件</a:t>
            </a:r>
            <a:endParaRPr lang="en-US" altLang="zh-CN" dirty="0" smtClean="0"/>
          </a:p>
          <a:p>
            <a:endParaRPr lang="en-US" altLang="zh-CN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dirty="0" smtClean="0"/>
              <a:t>语法：</a:t>
            </a:r>
            <a:r>
              <a:rPr lang="en-US" dirty="0" smtClean="0"/>
              <a:t>find [</a:t>
            </a:r>
            <a:r>
              <a:rPr lang="zh-CN" altLang="en-US" dirty="0" smtClean="0"/>
              <a:t>路径</a:t>
            </a:r>
            <a:r>
              <a:rPr lang="en-US" altLang="zh-CN" dirty="0" smtClean="0"/>
              <a:t>]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 [</a:t>
            </a:r>
            <a:r>
              <a:rPr lang="zh-CN" altLang="en-US" dirty="0" smtClean="0"/>
              <a:t>操作</a:t>
            </a:r>
            <a:r>
              <a:rPr lang="en-US" altLang="zh-CN" dirty="0" smtClean="0"/>
              <a:t>]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altLang="zh-CN" dirty="0" smtClean="0"/>
          </a:p>
          <a:p>
            <a:r>
              <a:rPr lang="zh-CN" altLang="en-US" dirty="0" smtClean="0"/>
              <a:t>路径：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zh-CN" altLang="en-US" dirty="0" smtClean="0"/>
              <a:t>点“</a:t>
            </a:r>
            <a:r>
              <a:rPr lang="en-US" altLang="zh-CN" dirty="0" smtClean="0"/>
              <a:t>.</a:t>
            </a:r>
            <a:r>
              <a:rPr lang="zh-CN" altLang="en-US" dirty="0" smtClean="0"/>
              <a:t>”表示从当前路径开始查找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zh-CN" altLang="en-US" dirty="0" smtClean="0"/>
              <a:t>斜线“</a:t>
            </a:r>
            <a:r>
              <a:rPr lang="en-US" altLang="zh-CN" dirty="0" smtClean="0"/>
              <a:t>/</a:t>
            </a:r>
            <a:r>
              <a:rPr lang="zh-CN" altLang="en-US" dirty="0" smtClean="0"/>
              <a:t>”表示从根目录开始查找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find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find</a:t>
            </a:r>
            <a:r>
              <a:rPr lang="zh-CN" altLang="en-US" dirty="0" smtClean="0"/>
              <a:t>常用选项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0" y="1734990"/>
          <a:ext cx="9144000" cy="4470566"/>
        </p:xfrm>
        <a:graphic>
          <a:graphicData uri="http://schemas.openxmlformats.org/drawingml/2006/table">
            <a:tbl>
              <a:tblPr/>
              <a:tblGrid>
                <a:gridCol w="1789742"/>
                <a:gridCol w="7354258"/>
              </a:tblGrid>
              <a:tr h="492201">
                <a:tc>
                  <a:txBody>
                    <a:bodyPr/>
                    <a:lstStyle/>
                    <a:p>
                      <a:pPr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latin typeface="Times New Roman"/>
                          <a:ea typeface="黑体"/>
                          <a:cs typeface="Times New Roman"/>
                        </a:rPr>
                        <a:t>选项</a:t>
                      </a:r>
                      <a:endParaRPr lang="zh-CN" sz="2000" dirty="0">
                        <a:latin typeface="Arial"/>
                        <a:ea typeface="黑体"/>
                      </a:endParaRPr>
                    </a:p>
                  </a:txBody>
                  <a:tcPr marL="68480" marR="684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latin typeface="Times New Roman"/>
                          <a:ea typeface="黑体"/>
                          <a:cs typeface="Times New Roman"/>
                        </a:rPr>
                        <a:t>意义</a:t>
                      </a:r>
                      <a:endParaRPr lang="zh-CN" sz="2000" dirty="0">
                        <a:latin typeface="Arial"/>
                        <a:ea typeface="黑体"/>
                      </a:endParaRPr>
                    </a:p>
                  </a:txBody>
                  <a:tcPr marL="68480" marR="684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504">
                <a:tc>
                  <a:txBody>
                    <a:bodyPr/>
                    <a:lstStyle/>
                    <a:p>
                      <a:pPr marL="139065"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宋体"/>
                        </a:rPr>
                        <a:t>name</a:t>
                      </a:r>
                      <a:endParaRPr lang="zh-CN" sz="1600" dirty="0">
                        <a:latin typeface="Times New Roman"/>
                        <a:ea typeface="宋体"/>
                      </a:endParaRPr>
                    </a:p>
                  </a:txBody>
                  <a:tcPr marL="68480" marR="684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3350" algn="l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1600" dirty="0" smtClean="0">
                          <a:latin typeface="Times New Roman"/>
                          <a:ea typeface="宋体"/>
                        </a:rPr>
                        <a:t>根据</a:t>
                      </a:r>
                      <a:r>
                        <a:rPr lang="zh-CN" sz="1600" dirty="0">
                          <a:latin typeface="Times New Roman"/>
                          <a:ea typeface="宋体"/>
                        </a:rPr>
                        <a:t>文件名查找文件</a:t>
                      </a:r>
                    </a:p>
                  </a:txBody>
                  <a:tcPr marL="68480" marR="684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504">
                <a:tc>
                  <a:txBody>
                    <a:bodyPr/>
                    <a:lstStyle/>
                    <a:p>
                      <a:pPr marL="139065"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宋体"/>
                        </a:rPr>
                        <a:t>perm</a:t>
                      </a:r>
                      <a:endParaRPr lang="zh-CN" sz="1600">
                        <a:latin typeface="Times New Roman"/>
                        <a:ea typeface="宋体"/>
                      </a:endParaRPr>
                    </a:p>
                  </a:txBody>
                  <a:tcPr marL="68480" marR="684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3350" algn="l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1600" dirty="0">
                          <a:latin typeface="Times New Roman"/>
                          <a:ea typeface="宋体"/>
                        </a:rPr>
                        <a:t>根据文件权限查找文件</a:t>
                      </a:r>
                    </a:p>
                  </a:txBody>
                  <a:tcPr marL="68480" marR="684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009">
                <a:tc>
                  <a:txBody>
                    <a:bodyPr/>
                    <a:lstStyle/>
                    <a:p>
                      <a:pPr marL="139065"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宋体"/>
                        </a:rPr>
                        <a:t>prune</a:t>
                      </a:r>
                      <a:endParaRPr lang="zh-CN" sz="1600">
                        <a:latin typeface="Times New Roman"/>
                        <a:ea typeface="宋体"/>
                      </a:endParaRPr>
                    </a:p>
                  </a:txBody>
                  <a:tcPr marL="68480" marR="684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3350" algn="l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1600" dirty="0">
                          <a:latin typeface="Times New Roman"/>
                          <a:ea typeface="宋体"/>
                        </a:rPr>
                        <a:t>使用这一选项可以使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find</a:t>
                      </a:r>
                      <a:r>
                        <a:rPr lang="zh-CN" sz="1600" dirty="0">
                          <a:latin typeface="Times New Roman"/>
                          <a:ea typeface="宋体"/>
                        </a:rPr>
                        <a:t>命令不在当前指定的目录中查找，如果同时使用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-depth</a:t>
                      </a:r>
                      <a:r>
                        <a:rPr lang="zh-CN" sz="1600" dirty="0">
                          <a:latin typeface="Times New Roman"/>
                          <a:ea typeface="宋体"/>
                        </a:rPr>
                        <a:t>选项，那么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-prune</a:t>
                      </a:r>
                      <a:r>
                        <a:rPr lang="zh-CN" sz="1600" dirty="0">
                          <a:latin typeface="Times New Roman"/>
                          <a:ea typeface="宋体"/>
                        </a:rPr>
                        <a:t>将被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find</a:t>
                      </a:r>
                      <a:r>
                        <a:rPr lang="zh-CN" sz="1600" dirty="0">
                          <a:latin typeface="Times New Roman"/>
                          <a:ea typeface="宋体"/>
                        </a:rPr>
                        <a:t>命令忽略</a:t>
                      </a:r>
                    </a:p>
                  </a:txBody>
                  <a:tcPr marL="68480" marR="684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504">
                <a:tc>
                  <a:txBody>
                    <a:bodyPr/>
                    <a:lstStyle/>
                    <a:p>
                      <a:pPr marL="139065"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宋体"/>
                        </a:rPr>
                        <a:t>user</a:t>
                      </a:r>
                      <a:endParaRPr lang="zh-CN" sz="1600">
                        <a:latin typeface="Times New Roman"/>
                        <a:ea typeface="宋体"/>
                      </a:endParaRPr>
                    </a:p>
                  </a:txBody>
                  <a:tcPr marL="68480" marR="684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3350" algn="l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1600" dirty="0">
                          <a:latin typeface="Times New Roman"/>
                          <a:ea typeface="宋体"/>
                        </a:rPr>
                        <a:t>根据文件属主查找文件</a:t>
                      </a:r>
                    </a:p>
                  </a:txBody>
                  <a:tcPr marL="68480" marR="684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504">
                <a:tc>
                  <a:txBody>
                    <a:bodyPr/>
                    <a:lstStyle/>
                    <a:p>
                      <a:pPr marL="139065"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宋体"/>
                        </a:rPr>
                        <a:t>group</a:t>
                      </a:r>
                      <a:endParaRPr lang="zh-CN" sz="1600">
                        <a:latin typeface="Times New Roman"/>
                        <a:ea typeface="宋体"/>
                      </a:endParaRPr>
                    </a:p>
                  </a:txBody>
                  <a:tcPr marL="68480" marR="684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3350" algn="l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1600" dirty="0">
                          <a:latin typeface="Times New Roman"/>
                          <a:ea typeface="宋体"/>
                        </a:rPr>
                        <a:t>根据文件所属的用户组查找文件</a:t>
                      </a:r>
                    </a:p>
                  </a:txBody>
                  <a:tcPr marL="68480" marR="684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009">
                <a:tc>
                  <a:txBody>
                    <a:bodyPr/>
                    <a:lstStyle/>
                    <a:p>
                      <a:pPr marL="139065"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宋体"/>
                        </a:rPr>
                        <a:t>mtime -n +n</a:t>
                      </a:r>
                      <a:endParaRPr lang="zh-CN" sz="1600">
                        <a:latin typeface="Times New Roman"/>
                        <a:ea typeface="宋体"/>
                      </a:endParaRPr>
                    </a:p>
                  </a:txBody>
                  <a:tcPr marL="68480" marR="684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3350" algn="l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1600" dirty="0">
                          <a:latin typeface="Times New Roman"/>
                          <a:ea typeface="宋体"/>
                        </a:rPr>
                        <a:t>根据文件的更改时间查找文件，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-n</a:t>
                      </a:r>
                      <a:r>
                        <a:rPr lang="zh-CN" sz="1600" dirty="0">
                          <a:latin typeface="Times New Roman"/>
                          <a:ea typeface="宋体"/>
                        </a:rPr>
                        <a:t>表示文件更改时间距今在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n</a:t>
                      </a:r>
                      <a:r>
                        <a:rPr lang="zh-CN" sz="1600" dirty="0">
                          <a:latin typeface="Times New Roman"/>
                          <a:ea typeface="宋体"/>
                        </a:rPr>
                        <a:t>天之内，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+n</a:t>
                      </a:r>
                      <a:r>
                        <a:rPr lang="zh-CN" sz="1600" dirty="0">
                          <a:latin typeface="Times New Roman"/>
                          <a:ea typeface="宋体"/>
                        </a:rPr>
                        <a:t>表示文件更改时间距今在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n</a:t>
                      </a:r>
                      <a:r>
                        <a:rPr lang="zh-CN" sz="1600" dirty="0">
                          <a:latin typeface="Times New Roman"/>
                          <a:ea typeface="宋体"/>
                        </a:rPr>
                        <a:t>天前</a:t>
                      </a:r>
                    </a:p>
                  </a:txBody>
                  <a:tcPr marL="68480" marR="684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504">
                <a:tc>
                  <a:txBody>
                    <a:bodyPr/>
                    <a:lstStyle/>
                    <a:p>
                      <a:pPr marL="139065"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宋体"/>
                        </a:rPr>
                        <a:t>nogroup</a:t>
                      </a:r>
                      <a:endParaRPr lang="zh-CN" sz="1600">
                        <a:latin typeface="Times New Roman"/>
                        <a:ea typeface="宋体"/>
                      </a:endParaRPr>
                    </a:p>
                  </a:txBody>
                  <a:tcPr marL="68480" marR="684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3350" algn="l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1600" dirty="0">
                          <a:latin typeface="Times New Roman"/>
                          <a:ea typeface="宋体"/>
                        </a:rPr>
                        <a:t>查找无有效所属组的文件，即该文件所属的组在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/etc/groups</a:t>
                      </a:r>
                      <a:r>
                        <a:rPr lang="zh-CN" sz="1600" dirty="0">
                          <a:latin typeface="Times New Roman"/>
                          <a:ea typeface="宋体"/>
                        </a:rPr>
                        <a:t>中不存在</a:t>
                      </a:r>
                    </a:p>
                  </a:txBody>
                  <a:tcPr marL="68480" marR="684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504">
                <a:tc>
                  <a:txBody>
                    <a:bodyPr/>
                    <a:lstStyle/>
                    <a:p>
                      <a:pPr marL="139065"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宋体"/>
                        </a:rPr>
                        <a:t>nouser</a:t>
                      </a:r>
                      <a:endParaRPr lang="zh-CN" sz="1600">
                        <a:latin typeface="Times New Roman"/>
                        <a:ea typeface="宋体"/>
                      </a:endParaRPr>
                    </a:p>
                  </a:txBody>
                  <a:tcPr marL="68480" marR="684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3350" algn="l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1600" dirty="0">
                          <a:latin typeface="Times New Roman"/>
                          <a:ea typeface="宋体"/>
                        </a:rPr>
                        <a:t>查找无有效属主的文件，即该文件的属主在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/etc/</a:t>
                      </a:r>
                      <a:r>
                        <a:rPr lang="en-US" sz="1600" dirty="0" err="1">
                          <a:latin typeface="Times New Roman"/>
                          <a:ea typeface="宋体"/>
                        </a:rPr>
                        <a:t>passwd</a:t>
                      </a:r>
                      <a:r>
                        <a:rPr lang="zh-CN" sz="1600" dirty="0">
                          <a:latin typeface="Times New Roman"/>
                          <a:ea typeface="宋体"/>
                        </a:rPr>
                        <a:t>中不存在</a:t>
                      </a:r>
                    </a:p>
                  </a:txBody>
                  <a:tcPr marL="68480" marR="684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009">
                <a:tc>
                  <a:txBody>
                    <a:bodyPr/>
                    <a:lstStyle/>
                    <a:p>
                      <a:pPr marL="139065"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宋体"/>
                        </a:rPr>
                        <a:t>-newer file1 ! file2</a:t>
                      </a:r>
                      <a:endParaRPr lang="zh-CN" sz="1600">
                        <a:latin typeface="Times New Roman"/>
                        <a:ea typeface="宋体"/>
                      </a:endParaRPr>
                    </a:p>
                  </a:txBody>
                  <a:tcPr marL="68480" marR="684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3350" algn="l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1600" dirty="0">
                          <a:latin typeface="Times New Roman"/>
                          <a:ea typeface="宋体"/>
                        </a:rPr>
                        <a:t>查找更改时间比文件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file1</a:t>
                      </a:r>
                      <a:r>
                        <a:rPr lang="zh-CN" sz="1600" dirty="0">
                          <a:latin typeface="Times New Roman"/>
                          <a:ea typeface="宋体"/>
                        </a:rPr>
                        <a:t>新但比文件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file2</a:t>
                      </a:r>
                      <a:r>
                        <a:rPr lang="zh-CN" sz="1600" dirty="0">
                          <a:latin typeface="Times New Roman"/>
                          <a:ea typeface="宋体"/>
                        </a:rPr>
                        <a:t>旧的文件</a:t>
                      </a:r>
                    </a:p>
                  </a:txBody>
                  <a:tcPr marL="68480" marR="684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0801">
                <a:tc>
                  <a:txBody>
                    <a:bodyPr/>
                    <a:lstStyle/>
                    <a:p>
                      <a:pPr marL="139065"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宋体"/>
                        </a:rPr>
                        <a:t>type</a:t>
                      </a:r>
                      <a:endParaRPr lang="zh-CN" sz="1600">
                        <a:latin typeface="Times New Roman"/>
                        <a:ea typeface="宋体"/>
                      </a:endParaRPr>
                    </a:p>
                  </a:txBody>
                  <a:tcPr marL="68480" marR="684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1600" dirty="0">
                          <a:latin typeface="Times New Roman"/>
                          <a:ea typeface="宋体"/>
                          <a:cs typeface="Times New Roman"/>
                        </a:rPr>
                        <a:t>查找某一类型的文件，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type</a:t>
                      </a:r>
                      <a:r>
                        <a:rPr lang="zh-CN" sz="1600" dirty="0">
                          <a:latin typeface="Times New Roman"/>
                          <a:ea typeface="宋体"/>
                          <a:cs typeface="Times New Roman"/>
                        </a:rPr>
                        <a:t>后跟的子选项及其意义如下</a:t>
                      </a:r>
                      <a:r>
                        <a:rPr lang="zh-CN" sz="1600" dirty="0" smtClean="0">
                          <a:latin typeface="Times New Roman"/>
                          <a:ea typeface="宋体"/>
                          <a:cs typeface="Times New Roman"/>
                        </a:rPr>
                        <a:t>：</a:t>
                      </a:r>
                      <a:r>
                        <a:rPr lang="en-US" sz="1600" dirty="0" smtClean="0"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:</a:t>
                      </a:r>
                      <a:r>
                        <a:rPr lang="zh-CN" sz="1600" dirty="0">
                          <a:latin typeface="Times New Roman"/>
                          <a:ea typeface="宋体"/>
                          <a:cs typeface="Times New Roman"/>
                        </a:rPr>
                        <a:t>块设备</a:t>
                      </a:r>
                      <a:r>
                        <a:rPr lang="zh-CN" sz="1600" dirty="0" smtClean="0">
                          <a:latin typeface="Times New Roman"/>
                          <a:ea typeface="宋体"/>
                          <a:cs typeface="Times New Roman"/>
                        </a:rPr>
                        <a:t>文件</a:t>
                      </a:r>
                      <a:r>
                        <a:rPr lang="zh-CN" altLang="en-US" sz="1600" dirty="0" smtClean="0">
                          <a:latin typeface="Times New Roman"/>
                          <a:ea typeface="宋体"/>
                          <a:cs typeface="Times New Roman"/>
                        </a:rPr>
                        <a:t>；</a:t>
                      </a:r>
                      <a:r>
                        <a:rPr lang="en-US" sz="1600" dirty="0" smtClean="0"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:</a:t>
                      </a:r>
                      <a:r>
                        <a:rPr lang="zh-CN" sz="1600" dirty="0" smtClean="0">
                          <a:latin typeface="Times New Roman"/>
                          <a:ea typeface="宋体"/>
                          <a:cs typeface="Times New Roman"/>
                        </a:rPr>
                        <a:t>目录</a:t>
                      </a:r>
                      <a:r>
                        <a:rPr lang="zh-CN" altLang="en-US" sz="1600" dirty="0" smtClean="0">
                          <a:latin typeface="Times New Roman"/>
                          <a:ea typeface="宋体"/>
                          <a:cs typeface="Times New Roman"/>
                        </a:rPr>
                        <a:t>；</a:t>
                      </a:r>
                      <a:r>
                        <a:rPr lang="en-US" sz="1600" dirty="0" smtClean="0"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:</a:t>
                      </a:r>
                      <a:r>
                        <a:rPr lang="zh-CN" sz="1600" dirty="0">
                          <a:latin typeface="Times New Roman"/>
                          <a:ea typeface="宋体"/>
                          <a:cs typeface="Times New Roman"/>
                        </a:rPr>
                        <a:t>字符设备</a:t>
                      </a:r>
                      <a:r>
                        <a:rPr lang="zh-CN" sz="1600" dirty="0" smtClean="0">
                          <a:latin typeface="Times New Roman"/>
                          <a:ea typeface="宋体"/>
                          <a:cs typeface="Times New Roman"/>
                        </a:rPr>
                        <a:t>文件</a:t>
                      </a:r>
                      <a:r>
                        <a:rPr lang="zh-CN" altLang="en-US" sz="1600" dirty="0" smtClean="0">
                          <a:latin typeface="Times New Roman"/>
                          <a:ea typeface="宋体"/>
                          <a:cs typeface="Times New Roman"/>
                        </a:rPr>
                        <a:t>；</a:t>
                      </a:r>
                      <a:r>
                        <a:rPr lang="en-US" sz="1600" dirty="0" smtClean="0">
                          <a:latin typeface="Times New Roman"/>
                          <a:ea typeface="宋体"/>
                        </a:rPr>
                        <a:t>p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:</a:t>
                      </a:r>
                      <a:r>
                        <a:rPr lang="zh-CN" sz="1600" dirty="0">
                          <a:latin typeface="Times New Roman"/>
                          <a:ea typeface="宋体"/>
                          <a:cs typeface="Times New Roman"/>
                        </a:rPr>
                        <a:t>管道</a:t>
                      </a:r>
                      <a:r>
                        <a:rPr lang="zh-CN" sz="1600" dirty="0" smtClean="0">
                          <a:latin typeface="Times New Roman"/>
                          <a:ea typeface="宋体"/>
                          <a:cs typeface="Times New Roman"/>
                        </a:rPr>
                        <a:t>文件</a:t>
                      </a:r>
                      <a:r>
                        <a:rPr lang="zh-CN" altLang="en-US" sz="1600" dirty="0" smtClean="0">
                          <a:latin typeface="Times New Roman"/>
                          <a:ea typeface="宋体"/>
                          <a:cs typeface="Times New Roman"/>
                        </a:rPr>
                        <a:t>；</a:t>
                      </a:r>
                      <a:r>
                        <a:rPr lang="en-US" sz="1600" dirty="0" smtClean="0">
                          <a:latin typeface="Times New Roman"/>
                          <a:ea typeface="宋体"/>
                        </a:rPr>
                        <a:t>l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:</a:t>
                      </a:r>
                      <a:r>
                        <a:rPr lang="zh-CN" sz="1600" dirty="0">
                          <a:latin typeface="Times New Roman"/>
                          <a:ea typeface="宋体"/>
                          <a:cs typeface="Times New Roman"/>
                        </a:rPr>
                        <a:t>符号链接</a:t>
                      </a:r>
                      <a:r>
                        <a:rPr lang="zh-CN" sz="1600" dirty="0" smtClean="0">
                          <a:latin typeface="Times New Roman"/>
                          <a:ea typeface="宋体"/>
                          <a:cs typeface="Times New Roman"/>
                        </a:rPr>
                        <a:t>文件</a:t>
                      </a:r>
                      <a:r>
                        <a:rPr lang="zh-CN" altLang="en-US" sz="1600" dirty="0" smtClean="0">
                          <a:latin typeface="Times New Roman"/>
                          <a:ea typeface="宋体"/>
                          <a:cs typeface="Times New Roman"/>
                        </a:rPr>
                        <a:t>；</a:t>
                      </a:r>
                      <a:r>
                        <a:rPr lang="en-US" sz="1600" dirty="0" smtClean="0">
                          <a:latin typeface="Times New Roman"/>
                          <a:ea typeface="宋体"/>
                        </a:rPr>
                        <a:t>f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:</a:t>
                      </a:r>
                      <a:r>
                        <a:rPr lang="zh-CN" sz="1600" dirty="0">
                          <a:latin typeface="Times New Roman"/>
                          <a:ea typeface="宋体"/>
                          <a:cs typeface="Times New Roman"/>
                        </a:rPr>
                        <a:t>普通文件</a:t>
                      </a:r>
                      <a:endParaRPr lang="zh-CN" sz="1600" dirty="0">
                        <a:latin typeface="Arial"/>
                        <a:ea typeface="黑体"/>
                      </a:endParaRPr>
                    </a:p>
                  </a:txBody>
                  <a:tcPr marL="68480" marR="684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504">
                <a:tc>
                  <a:txBody>
                    <a:bodyPr/>
                    <a:lstStyle/>
                    <a:p>
                      <a:pPr marL="139065"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宋体"/>
                        </a:rPr>
                        <a:t>size </a:t>
                      </a:r>
                      <a:r>
                        <a:rPr lang="en-US" sz="1600" dirty="0" smtClean="0">
                          <a:latin typeface="Times New Roman"/>
                          <a:ea typeface="宋体"/>
                        </a:rPr>
                        <a:t>n[</a:t>
                      </a:r>
                      <a:r>
                        <a:rPr lang="en-US" sz="1600" dirty="0" err="1" smtClean="0">
                          <a:latin typeface="Times New Roman"/>
                          <a:ea typeface="宋体"/>
                        </a:rPr>
                        <a:t>cwbkMG</a:t>
                      </a:r>
                      <a:r>
                        <a:rPr lang="en-US" sz="1600" dirty="0" smtClean="0">
                          <a:latin typeface="Times New Roman"/>
                          <a:ea typeface="宋体"/>
                        </a:rPr>
                        <a:t>]</a:t>
                      </a:r>
                      <a:endParaRPr lang="zh-CN" sz="1600" dirty="0">
                        <a:latin typeface="Times New Roman"/>
                        <a:ea typeface="宋体"/>
                      </a:endParaRPr>
                    </a:p>
                  </a:txBody>
                  <a:tcPr marL="68480" marR="684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1600" dirty="0">
                          <a:latin typeface="Times New Roman"/>
                          <a:ea typeface="宋体"/>
                          <a:cs typeface="Times New Roman"/>
                        </a:rPr>
                        <a:t>查找文件长度为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n</a:t>
                      </a:r>
                      <a:r>
                        <a:rPr lang="zh-CN" sz="1600" dirty="0">
                          <a:latin typeface="Times New Roman"/>
                          <a:ea typeface="宋体"/>
                          <a:cs typeface="Times New Roman"/>
                        </a:rPr>
                        <a:t>块的文件，带有</a:t>
                      </a:r>
                      <a:r>
                        <a:rPr lang="en-US" sz="1600" dirty="0"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zh-CN" sz="1600" dirty="0">
                          <a:latin typeface="Times New Roman"/>
                          <a:ea typeface="宋体"/>
                          <a:cs typeface="Times New Roman"/>
                        </a:rPr>
                        <a:t>时表示文件长度以字节计</a:t>
                      </a:r>
                      <a:endParaRPr lang="zh-CN" sz="1600" dirty="0">
                        <a:latin typeface="Arial"/>
                        <a:ea typeface="黑体"/>
                      </a:endParaRPr>
                    </a:p>
                  </a:txBody>
                  <a:tcPr marL="68480" marR="684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009">
                <a:tc>
                  <a:txBody>
                    <a:bodyPr/>
                    <a:lstStyle/>
                    <a:p>
                      <a:pPr marL="139065"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宋体"/>
                        </a:rPr>
                        <a:t>depth</a:t>
                      </a:r>
                      <a:endParaRPr lang="zh-CN" sz="1600">
                        <a:latin typeface="Times New Roman"/>
                        <a:ea typeface="宋体"/>
                      </a:endParaRPr>
                    </a:p>
                  </a:txBody>
                  <a:tcPr marL="68480" marR="684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1600" dirty="0">
                          <a:latin typeface="Times New Roman"/>
                          <a:ea typeface="宋体"/>
                          <a:cs typeface="Times New Roman"/>
                        </a:rPr>
                        <a:t>在查找文件时，首先查找当前目录中的文件，然后再在其子目录中查找</a:t>
                      </a:r>
                      <a:endParaRPr lang="zh-CN" sz="1600" dirty="0">
                        <a:latin typeface="Arial"/>
                        <a:ea typeface="黑体"/>
                      </a:endParaRPr>
                    </a:p>
                  </a:txBody>
                  <a:tcPr marL="68480" marR="684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find</a:t>
            </a:r>
            <a:r>
              <a:rPr lang="zh-CN" altLang="en-US" dirty="0" smtClean="0"/>
              <a:t>操作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14282" y="2000241"/>
          <a:ext cx="8572560" cy="2714643"/>
        </p:xfrm>
        <a:graphic>
          <a:graphicData uri="http://schemas.openxmlformats.org/drawingml/2006/table">
            <a:tbl>
              <a:tblPr/>
              <a:tblGrid>
                <a:gridCol w="1628459"/>
                <a:gridCol w="6944101"/>
              </a:tblGrid>
              <a:tr h="406964">
                <a:tc>
                  <a:txBody>
                    <a:bodyPr/>
                    <a:lstStyle/>
                    <a:p>
                      <a:pPr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latin typeface="Times New Roman"/>
                          <a:ea typeface="黑体"/>
                          <a:cs typeface="Times New Roman"/>
                        </a:rPr>
                        <a:t>操作名称</a:t>
                      </a:r>
                      <a:endParaRPr lang="zh-CN" sz="2000" dirty="0">
                        <a:latin typeface="Arial"/>
                        <a:ea typeface="黑体"/>
                      </a:endParaRPr>
                    </a:p>
                  </a:txBody>
                  <a:tcPr marL="80038" marR="8003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latin typeface="Times New Roman"/>
                          <a:ea typeface="黑体"/>
                          <a:cs typeface="Times New Roman"/>
                        </a:rPr>
                        <a:t>意义</a:t>
                      </a:r>
                      <a:endParaRPr lang="zh-CN" sz="2000" dirty="0">
                        <a:latin typeface="Arial"/>
                        <a:ea typeface="黑体"/>
                      </a:endParaRPr>
                    </a:p>
                  </a:txBody>
                  <a:tcPr marL="80038" marR="8003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964">
                <a:tc>
                  <a:txBody>
                    <a:bodyPr/>
                    <a:lstStyle/>
                    <a:p>
                      <a:pPr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黑体"/>
                        </a:rPr>
                        <a:t>print</a:t>
                      </a:r>
                      <a:endParaRPr lang="zh-CN" sz="2000" dirty="0">
                        <a:latin typeface="Arial"/>
                        <a:ea typeface="黑体"/>
                      </a:endParaRPr>
                    </a:p>
                  </a:txBody>
                  <a:tcPr marL="80038" marR="8003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3350" algn="just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latin typeface="Times New Roman"/>
                          <a:ea typeface="宋体"/>
                        </a:rPr>
                        <a:t>将匹配的文件输出到标准输出</a:t>
                      </a:r>
                    </a:p>
                  </a:txBody>
                  <a:tcPr marL="80038" marR="8003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0591">
                <a:tc>
                  <a:txBody>
                    <a:bodyPr/>
                    <a:lstStyle/>
                    <a:p>
                      <a:pPr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黑体"/>
                        </a:rPr>
                        <a:t>exec</a:t>
                      </a:r>
                      <a:endParaRPr lang="zh-CN" sz="2000">
                        <a:latin typeface="Arial"/>
                        <a:ea typeface="黑体"/>
                      </a:endParaRPr>
                    </a:p>
                  </a:txBody>
                  <a:tcPr marL="80038" marR="8003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3350" algn="just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latin typeface="Times New Roman"/>
                          <a:ea typeface="宋体"/>
                        </a:rPr>
                        <a:t>对匹配的文件执行该参数所给出的</a:t>
                      </a:r>
                      <a:r>
                        <a:rPr lang="en-US" sz="2000" dirty="0">
                          <a:latin typeface="Times New Roman"/>
                          <a:ea typeface="宋体"/>
                        </a:rPr>
                        <a:t>Shell</a:t>
                      </a:r>
                      <a:r>
                        <a:rPr lang="zh-CN" sz="2000" dirty="0">
                          <a:latin typeface="Times New Roman"/>
                          <a:ea typeface="宋体"/>
                        </a:rPr>
                        <a:t>命令。相应命令的形式为</a:t>
                      </a:r>
                      <a:r>
                        <a:rPr lang="en-US" sz="2000" dirty="0">
                          <a:latin typeface="Times New Roman"/>
                          <a:ea typeface="宋体"/>
                        </a:rPr>
                        <a:t>'command' {  } \;</a:t>
                      </a:r>
                      <a:r>
                        <a:rPr lang="zh-CN" sz="2000" dirty="0">
                          <a:latin typeface="Times New Roman"/>
                          <a:ea typeface="宋体"/>
                        </a:rPr>
                        <a:t>，注意</a:t>
                      </a:r>
                      <a:r>
                        <a:rPr lang="en-US" sz="2000" dirty="0">
                          <a:latin typeface="Times New Roman"/>
                          <a:ea typeface="宋体"/>
                        </a:rPr>
                        <a:t>{   }</a:t>
                      </a:r>
                      <a:r>
                        <a:rPr lang="zh-CN" sz="2000" dirty="0">
                          <a:latin typeface="Times New Roman"/>
                          <a:ea typeface="宋体"/>
                        </a:rPr>
                        <a:t>和</a:t>
                      </a:r>
                      <a:r>
                        <a:rPr lang="en-US" sz="2000" dirty="0">
                          <a:latin typeface="Times New Roman"/>
                          <a:ea typeface="宋体"/>
                        </a:rPr>
                        <a:t>\</a:t>
                      </a:r>
                      <a:r>
                        <a:rPr lang="zh-CN" sz="2000" dirty="0">
                          <a:latin typeface="Times New Roman"/>
                          <a:ea typeface="宋体"/>
                        </a:rPr>
                        <a:t>；之间的空格</a:t>
                      </a:r>
                    </a:p>
                  </a:txBody>
                  <a:tcPr marL="80038" marR="8003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0124">
                <a:tc>
                  <a:txBody>
                    <a:bodyPr/>
                    <a:lstStyle/>
                    <a:p>
                      <a:pPr algn="ctr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黑体"/>
                        </a:rPr>
                        <a:t>ok</a:t>
                      </a:r>
                      <a:endParaRPr lang="zh-CN" sz="2000" dirty="0">
                        <a:latin typeface="Arial"/>
                        <a:ea typeface="黑体"/>
                      </a:endParaRPr>
                    </a:p>
                  </a:txBody>
                  <a:tcPr marL="80038" marR="8003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3350" algn="just">
                        <a:lnSpc>
                          <a:spcPts val="166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latin typeface="Times New Roman"/>
                          <a:ea typeface="宋体"/>
                        </a:rPr>
                        <a:t>和</a:t>
                      </a:r>
                      <a:r>
                        <a:rPr lang="en-US" sz="2000" dirty="0">
                          <a:latin typeface="Times New Roman"/>
                          <a:ea typeface="宋体"/>
                        </a:rPr>
                        <a:t>-exec</a:t>
                      </a:r>
                      <a:r>
                        <a:rPr lang="zh-CN" sz="2000" dirty="0">
                          <a:latin typeface="Times New Roman"/>
                          <a:ea typeface="宋体"/>
                        </a:rPr>
                        <a:t>的作用相同，只不过以一种更为安全的模式来执行该参数所给出的</a:t>
                      </a:r>
                      <a:r>
                        <a:rPr lang="en-US" sz="2000" dirty="0">
                          <a:latin typeface="Times New Roman"/>
                          <a:ea typeface="宋体"/>
                        </a:rPr>
                        <a:t>Shell</a:t>
                      </a:r>
                      <a:r>
                        <a:rPr lang="zh-CN" sz="2000" dirty="0">
                          <a:latin typeface="Times New Roman"/>
                          <a:ea typeface="宋体"/>
                        </a:rPr>
                        <a:t>命令，在执行每一个命令之前，都会给出提示，让用户来确定是否执行</a:t>
                      </a:r>
                    </a:p>
                  </a:txBody>
                  <a:tcPr marL="80038" marR="8003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内容占位符 2"/>
          <p:cNvSpPr>
            <a:spLocks noGrp="1"/>
          </p:cNvSpPr>
          <p:nvPr>
            <p:ph sz="quarter" idx="4294967295"/>
          </p:nvPr>
        </p:nvSpPr>
        <p:spPr>
          <a:xfrm>
            <a:off x="214282" y="4891100"/>
            <a:ext cx="8715436" cy="1538296"/>
          </a:xfrm>
        </p:spPr>
        <p:txBody>
          <a:bodyPr>
            <a:normAutofit lnSpcReduction="10000"/>
          </a:bodyPr>
          <a:lstStyle/>
          <a:p>
            <a:pPr lvl="1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zh-CN" sz="2000" dirty="0" smtClean="0">
                <a:latin typeface="Arial" charset="0"/>
              </a:rPr>
              <a:t>find</a:t>
            </a:r>
            <a:r>
              <a:rPr lang="zh-CN" altLang="en-US" sz="2000" dirty="0" smtClean="0">
                <a:latin typeface="Arial" charset="0"/>
              </a:rPr>
              <a:t>命令选项很多，可以灵活地指定各种搜索条件</a:t>
            </a:r>
            <a:endParaRPr lang="en-US" altLang="zh-CN" sz="2000" dirty="0" smtClean="0">
              <a:latin typeface="Arial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altLang="zh-CN" sz="2000" dirty="0" smtClean="0">
                <a:latin typeface="Arial" charset="0"/>
              </a:rPr>
              <a:t>find</a:t>
            </a:r>
            <a:r>
              <a:rPr lang="zh-CN" altLang="en-US" sz="2000" dirty="0" smtClean="0">
                <a:latin typeface="Arial" charset="0"/>
              </a:rPr>
              <a:t>命令操作却只有三种</a:t>
            </a:r>
            <a:endParaRPr lang="en-US" altLang="zh-CN" sz="2000" dirty="0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lang="en-US" altLang="zh-CN" sz="2000" dirty="0" smtClean="0">
                <a:latin typeface="Arial" charset="0"/>
              </a:rPr>
              <a:t>print</a:t>
            </a:r>
            <a:r>
              <a:rPr lang="zh-CN" altLang="en-US" sz="2000" dirty="0" smtClean="0">
                <a:latin typeface="Arial" charset="0"/>
              </a:rPr>
              <a:t>简单打印搜索结果</a:t>
            </a:r>
            <a:endParaRPr lang="en-US" altLang="zh-CN" sz="2000" dirty="0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lang="en-US" altLang="en-US" sz="2000" dirty="0" smtClean="0">
                <a:latin typeface="Arial" charset="0"/>
                <a:ea typeface="宋体" charset="-122"/>
              </a:rPr>
              <a:t>ok</a:t>
            </a:r>
            <a:r>
              <a:rPr lang="zh-CN" altLang="en-US" sz="2000" dirty="0" smtClean="0">
                <a:latin typeface="Arial" charset="0"/>
              </a:rPr>
              <a:t>操作和</a:t>
            </a:r>
            <a:r>
              <a:rPr lang="en-US" altLang="en-US" sz="2000" dirty="0" smtClean="0">
                <a:latin typeface="Arial" charset="0"/>
                <a:ea typeface="宋体" charset="-122"/>
              </a:rPr>
              <a:t>exec</a:t>
            </a:r>
            <a:r>
              <a:rPr lang="zh-CN" altLang="en-US" sz="2000" dirty="0" smtClean="0">
                <a:latin typeface="Arial" charset="0"/>
              </a:rPr>
              <a:t>的作用相同，都可以对搜索结果执行命令，但是，</a:t>
            </a:r>
            <a:r>
              <a:rPr lang="en-US" altLang="zh-CN" sz="2000" dirty="0" smtClean="0">
                <a:latin typeface="Arial" charset="0"/>
              </a:rPr>
              <a:t>ok</a:t>
            </a:r>
            <a:r>
              <a:rPr lang="zh-CN" altLang="en-US" sz="2000" dirty="0" smtClean="0">
                <a:latin typeface="Arial" charset="0"/>
              </a:rPr>
              <a:t>操作在操作前能给出提示</a:t>
            </a:r>
            <a:endParaRPr lang="en-US" altLang="zh-CN" sz="2000" dirty="0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endParaRPr lang="en-US" altLang="zh-CN" sz="2000" dirty="0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  <a:buFont typeface="Georgia" pitchFamily="18" charset="0"/>
              <a:buNone/>
            </a:pPr>
            <a:endParaRPr lang="en-US" altLang="zh-CN" sz="2000" dirty="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从根目录开始查找，查找以</a:t>
            </a:r>
            <a:r>
              <a:rPr lang="en-US" altLang="zh-CN" dirty="0" smtClean="0"/>
              <a:t>.log</a:t>
            </a:r>
            <a:r>
              <a:rPr lang="zh-CN" altLang="en-US" dirty="0" smtClean="0"/>
              <a:t>为后缀的所有文件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find / -name ‘*.log’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查找系统中大于</a:t>
            </a:r>
            <a:r>
              <a:rPr lang="en-US" altLang="zh-CN" dirty="0" smtClean="0"/>
              <a:t>100M</a:t>
            </a:r>
            <a:r>
              <a:rPr lang="zh-CN" altLang="en-US" dirty="0" smtClean="0"/>
              <a:t>的文件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find / -size +100M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从当前目录开始查找以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开头且权限为</a:t>
            </a:r>
            <a:r>
              <a:rPr lang="en-US" altLang="zh-CN" dirty="0" smtClean="0"/>
              <a:t>644</a:t>
            </a:r>
            <a:r>
              <a:rPr lang="zh-CN" altLang="en-US" dirty="0" smtClean="0"/>
              <a:t>的文件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find . -name '</a:t>
            </a:r>
            <a:r>
              <a:rPr lang="en-US" altLang="zh-CN" dirty="0" err="1" smtClean="0">
                <a:solidFill>
                  <a:srgbClr val="FF0000"/>
                </a:solidFill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</a:rPr>
              <a:t>*' -perm 644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同上，将查找的文件详细信息列出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find . -name '</a:t>
            </a:r>
            <a:r>
              <a:rPr lang="en-US" altLang="zh-CN" dirty="0" err="1" smtClean="0">
                <a:solidFill>
                  <a:srgbClr val="FF0000"/>
                </a:solidFill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</a:rPr>
              <a:t>*' -perm 644 -exec </a:t>
            </a:r>
            <a:r>
              <a:rPr lang="en-US" altLang="zh-CN" dirty="0" err="1" smtClean="0">
                <a:solidFill>
                  <a:srgbClr val="FF0000"/>
                </a:solidFill>
              </a:rPr>
              <a:t>ls</a:t>
            </a:r>
            <a:r>
              <a:rPr lang="en-US" altLang="zh-CN" dirty="0" smtClean="0">
                <a:solidFill>
                  <a:srgbClr val="FF0000"/>
                </a:solidFill>
              </a:rPr>
              <a:t> -l {} \;</a:t>
            </a:r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find . -name '</a:t>
            </a:r>
            <a:r>
              <a:rPr lang="en-US" altLang="zh-CN" dirty="0" err="1" smtClean="0">
                <a:solidFill>
                  <a:srgbClr val="FF0000"/>
                </a:solidFill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</a:rPr>
              <a:t>*' -perm 644 -ok </a:t>
            </a:r>
            <a:r>
              <a:rPr lang="en-US" altLang="zh-CN" dirty="0" err="1" smtClean="0">
                <a:solidFill>
                  <a:srgbClr val="FF0000"/>
                </a:solidFill>
              </a:rPr>
              <a:t>ls</a:t>
            </a:r>
            <a:r>
              <a:rPr lang="en-US" altLang="zh-CN" dirty="0" smtClean="0">
                <a:solidFill>
                  <a:srgbClr val="FF0000"/>
                </a:solidFill>
              </a:rPr>
              <a:t> -l {} \;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 smtClean="0"/>
              <a:t>功能：在屏幕上显示文件内容。</a:t>
            </a:r>
            <a:endParaRPr lang="en-US" altLang="zh-CN" dirty="0" smtClean="0"/>
          </a:p>
          <a:p>
            <a:r>
              <a:rPr lang="zh-CN" altLang="en-US" dirty="0" smtClean="0"/>
              <a:t>语法： </a:t>
            </a:r>
            <a:r>
              <a:rPr lang="en-US" altLang="zh-CN" dirty="0" smtClean="0"/>
              <a:t>cat 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 [</a:t>
            </a:r>
            <a:r>
              <a:rPr lang="zh-CN" altLang="en-US" dirty="0" smtClean="0"/>
              <a:t>文件名称</a:t>
            </a:r>
            <a:r>
              <a:rPr lang="en-US" altLang="zh-CN" dirty="0" smtClean="0"/>
              <a:t>]</a:t>
            </a:r>
          </a:p>
          <a:p>
            <a:r>
              <a:rPr lang="zh-CN" altLang="en-US" dirty="0" smtClean="0"/>
              <a:t>常用选项：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/>
              <a:t>n </a:t>
            </a:r>
            <a:r>
              <a:rPr lang="zh-CN" altLang="en-US" dirty="0" smtClean="0"/>
              <a:t>：对所有输出的行数编号</a:t>
            </a:r>
          </a:p>
          <a:p>
            <a:pPr lvl="1">
              <a:buFont typeface="Wingdings"/>
              <a:buChar char="u"/>
            </a:pPr>
            <a:r>
              <a:rPr lang="en-US" altLang="zh-CN" dirty="0" smtClean="0"/>
              <a:t>b</a:t>
            </a:r>
            <a:r>
              <a:rPr lang="zh-CN" altLang="en-US" dirty="0" smtClean="0"/>
              <a:t>或 </a:t>
            </a:r>
            <a:r>
              <a:rPr lang="en-US" altLang="zh-CN" dirty="0" smtClean="0"/>
              <a:t>--number-nonblank</a:t>
            </a:r>
            <a:r>
              <a:rPr lang="zh-CN" altLang="en-US" dirty="0" smtClean="0"/>
              <a:t>：和 </a:t>
            </a:r>
            <a:r>
              <a:rPr lang="en-US" altLang="zh-CN" dirty="0" smtClean="0"/>
              <a:t>-n </a:t>
            </a:r>
            <a:r>
              <a:rPr lang="zh-CN" altLang="en-US" dirty="0" smtClean="0"/>
              <a:t>相似，只不过对于空白行不编号</a:t>
            </a:r>
          </a:p>
          <a:p>
            <a:pPr lvl="1">
              <a:buFont typeface="Wingdings"/>
              <a:buChar char="u"/>
            </a:pPr>
            <a:r>
              <a:rPr lang="en-US" altLang="zh-CN" dirty="0" smtClean="0"/>
              <a:t>s</a:t>
            </a:r>
            <a:r>
              <a:rPr lang="zh-CN" altLang="en-US" dirty="0" smtClean="0"/>
              <a:t>或 </a:t>
            </a:r>
            <a:r>
              <a:rPr lang="en-US" altLang="zh-CN" dirty="0" smtClean="0"/>
              <a:t>--squeeze-blank</a:t>
            </a:r>
            <a:r>
              <a:rPr lang="zh-CN" altLang="en-US" dirty="0" smtClean="0"/>
              <a:t>：当遇到有连续两行以上的空白行，就代换为一行的空白行</a:t>
            </a:r>
            <a:endParaRPr lang="en-US" altLang="zh-CN" dirty="0" smtClean="0"/>
          </a:p>
          <a:p>
            <a:pPr marL="342900" lvl="1" indent="-342900">
              <a:buFont typeface="Wingdings"/>
              <a:buChar char="u"/>
            </a:pPr>
            <a:r>
              <a:rPr lang="zh-CN" altLang="en-US" sz="3200" dirty="0" smtClean="0"/>
              <a:t>其它：</a:t>
            </a:r>
            <a:endParaRPr lang="en-US" altLang="zh-CN" sz="3200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/>
              <a:t>&gt;</a:t>
            </a:r>
            <a:r>
              <a:rPr lang="zh-CN" altLang="en-US" dirty="0" smtClean="0"/>
              <a:t>：覆盖重定向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/>
              <a:t>&gt;&gt;</a:t>
            </a:r>
            <a:r>
              <a:rPr lang="zh-CN" altLang="en-US" dirty="0" smtClean="0"/>
              <a:t>：追加重定向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cat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在屏幕上显示</a:t>
            </a:r>
            <a:r>
              <a:rPr lang="en-US" altLang="zh-CN" dirty="0" smtClean="0"/>
              <a:t>install.log</a:t>
            </a:r>
            <a:r>
              <a:rPr lang="zh-CN" altLang="en-US" dirty="0" smtClean="0"/>
              <a:t>文件内容。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cat install.log</a:t>
            </a:r>
          </a:p>
          <a:p>
            <a:pPr lvl="1">
              <a:buFont typeface="Wingdings"/>
              <a:buChar char="u"/>
            </a:pPr>
            <a:r>
              <a:rPr lang="zh-CN" altLang="en-US" dirty="0" smtClean="0">
                <a:solidFill>
                  <a:srgbClr val="FF0000"/>
                </a:solidFill>
              </a:rPr>
              <a:t>有趣的命令：</a:t>
            </a:r>
            <a:r>
              <a:rPr lang="en-US" altLang="zh-CN" dirty="0" err="1" smtClean="0">
                <a:solidFill>
                  <a:srgbClr val="FF0000"/>
                </a:solidFill>
              </a:rPr>
              <a:t>tac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在屏幕上显示</a:t>
            </a:r>
            <a:r>
              <a:rPr lang="en-US" altLang="zh-CN" dirty="0" smtClean="0"/>
              <a:t>install.log</a:t>
            </a:r>
            <a:r>
              <a:rPr lang="zh-CN" altLang="en-US" dirty="0" smtClean="0"/>
              <a:t>文件内容，并显示行号。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cat -n install.log</a:t>
            </a:r>
          </a:p>
          <a:p>
            <a:r>
              <a:rPr lang="zh-CN" altLang="en-US" dirty="0" smtClean="0"/>
              <a:t>将</a:t>
            </a:r>
            <a:r>
              <a:rPr lang="en-US" altLang="zh-CN" dirty="0" smtClean="0"/>
              <a:t>1.txt</a:t>
            </a:r>
            <a:r>
              <a:rPr lang="zh-CN" altLang="en-US" dirty="0" smtClean="0"/>
              <a:t>和</a:t>
            </a:r>
            <a:r>
              <a:rPr lang="en-US" altLang="zh-CN" dirty="0" smtClean="0"/>
              <a:t>2.txt</a:t>
            </a:r>
            <a:r>
              <a:rPr lang="zh-CN" altLang="en-US" dirty="0" smtClean="0"/>
              <a:t>文件的内容合并，然后重定向到</a:t>
            </a:r>
            <a:r>
              <a:rPr lang="en-US" altLang="zh-CN" dirty="0" smtClean="0"/>
              <a:t>3.txt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zh-CN" altLang="en-US" dirty="0" smtClean="0">
                <a:solidFill>
                  <a:srgbClr val="FF0000"/>
                </a:solidFill>
              </a:rPr>
              <a:t>覆盖：</a:t>
            </a:r>
            <a:r>
              <a:rPr lang="en-US" altLang="zh-CN" dirty="0" smtClean="0">
                <a:solidFill>
                  <a:srgbClr val="FF0000"/>
                </a:solidFill>
              </a:rPr>
              <a:t>cat 1.txt 2.txt&gt;3.txt</a:t>
            </a:r>
          </a:p>
          <a:p>
            <a:pPr lvl="1">
              <a:buFont typeface="Wingdings"/>
              <a:buChar char="u"/>
            </a:pPr>
            <a:r>
              <a:rPr lang="zh-CN" altLang="en-US" dirty="0" smtClean="0">
                <a:solidFill>
                  <a:srgbClr val="FF0000"/>
                </a:solidFill>
              </a:rPr>
              <a:t>追加：</a:t>
            </a:r>
            <a:r>
              <a:rPr lang="en-US" altLang="zh-CN" dirty="0" smtClean="0">
                <a:solidFill>
                  <a:srgbClr val="FF0000"/>
                </a:solidFill>
              </a:rPr>
              <a:t>cat1.txt 2.txt&gt;&gt;3.txt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zh-CN" altLang="en-US" dirty="0" smtClean="0"/>
              <a:t>功能：分页显示一个文件或任何输出结果。</a:t>
            </a:r>
            <a:endParaRPr lang="en-US" altLang="zh-CN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dirty="0" smtClean="0"/>
              <a:t>语法：</a:t>
            </a:r>
            <a:r>
              <a:rPr lang="en-US" altLang="zh-CN" dirty="0" smtClean="0"/>
              <a:t>more </a:t>
            </a:r>
            <a:r>
              <a:rPr lang="zh-CN" altLang="en-US" dirty="0" smtClean="0"/>
              <a:t>文件名</a:t>
            </a:r>
            <a:endParaRPr lang="en-US" altLang="zh-CN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dirty="0" smtClean="0"/>
              <a:t>操作：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sz="3100" dirty="0" err="1" smtClean="0"/>
              <a:t>ctrl+f</a:t>
            </a:r>
            <a:r>
              <a:rPr lang="zh-CN" altLang="en-US" sz="3100" dirty="0" smtClean="0"/>
              <a:t>：向下翻页</a:t>
            </a:r>
            <a:endParaRPr lang="en-US" altLang="zh-CN" sz="3100" dirty="0" smtClean="0"/>
          </a:p>
          <a:p>
            <a:pPr lvl="1">
              <a:buFont typeface="Wingdings"/>
              <a:buChar char="u"/>
            </a:pPr>
            <a:r>
              <a:rPr lang="zh-CN" altLang="en-US" sz="3100" dirty="0" smtClean="0"/>
              <a:t>回车键：向下显示一行</a:t>
            </a:r>
            <a:endParaRPr lang="en-US" altLang="zh-CN" sz="3100" dirty="0" smtClean="0"/>
          </a:p>
          <a:p>
            <a:pPr lvl="1">
              <a:buFont typeface="Wingdings"/>
              <a:buChar char="u"/>
            </a:pPr>
            <a:r>
              <a:rPr lang="en-US" altLang="zh-CN" sz="3100" dirty="0" err="1" smtClean="0"/>
              <a:t>ctrl+b</a:t>
            </a:r>
            <a:r>
              <a:rPr lang="en-US" altLang="zh-CN" sz="3100" dirty="0" smtClean="0"/>
              <a:t>:</a:t>
            </a:r>
            <a:r>
              <a:rPr lang="zh-CN" altLang="en-US" sz="3100" dirty="0" smtClean="0"/>
              <a:t>向上往回翻页</a:t>
            </a:r>
            <a:endParaRPr lang="en-US" altLang="zh-CN" sz="3100" dirty="0" smtClean="0"/>
          </a:p>
          <a:p>
            <a:pPr lvl="1">
              <a:buFont typeface="Wingdings"/>
              <a:buChar char="u"/>
            </a:pPr>
            <a:r>
              <a:rPr lang="en-US" altLang="zh-CN" sz="3100" dirty="0" smtClean="0"/>
              <a:t>q:</a:t>
            </a:r>
            <a:r>
              <a:rPr lang="zh-CN" altLang="en-US" sz="3100" dirty="0" smtClean="0"/>
              <a:t>退出</a:t>
            </a:r>
            <a:endParaRPr lang="en-US" altLang="zh-CN" sz="3100" dirty="0" smtClean="0"/>
          </a:p>
          <a:p>
            <a:pPr marL="342900" lvl="1" indent="-342900">
              <a:buFont typeface="Arial" pitchFamily="34" charset="0"/>
              <a:buChar char="•"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more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用分页方式显示</a:t>
            </a:r>
            <a:r>
              <a:rPr lang="en-US" altLang="zh-CN" dirty="0" smtClean="0"/>
              <a:t>install.log</a:t>
            </a:r>
            <a:r>
              <a:rPr lang="zh-CN" altLang="en-US" dirty="0" smtClean="0"/>
              <a:t>文件内容，然后查找</a:t>
            </a:r>
            <a:r>
              <a:rPr lang="en-US" altLang="zh-CN" dirty="0" smtClean="0"/>
              <a:t>server</a:t>
            </a:r>
            <a:r>
              <a:rPr lang="zh-CN" altLang="en-US" dirty="0" smtClean="0"/>
              <a:t>关键字，然后退出。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/>
              <a:t>more install.log</a:t>
            </a:r>
          </a:p>
          <a:p>
            <a:pPr lvl="1">
              <a:buFont typeface="Wingdings"/>
              <a:buChar char="u"/>
            </a:pPr>
            <a:r>
              <a:rPr lang="en-US" altLang="zh-CN" dirty="0" smtClean="0"/>
              <a:t>/server</a:t>
            </a:r>
          </a:p>
          <a:p>
            <a:pPr lvl="1">
              <a:buFont typeface="Wingdings"/>
              <a:buChar char="u"/>
            </a:pPr>
            <a:r>
              <a:rPr lang="en-US" altLang="zh-CN" dirty="0" smtClean="0"/>
              <a:t>n</a:t>
            </a:r>
          </a:p>
          <a:p>
            <a:pPr lvl="1">
              <a:buFont typeface="Wingdings"/>
              <a:buChar char="u"/>
            </a:pPr>
            <a:r>
              <a:rPr lang="en-US" altLang="zh-CN" dirty="0" smtClean="0"/>
              <a:t>q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功能：查看文件开头部分内容。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latin typeface="Arial" charset="0"/>
              </a:rPr>
              <a:t>head </a:t>
            </a:r>
            <a:r>
              <a:rPr lang="zh-CN" altLang="zh-CN" dirty="0" smtClean="0">
                <a:latin typeface="Arial" charset="0"/>
              </a:rPr>
              <a:t>文件名</a:t>
            </a:r>
            <a:r>
              <a:rPr lang="zh-CN" altLang="en-US" dirty="0" smtClean="0">
                <a:latin typeface="Arial" charset="0"/>
              </a:rPr>
              <a:t>：</a:t>
            </a:r>
            <a:r>
              <a:rPr lang="zh-CN" altLang="zh-CN" dirty="0" smtClean="0">
                <a:latin typeface="Arial" charset="0"/>
              </a:rPr>
              <a:t>显示该文件前十行内容</a:t>
            </a:r>
            <a:endParaRPr lang="en-US" altLang="zh-CN" dirty="0" smtClean="0">
              <a:latin typeface="Arial" charset="0"/>
            </a:endParaRPr>
          </a:p>
          <a:p>
            <a:pPr lvl="1">
              <a:buFont typeface="Wingdings"/>
              <a:buChar char="u"/>
            </a:pPr>
            <a:r>
              <a:rPr lang="en-US" altLang="zh-CN" dirty="0" smtClean="0">
                <a:latin typeface="Arial" charset="0"/>
              </a:rPr>
              <a:t>head -n 20 </a:t>
            </a:r>
            <a:r>
              <a:rPr lang="zh-CN" altLang="zh-CN" dirty="0" smtClean="0">
                <a:latin typeface="Arial" charset="0"/>
              </a:rPr>
              <a:t>文件名</a:t>
            </a:r>
            <a:r>
              <a:rPr lang="zh-CN" altLang="en-US" dirty="0" smtClean="0">
                <a:latin typeface="Arial" charset="0"/>
              </a:rPr>
              <a:t>：</a:t>
            </a:r>
            <a:r>
              <a:rPr lang="zh-CN" altLang="zh-CN" dirty="0" smtClean="0">
                <a:latin typeface="Arial" charset="0"/>
              </a:rPr>
              <a:t>显示该文件前</a:t>
            </a:r>
            <a:r>
              <a:rPr lang="en-US" altLang="zh-CN" dirty="0" smtClean="0">
                <a:latin typeface="Arial" charset="0"/>
              </a:rPr>
              <a:t>20</a:t>
            </a:r>
            <a:r>
              <a:rPr lang="zh-CN" altLang="zh-CN" dirty="0" smtClean="0">
                <a:latin typeface="Arial" charset="0"/>
              </a:rPr>
              <a:t>行内容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head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显示</a:t>
            </a:r>
            <a:r>
              <a:rPr lang="en-US" altLang="zh-CN" dirty="0" smtClean="0"/>
              <a:t>install</a:t>
            </a:r>
            <a:r>
              <a:rPr lang="zh-CN" altLang="en-US" dirty="0" smtClean="0"/>
              <a:t>文件前</a:t>
            </a:r>
            <a:r>
              <a:rPr lang="en-US" altLang="zh-CN" dirty="0" smtClean="0"/>
              <a:t>5</a:t>
            </a:r>
            <a:r>
              <a:rPr lang="zh-CN" altLang="en-US" dirty="0" smtClean="0"/>
              <a:t>行内容。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head -n 5 install.log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功能：查看文件尾部内容。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/>
              <a:t>tail </a:t>
            </a:r>
            <a:r>
              <a:rPr lang="zh-CN" altLang="en-US" dirty="0" smtClean="0"/>
              <a:t>文件名：显示该文件后</a:t>
            </a:r>
            <a:r>
              <a:rPr lang="en-US" altLang="zh-CN" dirty="0" smtClean="0"/>
              <a:t>10</a:t>
            </a:r>
            <a:r>
              <a:rPr lang="zh-CN" altLang="en-US" dirty="0" smtClean="0"/>
              <a:t>行内容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/>
              <a:t>tail -n 20 </a:t>
            </a:r>
            <a:r>
              <a:rPr lang="zh-CN" altLang="en-US" dirty="0" smtClean="0"/>
              <a:t>文件名：显示该文件后</a:t>
            </a:r>
            <a:r>
              <a:rPr lang="en-US" altLang="zh-CN" dirty="0" smtClean="0"/>
              <a:t>20</a:t>
            </a:r>
            <a:r>
              <a:rPr lang="zh-CN" altLang="en-US" dirty="0" smtClean="0"/>
              <a:t>行内容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/>
              <a:t>tail -f </a:t>
            </a:r>
            <a:r>
              <a:rPr lang="zh-CN" altLang="en-US" dirty="0" smtClean="0"/>
              <a:t>文件名：显示该文件后</a:t>
            </a:r>
            <a:r>
              <a:rPr lang="en-US" altLang="zh-CN" dirty="0" smtClean="0"/>
              <a:t>10</a:t>
            </a:r>
            <a:r>
              <a:rPr lang="zh-CN" altLang="en-US" dirty="0" smtClean="0"/>
              <a:t>行内容并在文件内容增加后，自动实时显示新增的文件内容。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tail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实时查看</a:t>
            </a:r>
            <a:r>
              <a:rPr lang="en-US" altLang="zh-CN" dirty="0" smtClean="0"/>
              <a:t>a.log</a:t>
            </a:r>
            <a:r>
              <a:rPr lang="zh-CN" altLang="en-US" dirty="0" smtClean="0"/>
              <a:t>日志文件内容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tail -f a.log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查看</a:t>
            </a:r>
            <a:r>
              <a:rPr lang="en-US" altLang="zh-CN" dirty="0" smtClean="0"/>
              <a:t>a.log</a:t>
            </a:r>
            <a:r>
              <a:rPr lang="zh-CN" altLang="en-US" dirty="0" smtClean="0"/>
              <a:t>日志文件的末尾</a:t>
            </a:r>
            <a:r>
              <a:rPr lang="en-US" altLang="zh-CN" dirty="0" smtClean="0"/>
              <a:t>15</a:t>
            </a:r>
            <a:r>
              <a:rPr lang="zh-CN" altLang="en-US" dirty="0" smtClean="0"/>
              <a:t>行内容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tail -n 15 a.log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、以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用户名连接到教师服务器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、新建一个以自己名字命名的</a:t>
            </a:r>
            <a:r>
              <a:rPr lang="en-US" altLang="zh-CN" dirty="0" smtClean="0"/>
              <a:t>.txt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、查看当前目录下所有文件的详细信息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、将自己的文件备份，备份文件加</a:t>
            </a:r>
            <a:r>
              <a:rPr lang="en-US" altLang="zh-CN" dirty="0" smtClean="0"/>
              <a:t>.</a:t>
            </a:r>
            <a:r>
              <a:rPr lang="en-US" altLang="zh-CN" dirty="0" err="1" smtClean="0"/>
              <a:t>bak</a:t>
            </a:r>
            <a:r>
              <a:rPr lang="zh-CN" altLang="en-US" dirty="0" smtClean="0"/>
              <a:t>后缀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、将自己的</a:t>
            </a:r>
            <a:r>
              <a:rPr lang="en-US" altLang="zh-CN" dirty="0" smtClean="0"/>
              <a:t>.txt</a:t>
            </a:r>
            <a:r>
              <a:rPr lang="zh-CN" altLang="en-US" dirty="0" smtClean="0"/>
              <a:t>文件重命名为</a:t>
            </a:r>
            <a:r>
              <a:rPr lang="en-US" altLang="zh-CN" dirty="0" smtClean="0"/>
              <a:t>.log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r>
              <a:rPr lang="en-US" altLang="zh-CN" dirty="0" smtClean="0"/>
              <a:t>6</a:t>
            </a:r>
            <a:r>
              <a:rPr lang="zh-CN" altLang="en-US" dirty="0" smtClean="0"/>
              <a:t>、删除自己的备份文件</a:t>
            </a:r>
            <a:endParaRPr lang="en-US" altLang="zh-CN" dirty="0" smtClean="0"/>
          </a:p>
          <a:p>
            <a:r>
              <a:rPr lang="en-US" altLang="zh-CN" dirty="0" smtClean="0"/>
              <a:t>7</a:t>
            </a:r>
            <a:r>
              <a:rPr lang="zh-CN" altLang="en-US" dirty="0" smtClean="0"/>
              <a:t>、在屏幕上显示自己</a:t>
            </a:r>
            <a:r>
              <a:rPr lang="en-US" altLang="zh-CN" dirty="0" smtClean="0"/>
              <a:t>.log</a:t>
            </a:r>
            <a:r>
              <a:rPr lang="zh-CN" altLang="en-US" dirty="0" smtClean="0"/>
              <a:t>文件的内容</a:t>
            </a:r>
            <a:endParaRPr lang="en-US" altLang="zh-CN" dirty="0" smtClean="0"/>
          </a:p>
          <a:p>
            <a:r>
              <a:rPr lang="en-US" altLang="zh-CN" dirty="0" smtClean="0"/>
              <a:t>8</a:t>
            </a:r>
            <a:r>
              <a:rPr lang="zh-CN" altLang="en-US" dirty="0" smtClean="0"/>
              <a:t>、实时查看自己</a:t>
            </a:r>
            <a:r>
              <a:rPr lang="en-US" altLang="zh-CN" dirty="0" smtClean="0"/>
              <a:t>.log</a:t>
            </a:r>
            <a:r>
              <a:rPr lang="zh-CN" altLang="en-US" dirty="0" smtClean="0"/>
              <a:t>文件的内容</a:t>
            </a:r>
            <a:endParaRPr lang="en-US" altLang="zh-CN" dirty="0" smtClean="0"/>
          </a:p>
          <a:p>
            <a:r>
              <a:rPr lang="en-US" altLang="zh-CN" dirty="0" smtClean="0"/>
              <a:t>9</a:t>
            </a:r>
            <a:r>
              <a:rPr lang="zh-CN" altLang="en-US" dirty="0" smtClean="0"/>
              <a:t>、从根目录开始查找自己的</a:t>
            </a:r>
            <a:r>
              <a:rPr lang="en-US" altLang="zh-CN" dirty="0" smtClean="0"/>
              <a:t>.log</a:t>
            </a:r>
            <a:r>
              <a:rPr lang="zh-CN" altLang="en-US" dirty="0" smtClean="0"/>
              <a:t>文件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练习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2000240"/>
            <a:ext cx="8390736" cy="4453096"/>
          </a:xfrm>
        </p:spPr>
        <p:txBody>
          <a:bodyPr>
            <a:normAutofit fontScale="62500" lnSpcReduction="20000"/>
          </a:bodyPr>
          <a:lstStyle/>
          <a:p>
            <a:r>
              <a:rPr lang="zh-CN" altLang="en-US" dirty="0" smtClean="0"/>
              <a:t>功能：压缩、解压缩，支持的格式为</a:t>
            </a:r>
            <a:r>
              <a:rPr lang="en-US" altLang="zh-CN" dirty="0" smtClean="0"/>
              <a:t>tar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gz</a:t>
            </a:r>
            <a:r>
              <a:rPr lang="zh-CN" altLang="en-US" dirty="0" smtClean="0"/>
              <a:t>、</a:t>
            </a:r>
            <a:r>
              <a:rPr lang="en-US" altLang="zh-CN" dirty="0" smtClean="0"/>
              <a:t>bz2</a:t>
            </a:r>
          </a:p>
          <a:p>
            <a:r>
              <a:rPr lang="zh-CN" altLang="en-US" dirty="0" smtClean="0"/>
              <a:t>用法：</a:t>
            </a:r>
            <a:r>
              <a:rPr lang="en-US" altLang="zh-CN" dirty="0" smtClean="0"/>
              <a:t> tar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 &lt;</a:t>
            </a:r>
            <a:r>
              <a:rPr lang="zh-CN" altLang="en-US" dirty="0" smtClean="0"/>
              <a:t>归档文件</a:t>
            </a:r>
            <a:r>
              <a:rPr lang="en-US" altLang="zh-CN" dirty="0" smtClean="0"/>
              <a:t>&gt; [</a:t>
            </a:r>
            <a:r>
              <a:rPr lang="zh-CN" altLang="en-US" dirty="0" smtClean="0"/>
              <a:t>未打包文件</a:t>
            </a:r>
            <a:r>
              <a:rPr lang="en-US" altLang="zh-CN" dirty="0" smtClean="0"/>
              <a:t>]</a:t>
            </a:r>
          </a:p>
          <a:p>
            <a:r>
              <a:rPr lang="zh-CN" altLang="en-US" dirty="0" smtClean="0"/>
              <a:t>常用选项：</a:t>
            </a:r>
            <a:endParaRPr lang="en-US" altLang="zh-CN" dirty="0" smtClean="0"/>
          </a:p>
          <a:p>
            <a:pPr lvl="1">
              <a:buNone/>
            </a:pPr>
            <a:r>
              <a:rPr lang="en-US" altLang="zh-CN" dirty="0" smtClean="0"/>
              <a:t>     -z  </a:t>
            </a:r>
            <a:r>
              <a:rPr lang="zh-CN" altLang="en-US" dirty="0" smtClean="0"/>
              <a:t>：是否同时具有 </a:t>
            </a:r>
            <a:r>
              <a:rPr lang="en-US" altLang="zh-CN" dirty="0" err="1" smtClean="0"/>
              <a:t>gzip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的属性？  </a:t>
            </a:r>
            <a:br>
              <a:rPr lang="zh-CN" altLang="en-US" dirty="0" smtClean="0"/>
            </a:br>
            <a:r>
              <a:rPr lang="en-US" altLang="zh-CN" dirty="0" smtClean="0"/>
              <a:t>-x  </a:t>
            </a:r>
            <a:r>
              <a:rPr lang="zh-CN" altLang="en-US" dirty="0" smtClean="0"/>
              <a:t>：解开一个压缩档案的参数指令！  </a:t>
            </a:r>
            <a:br>
              <a:rPr lang="zh-CN" altLang="en-US" dirty="0" smtClean="0"/>
            </a:br>
            <a:r>
              <a:rPr lang="en-US" altLang="zh-CN" dirty="0" smtClean="0"/>
              <a:t>-t  </a:t>
            </a:r>
            <a:r>
              <a:rPr lang="zh-CN" altLang="en-US" dirty="0" smtClean="0"/>
              <a:t>：查看 </a:t>
            </a:r>
            <a:r>
              <a:rPr lang="en-US" altLang="zh-CN" dirty="0" err="1" smtClean="0"/>
              <a:t>tarfile</a:t>
            </a:r>
            <a:r>
              <a:rPr lang="en-US" altLang="zh-CN" dirty="0" smtClean="0"/>
              <a:t> </a:t>
            </a:r>
            <a:r>
              <a:rPr lang="zh-CN" altLang="en-US" dirty="0" smtClean="0"/>
              <a:t>里面的档案！ </a:t>
            </a:r>
            <a:br>
              <a:rPr lang="zh-CN" altLang="en-US" dirty="0" smtClean="0"/>
            </a:br>
            <a:r>
              <a:rPr lang="en-US" altLang="zh-CN" dirty="0" smtClean="0"/>
              <a:t>-c  </a:t>
            </a:r>
            <a:r>
              <a:rPr lang="zh-CN" altLang="en-US" dirty="0" smtClean="0"/>
              <a:t>：建立一个压缩档案的参数指令  </a:t>
            </a:r>
            <a:br>
              <a:rPr lang="zh-CN" altLang="en-US" dirty="0" smtClean="0"/>
            </a:br>
            <a:r>
              <a:rPr lang="en-US" altLang="zh-CN" dirty="0" smtClean="0"/>
              <a:t>-v  </a:t>
            </a:r>
            <a:r>
              <a:rPr lang="zh-CN" altLang="en-US" dirty="0" smtClean="0"/>
              <a:t>：压缩的过程中显示档案！  </a:t>
            </a:r>
            <a:br>
              <a:rPr lang="zh-CN" altLang="en-US" dirty="0" smtClean="0"/>
            </a:br>
            <a:r>
              <a:rPr lang="en-US" altLang="zh-CN" dirty="0" smtClean="0"/>
              <a:t>-f  </a:t>
            </a:r>
            <a:r>
              <a:rPr lang="zh-CN" altLang="en-US" dirty="0" smtClean="0"/>
              <a:t>：使用档名，请留意，在 </a:t>
            </a:r>
            <a:r>
              <a:rPr lang="en-US" altLang="zh-CN" dirty="0" smtClean="0"/>
              <a:t>f </a:t>
            </a:r>
            <a:r>
              <a:rPr lang="zh-CN" altLang="en-US" dirty="0" smtClean="0"/>
              <a:t>之后要立即接档名喔！不要再加参数！ </a:t>
            </a:r>
            <a:br>
              <a:rPr lang="zh-CN" altLang="en-US" dirty="0" smtClean="0"/>
            </a:br>
            <a:r>
              <a:rPr lang="zh-CN" altLang="en-US" dirty="0" smtClean="0"/>
              <a:t>　　　例如使用</a:t>
            </a:r>
            <a:r>
              <a:rPr lang="en-US" altLang="zh-CN" dirty="0" smtClean="0"/>
              <a:t>『 tar -</a:t>
            </a:r>
            <a:r>
              <a:rPr lang="en-US" altLang="zh-CN" dirty="0" err="1" smtClean="0"/>
              <a:t>zcvfP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tfile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sfile</a:t>
            </a:r>
            <a:r>
              <a:rPr lang="en-US" altLang="zh-CN" dirty="0" smtClean="0"/>
              <a:t>』</a:t>
            </a:r>
            <a:r>
              <a:rPr lang="zh-CN" altLang="en-US" dirty="0" smtClean="0"/>
              <a:t>就是错误的写法，要写成 </a:t>
            </a:r>
            <a:br>
              <a:rPr lang="zh-CN" altLang="en-US" dirty="0" smtClean="0"/>
            </a:br>
            <a:r>
              <a:rPr lang="zh-CN" altLang="en-US" dirty="0" smtClean="0"/>
              <a:t>　　　</a:t>
            </a:r>
            <a:r>
              <a:rPr lang="en-US" altLang="zh-CN" dirty="0" smtClean="0"/>
              <a:t>『 tar -</a:t>
            </a:r>
            <a:r>
              <a:rPr lang="en-US" altLang="zh-CN" dirty="0" err="1" smtClean="0"/>
              <a:t>zcvPf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tfile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sfile</a:t>
            </a:r>
            <a:r>
              <a:rPr lang="en-US" altLang="zh-CN" dirty="0" smtClean="0"/>
              <a:t>』</a:t>
            </a:r>
            <a:r>
              <a:rPr lang="zh-CN" altLang="en-US" dirty="0" smtClean="0"/>
              <a:t>才对喔！ </a:t>
            </a:r>
            <a:br>
              <a:rPr lang="zh-CN" altLang="en-US" dirty="0" smtClean="0"/>
            </a:br>
            <a:r>
              <a:rPr lang="en-US" altLang="zh-CN" dirty="0" smtClean="0"/>
              <a:t>-p  </a:t>
            </a:r>
            <a:r>
              <a:rPr lang="zh-CN" altLang="en-US" dirty="0" smtClean="0"/>
              <a:t>：使用原档案的原来属性（属性不会依据使用者而变）  </a:t>
            </a:r>
            <a:br>
              <a:rPr lang="zh-CN" altLang="en-US" dirty="0" smtClean="0"/>
            </a:br>
            <a:r>
              <a:rPr lang="en-US" altLang="zh-CN" dirty="0" smtClean="0"/>
              <a:t>-P  </a:t>
            </a:r>
            <a:r>
              <a:rPr lang="zh-CN" altLang="en-US" dirty="0" smtClean="0"/>
              <a:t>：可以使用绝对路径  </a:t>
            </a:r>
            <a:br>
              <a:rPr lang="zh-CN" altLang="en-US" dirty="0" smtClean="0"/>
            </a:br>
            <a:r>
              <a:rPr lang="en-US" altLang="zh-CN" dirty="0" smtClean="0"/>
              <a:t>-N  </a:t>
            </a:r>
            <a:r>
              <a:rPr lang="zh-CN" altLang="en-US" dirty="0" smtClean="0"/>
              <a:t>：比后面接的日期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yyyy</a:t>
            </a:r>
            <a:r>
              <a:rPr lang="en-US" altLang="zh-CN" dirty="0" smtClean="0"/>
              <a:t>/mm/</a:t>
            </a:r>
            <a:r>
              <a:rPr lang="en-US" altLang="zh-CN" dirty="0" err="1" smtClean="0"/>
              <a:t>dd</a:t>
            </a:r>
            <a:r>
              <a:rPr lang="en-US" altLang="zh-CN" dirty="0" smtClean="0"/>
              <a:t>)</a:t>
            </a:r>
            <a:r>
              <a:rPr lang="zh-CN" altLang="en-US" dirty="0" smtClean="0"/>
              <a:t>还要新的才会被打包进新建的档案中！  </a:t>
            </a:r>
            <a:br>
              <a:rPr lang="zh-CN" altLang="en-US" dirty="0" smtClean="0"/>
            </a:br>
            <a:r>
              <a:rPr lang="en-US" altLang="zh-CN" dirty="0" smtClean="0"/>
              <a:t>--exclude FILE</a:t>
            </a:r>
            <a:r>
              <a:rPr lang="zh-CN" altLang="en-US" dirty="0" smtClean="0"/>
              <a:t>：在压缩的过程中，不要将 </a:t>
            </a:r>
            <a:r>
              <a:rPr lang="en-US" altLang="zh-CN" dirty="0" smtClean="0"/>
              <a:t>FILE </a:t>
            </a:r>
            <a:r>
              <a:rPr lang="zh-CN" altLang="en-US" dirty="0" smtClean="0"/>
              <a:t>打包！  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tar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25373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将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目录压缩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tar -</a:t>
            </a:r>
            <a:r>
              <a:rPr lang="en-US" altLang="zh-CN" dirty="0" err="1" smtClean="0">
                <a:solidFill>
                  <a:srgbClr val="FF0000"/>
                </a:solidFill>
              </a:rPr>
              <a:t>cvf</a:t>
            </a:r>
            <a:r>
              <a:rPr lang="en-US" altLang="zh-CN" dirty="0" smtClean="0">
                <a:solidFill>
                  <a:srgbClr val="FF0000"/>
                </a:solidFill>
              </a:rPr>
              <a:t> test.tar test</a:t>
            </a:r>
          </a:p>
          <a:p>
            <a:pPr lvl="1"/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将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目录压缩为</a:t>
            </a:r>
            <a:r>
              <a:rPr lang="en-US" altLang="zh-CN" dirty="0" err="1" smtClean="0"/>
              <a:t>gzip</a:t>
            </a:r>
            <a:r>
              <a:rPr lang="zh-CN" altLang="en-US" dirty="0" smtClean="0"/>
              <a:t>包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tar -</a:t>
            </a:r>
            <a:r>
              <a:rPr lang="en-US" altLang="zh-CN" dirty="0" err="1" smtClean="0">
                <a:solidFill>
                  <a:srgbClr val="FF0000"/>
                </a:solidFill>
              </a:rPr>
              <a:t>zcvf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err="1" smtClean="0">
                <a:solidFill>
                  <a:srgbClr val="FF0000"/>
                </a:solidFill>
              </a:rPr>
              <a:t>test.tar.gz</a:t>
            </a:r>
            <a:r>
              <a:rPr lang="en-US" altLang="zh-CN" dirty="0" smtClean="0">
                <a:solidFill>
                  <a:srgbClr val="FF0000"/>
                </a:solidFill>
              </a:rPr>
              <a:t> test</a:t>
            </a: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65104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对</a:t>
            </a:r>
            <a:r>
              <a:rPr lang="en-US" altLang="zh-CN" dirty="0" smtClean="0"/>
              <a:t>test.tar</a:t>
            </a:r>
            <a:r>
              <a:rPr lang="zh-CN" altLang="en-US" dirty="0" smtClean="0"/>
              <a:t>解压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tar -</a:t>
            </a:r>
            <a:r>
              <a:rPr lang="en-US" altLang="zh-CN" dirty="0" err="1" smtClean="0">
                <a:solidFill>
                  <a:srgbClr val="FF0000"/>
                </a:solidFill>
              </a:rPr>
              <a:t>xvf</a:t>
            </a:r>
            <a:r>
              <a:rPr lang="en-US" altLang="zh-CN" dirty="0" smtClean="0">
                <a:solidFill>
                  <a:srgbClr val="FF0000"/>
                </a:solidFill>
              </a:rPr>
              <a:t> test.tar</a:t>
            </a:r>
          </a:p>
          <a:p>
            <a:pPr lvl="1"/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对</a:t>
            </a:r>
            <a:r>
              <a:rPr lang="en-US" altLang="zh-CN" dirty="0" err="1" smtClean="0"/>
              <a:t>test.tar.gz</a:t>
            </a:r>
            <a:r>
              <a:rPr lang="zh-CN" altLang="en-US" dirty="0" smtClean="0"/>
              <a:t>解压</a:t>
            </a:r>
            <a:endParaRPr lang="en-US" altLang="zh-CN" dirty="0" smtClean="0"/>
          </a:p>
          <a:p>
            <a:pPr lvl="1">
              <a:buFont typeface="Wingdings"/>
              <a:buChar char="u"/>
            </a:pPr>
            <a:r>
              <a:rPr lang="en-US" altLang="zh-CN" dirty="0" smtClean="0">
                <a:solidFill>
                  <a:srgbClr val="FF0000"/>
                </a:solidFill>
              </a:rPr>
              <a:t>tar -</a:t>
            </a:r>
            <a:r>
              <a:rPr lang="en-US" altLang="zh-CN" dirty="0" err="1" smtClean="0">
                <a:solidFill>
                  <a:srgbClr val="FF0000"/>
                </a:solidFill>
              </a:rPr>
              <a:t>zxvf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err="1" smtClean="0">
                <a:solidFill>
                  <a:srgbClr val="FF0000"/>
                </a:solidFill>
              </a:rPr>
              <a:t>test.tar.gz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23973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 smtClean="0"/>
              <a:t>压缩：</a:t>
            </a:r>
            <a:r>
              <a:rPr lang="en-US" altLang="zh-CN" dirty="0" smtClean="0"/>
              <a:t>zip -r </a:t>
            </a:r>
            <a:r>
              <a:rPr lang="zh-CN" altLang="en-US" dirty="0" smtClean="0"/>
              <a:t>文件名</a:t>
            </a:r>
            <a:r>
              <a:rPr lang="en-US" altLang="zh-CN" dirty="0" smtClean="0"/>
              <a:t>.zip </a:t>
            </a:r>
            <a:r>
              <a:rPr lang="zh-CN" altLang="en-US" dirty="0" smtClean="0"/>
              <a:t>未打包文件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解压：</a:t>
            </a:r>
            <a:r>
              <a:rPr lang="en-US" altLang="zh-CN" dirty="0" smtClean="0"/>
              <a:t>unzip </a:t>
            </a:r>
            <a:r>
              <a:rPr lang="zh-CN" altLang="en-US" dirty="0" smtClean="0"/>
              <a:t>文件名</a:t>
            </a:r>
            <a:r>
              <a:rPr lang="en-US" altLang="zh-CN" dirty="0" smtClean="0"/>
              <a:t>.zip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应用场景，</a:t>
            </a:r>
            <a:r>
              <a:rPr lang="en-US" altLang="zh-CN" dirty="0" err="1" smtClean="0"/>
              <a:t>linux</a:t>
            </a:r>
            <a:r>
              <a:rPr lang="zh-CN" altLang="en-US" dirty="0" smtClean="0"/>
              <a:t>下文件夹如果直接通过</a:t>
            </a:r>
            <a:r>
              <a:rPr lang="en-US" altLang="zh-CN" dirty="0" err="1" smtClean="0"/>
              <a:t>ssh</a:t>
            </a:r>
            <a:r>
              <a:rPr lang="zh-CN" altLang="en-US" dirty="0" smtClean="0"/>
              <a:t>或直接复制方式将会改变文件夹中文件的属性；在复制之前将文件夹整体</a:t>
            </a:r>
            <a:r>
              <a:rPr lang="en-US" altLang="zh-CN" dirty="0" smtClean="0"/>
              <a:t>zip;</a:t>
            </a:r>
            <a:r>
              <a:rPr lang="zh-CN" altLang="en-US" dirty="0" smtClean="0"/>
              <a:t>将</a:t>
            </a:r>
            <a:r>
              <a:rPr lang="en-US" altLang="zh-CN" dirty="0" smtClean="0"/>
              <a:t>zip</a:t>
            </a:r>
            <a:r>
              <a:rPr lang="zh-CN" altLang="en-US" dirty="0" smtClean="0"/>
              <a:t>文件复制出来，需要时再做</a:t>
            </a:r>
            <a:r>
              <a:rPr lang="en-US" altLang="zh-CN" dirty="0" smtClean="0"/>
              <a:t>unzip;</a:t>
            </a:r>
            <a:r>
              <a:rPr lang="zh-CN" altLang="en-US" dirty="0" smtClean="0"/>
              <a:t>不会改变文件的属性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zip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unzip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18553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locale –a</a:t>
            </a:r>
          </a:p>
          <a:p>
            <a:r>
              <a:rPr lang="en-US" dirty="0" smtClean="0"/>
              <a:t>#</a:t>
            </a:r>
            <a:r>
              <a:rPr lang="en-US" altLang="zh-CN" dirty="0" smtClean="0"/>
              <a:t>cat </a:t>
            </a:r>
            <a:r>
              <a:rPr lang="en-US" dirty="0" smtClean="0"/>
              <a:t>/etc/</a:t>
            </a:r>
            <a:r>
              <a:rPr lang="en-US" dirty="0" err="1" smtClean="0"/>
              <a:t>sysconfig</a:t>
            </a:r>
            <a:r>
              <a:rPr lang="en-US" dirty="0" smtClean="0"/>
              <a:t>/i18n</a:t>
            </a:r>
          </a:p>
          <a:p>
            <a:r>
              <a:rPr lang="en-US" dirty="0" smtClean="0"/>
              <a:t># vi /etc/</a:t>
            </a:r>
            <a:r>
              <a:rPr lang="en-US" dirty="0" err="1" smtClean="0"/>
              <a:t>sysconfig</a:t>
            </a:r>
            <a:r>
              <a:rPr lang="en-US" dirty="0" smtClean="0"/>
              <a:t>/i18n</a:t>
            </a:r>
            <a:br>
              <a:rPr lang="en-US" dirty="0" smtClean="0"/>
            </a:br>
            <a:r>
              <a:rPr lang="en-US" dirty="0" smtClean="0"/>
              <a:t>LANG="zh_CN.GBK"</a:t>
            </a:r>
            <a:br>
              <a:rPr lang="en-US" dirty="0" smtClean="0"/>
            </a:br>
            <a:r>
              <a:rPr lang="en-US" dirty="0" smtClean="0"/>
              <a:t>SUPPORTED="zh_CN.UTF-8:zh_CN:zh"</a:t>
            </a:r>
            <a:br>
              <a:rPr lang="en-US" dirty="0" smtClean="0"/>
            </a:br>
            <a:r>
              <a:rPr lang="en-US" dirty="0" smtClean="0"/>
              <a:t>SYSFONT="latarcyrheb-sun16“</a:t>
            </a:r>
          </a:p>
          <a:p>
            <a:r>
              <a:rPr lang="en-US" dirty="0" smtClean="0"/>
              <a:t>source /etc/</a:t>
            </a:r>
            <a:r>
              <a:rPr lang="en-US" dirty="0" err="1" smtClean="0"/>
              <a:t>sysconfig</a:t>
            </a:r>
            <a:r>
              <a:rPr lang="en-US" dirty="0" smtClean="0"/>
              <a:t>/i18n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附：中文乱码的修改</a:t>
            </a:r>
            <a:r>
              <a:rPr lang="en-US" altLang="zh-CN" dirty="0" smtClean="0"/>
              <a:t>,</a:t>
            </a:r>
            <a:r>
              <a:rPr lang="zh-CN" altLang="en-US" dirty="0" smtClean="0"/>
              <a:t>最好不改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课件模版2015-10-2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课件模版2015-10-26</Template>
  <TotalTime>2157</TotalTime>
  <Words>1464</Words>
  <Application>Microsoft Macintosh PowerPoint</Application>
  <PresentationFormat>全屏显示(4:3)</PresentationFormat>
  <Paragraphs>260</Paragraphs>
  <Slides>35</Slides>
  <Notes>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6" baseType="lpstr">
      <vt:lpstr>课件模版2015-10-26</vt:lpstr>
      <vt:lpstr>文件的定义</vt:lpstr>
      <vt:lpstr>文件类型</vt:lpstr>
      <vt:lpstr>文件操作命令</vt:lpstr>
      <vt:lpstr>ls</vt:lpstr>
      <vt:lpstr>例子</vt:lpstr>
      <vt:lpstr>通配符</vt:lpstr>
      <vt:lpstr>命令帮助</vt:lpstr>
      <vt:lpstr>ls扩展</vt:lpstr>
      <vt:lpstr>touch</vt:lpstr>
      <vt:lpstr>cp</vt:lpstr>
      <vt:lpstr>例子</vt:lpstr>
      <vt:lpstr>例子</vt:lpstr>
      <vt:lpstr>mv</vt:lpstr>
      <vt:lpstr>例子</vt:lpstr>
      <vt:lpstr>rm</vt:lpstr>
      <vt:lpstr>例子</vt:lpstr>
      <vt:lpstr>find</vt:lpstr>
      <vt:lpstr>find常用选项</vt:lpstr>
      <vt:lpstr>find操作</vt:lpstr>
      <vt:lpstr>例子</vt:lpstr>
      <vt:lpstr>例子</vt:lpstr>
      <vt:lpstr>cat</vt:lpstr>
      <vt:lpstr>例子</vt:lpstr>
      <vt:lpstr>more</vt:lpstr>
      <vt:lpstr>例子</vt:lpstr>
      <vt:lpstr>head</vt:lpstr>
      <vt:lpstr>例子</vt:lpstr>
      <vt:lpstr>tail</vt:lpstr>
      <vt:lpstr>例子</vt:lpstr>
      <vt:lpstr>练习</vt:lpstr>
      <vt:lpstr>tar</vt:lpstr>
      <vt:lpstr>例子</vt:lpstr>
      <vt:lpstr>例子</vt:lpstr>
      <vt:lpstr>zip、unzip</vt:lpstr>
      <vt:lpstr>附：中文乱码的修改,最好不改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dingce</dc:creator>
  <cp:lastModifiedBy>liz fang</cp:lastModifiedBy>
  <cp:revision>299</cp:revision>
  <dcterms:created xsi:type="dcterms:W3CDTF">2015-10-26T03:38:06Z</dcterms:created>
  <dcterms:modified xsi:type="dcterms:W3CDTF">2016-10-31T13:42:32Z</dcterms:modified>
</cp:coreProperties>
</file>