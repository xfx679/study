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4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289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1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C9511-43DC-4932-A7B3-F688C24993E3}" type="datetimeFigureOut">
              <a:rPr lang="zh-CN" altLang="en-US" smtClean="0"/>
              <a:pPr/>
              <a:t>2016/6/6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A0E5F-8AC7-45F1-B505-037150F286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lovesoo.org/tag/lam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"/>
          <p:cNvSpPr txBox="1">
            <a:spLocks noChangeArrowheads="1"/>
          </p:cNvSpPr>
          <p:nvPr/>
        </p:nvSpPr>
        <p:spPr>
          <a:xfrm>
            <a:off x="603280" y="1071546"/>
            <a:ext cx="8255000" cy="2289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Linux</a:t>
            </a:r>
            <a:r>
              <a:rPr kumimoji="0" lang="zh-CN" altLang="en-US" sz="5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系统软件包安装方法</a:t>
            </a:r>
            <a:r>
              <a:rPr kumimoji="0" lang="en-US" altLang="zh-CN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kumimoji="0" lang="en-US" altLang="zh-CN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endParaRPr kumimoji="0" lang="zh-CN" altLang="en-U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5" name="Rectangle 44"/>
          <p:cNvSpPr txBox="1">
            <a:spLocks noChangeArrowheads="1"/>
          </p:cNvSpPr>
          <p:nvPr/>
        </p:nvSpPr>
        <p:spPr>
          <a:xfrm>
            <a:off x="603280" y="3548046"/>
            <a:ext cx="5780088" cy="204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613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顶测科技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800100" y="2008210"/>
            <a:ext cx="0" cy="4089400"/>
          </a:xfrm>
          <a:prstGeom prst="line">
            <a:avLst/>
          </a:prstGeom>
          <a:noFill/>
          <a:ln w="9525">
            <a:solidFill>
              <a:srgbClr val="9999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9871075" y="1576410"/>
            <a:ext cx="0" cy="5067300"/>
          </a:xfrm>
          <a:prstGeom prst="line">
            <a:avLst/>
          </a:prstGeom>
          <a:noFill/>
          <a:ln w="9525">
            <a:solidFill>
              <a:srgbClr val="9999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800100" y="5932510"/>
            <a:ext cx="9604375" cy="0"/>
          </a:xfrm>
          <a:prstGeom prst="line">
            <a:avLst/>
          </a:prstGeom>
          <a:noFill/>
          <a:ln w="9525">
            <a:solidFill>
              <a:srgbClr val="9999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66700" y="2008210"/>
            <a:ext cx="4891088" cy="0"/>
          </a:xfrm>
          <a:prstGeom prst="line">
            <a:avLst/>
          </a:prstGeom>
          <a:noFill/>
          <a:ln w="9525">
            <a:solidFill>
              <a:srgbClr val="9999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WordArt 7"/>
          <p:cNvSpPr>
            <a:spLocks noChangeArrowheads="1" noChangeShapeType="1" noTextEdit="1"/>
          </p:cNvSpPr>
          <p:nvPr/>
        </p:nvSpPr>
        <p:spPr bwMode="auto">
          <a:xfrm>
            <a:off x="1519238" y="1360510"/>
            <a:ext cx="1638300" cy="4111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200" kern="10" dirty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内容介绍</a:t>
            </a: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gray">
          <a:xfrm>
            <a:off x="1978025" y="2235222"/>
            <a:ext cx="4786313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34" tIns="45664" rIns="91334" bIns="45664">
            <a:spAutoFit/>
          </a:bodyPr>
          <a:lstStyle/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>
                <a:solidFill>
                  <a:srgbClr val="005C8A"/>
                </a:solidFill>
                <a:ea typeface="宋体" charset="-122"/>
              </a:rPr>
              <a:t>NO.1  </a:t>
            </a: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软件安装方法概述</a:t>
            </a: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>
                <a:solidFill>
                  <a:srgbClr val="005C8A"/>
                </a:solidFill>
                <a:ea typeface="宋体" charset="-122"/>
              </a:rPr>
              <a:t>NO.2  </a:t>
            </a: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软件包</a:t>
            </a:r>
            <a:r>
              <a:rPr kumimoji="1" lang="en-US" altLang="zh-CN" sz="2100" b="1">
                <a:solidFill>
                  <a:srgbClr val="005C8A"/>
                </a:solidFill>
                <a:ea typeface="宋体" charset="-122"/>
              </a:rPr>
              <a:t>tar</a:t>
            </a: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方法安装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>
                <a:solidFill>
                  <a:srgbClr val="005C8A"/>
                </a:solidFill>
                <a:ea typeface="宋体" charset="-122"/>
              </a:rPr>
              <a:t>NO.3  </a:t>
            </a: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软件包</a:t>
            </a:r>
            <a:r>
              <a:rPr kumimoji="1" lang="en-US" altLang="zh-CN" sz="2100" b="1">
                <a:solidFill>
                  <a:srgbClr val="005C8A"/>
                </a:solidFill>
                <a:ea typeface="宋体" charset="-122"/>
              </a:rPr>
              <a:t>rpm</a:t>
            </a: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方法安装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>
                <a:solidFill>
                  <a:srgbClr val="005C8A"/>
                </a:solidFill>
                <a:ea typeface="宋体" charset="-122"/>
              </a:rPr>
              <a:t>NO.4  </a:t>
            </a:r>
            <a:r>
              <a:rPr kumimoji="1" lang="zh-CN" altLang="en-US" sz="2000" b="1">
                <a:solidFill>
                  <a:srgbClr val="005C8A"/>
                </a:solidFill>
                <a:ea typeface="宋体" charset="-122"/>
              </a:rPr>
              <a:t>软件包</a:t>
            </a:r>
            <a:r>
              <a:rPr kumimoji="1" lang="en-US" altLang="zh-CN" sz="2000" b="1">
                <a:solidFill>
                  <a:srgbClr val="005C8A"/>
                </a:solidFill>
                <a:ea typeface="宋体" charset="-122"/>
              </a:rPr>
              <a:t>yum</a:t>
            </a:r>
            <a:r>
              <a:rPr kumimoji="1" lang="zh-CN" altLang="en-US" sz="2000" b="1">
                <a:solidFill>
                  <a:srgbClr val="005C8A"/>
                </a:solidFill>
                <a:ea typeface="宋体" charset="-122"/>
              </a:rPr>
              <a:t>方法安装</a:t>
            </a:r>
            <a:endParaRPr kumimoji="1" lang="en-US" altLang="zh-CN" sz="2000" b="1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000" b="1">
                <a:solidFill>
                  <a:srgbClr val="005C8A"/>
                </a:solidFill>
                <a:ea typeface="宋体" charset="-122"/>
              </a:rPr>
              <a:t>NO.5   LAMP</a:t>
            </a:r>
            <a:r>
              <a:rPr kumimoji="1" lang="zh-CN" altLang="en-US" sz="2000" b="1">
                <a:solidFill>
                  <a:srgbClr val="005C8A"/>
                </a:solidFill>
                <a:ea typeface="宋体" charset="-122"/>
              </a:rPr>
              <a:t>环境搭建实例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3753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软件安装方法概述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622453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tar</a:t>
            </a:r>
            <a:r>
              <a:rPr kumimoji="1" lang="zh-CN" altLang="en-US" sz="2100" b="1" dirty="0">
                <a:ea typeface="宋体" charset="-122"/>
              </a:rPr>
              <a:t>安装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安装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yum</a:t>
            </a:r>
            <a:r>
              <a:rPr kumimoji="1" lang="zh-CN" altLang="en-US" sz="2100" b="1" dirty="0">
                <a:ea typeface="宋体" charset="-122"/>
              </a:rPr>
              <a:t>安装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tar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-32" y="1000108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tar</a:t>
            </a:r>
            <a:r>
              <a:rPr kumimoji="1" lang="zh-CN" altLang="en-US" sz="2100" b="1" dirty="0">
                <a:ea typeface="宋体" charset="-122"/>
              </a:rPr>
              <a:t>安装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sz="1600" dirty="0">
                <a:ea typeface="宋体" charset="-122"/>
              </a:rPr>
              <a:t>tar</a:t>
            </a:r>
            <a:r>
              <a:rPr lang="zh-CN" altLang="en-US" sz="1600" dirty="0">
                <a:ea typeface="宋体" charset="-122"/>
              </a:rPr>
              <a:t>一般是源码包安装文件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1600" dirty="0">
                <a:ea typeface="宋体" charset="-122"/>
              </a:rPr>
              <a:t>        大多以</a:t>
            </a:r>
            <a:r>
              <a:rPr lang="en-US" altLang="zh-CN" sz="1600" dirty="0">
                <a:ea typeface="宋体" charset="-122"/>
              </a:rPr>
              <a:t>tar.gz </a:t>
            </a:r>
            <a:r>
              <a:rPr lang="zh-CN" altLang="en-US" sz="1600" dirty="0">
                <a:ea typeface="宋体" charset="-122"/>
              </a:rPr>
              <a:t>和</a:t>
            </a:r>
            <a:r>
              <a:rPr lang="en-US" altLang="zh-CN" sz="1600" dirty="0">
                <a:ea typeface="宋体" charset="-122"/>
              </a:rPr>
              <a:t>tar.bz2</a:t>
            </a:r>
            <a:r>
              <a:rPr lang="zh-CN" altLang="en-US" sz="1600" dirty="0">
                <a:ea typeface="宋体" charset="-122"/>
              </a:rPr>
              <a:t>打包软件</a:t>
            </a:r>
            <a:endParaRPr lang="en-US" altLang="zh-CN" sz="1600" dirty="0">
              <a:ea typeface="宋体" charset="-122"/>
            </a:endParaRPr>
          </a:p>
          <a:p>
            <a:pPr lvl="2" algn="l">
              <a:lnSpc>
                <a:spcPct val="80000"/>
              </a:lnSpc>
              <a:defRPr/>
            </a:pPr>
            <a:r>
              <a:rPr lang="zh-CN" altLang="en-US" sz="1600" dirty="0">
                <a:ea typeface="宋体" charset="-122"/>
              </a:rPr>
              <a:t>格式： </a:t>
            </a:r>
            <a:r>
              <a:rPr lang="en-US" altLang="zh-CN" sz="1600" dirty="0">
                <a:ea typeface="宋体" charset="-122"/>
              </a:rPr>
              <a:t>tar [</a:t>
            </a:r>
            <a:r>
              <a:rPr lang="zh-CN" altLang="en-US" sz="1600" dirty="0">
                <a:ea typeface="宋体" charset="-122"/>
              </a:rPr>
              <a:t>选项</a:t>
            </a:r>
            <a:r>
              <a:rPr lang="en-US" altLang="zh-CN" sz="1600" dirty="0">
                <a:ea typeface="宋体" charset="-122"/>
              </a:rPr>
              <a:t>] [</a:t>
            </a:r>
            <a:r>
              <a:rPr lang="zh-CN" altLang="en-US" sz="1600" dirty="0">
                <a:ea typeface="宋体" charset="-122"/>
              </a:rPr>
              <a:t>文件目录列表</a:t>
            </a:r>
            <a:r>
              <a:rPr lang="en-US" altLang="zh-CN" sz="1600" dirty="0">
                <a:ea typeface="宋体" charset="-122"/>
              </a:rPr>
              <a:t>]</a:t>
            </a:r>
            <a:r>
              <a:rPr lang="zh-CN" altLang="en-US" sz="1600" dirty="0">
                <a:ea typeface="宋体" charset="-122"/>
              </a:rPr>
              <a:t/>
            </a:r>
            <a:br>
              <a:rPr lang="zh-CN" altLang="en-US" sz="1600" dirty="0">
                <a:ea typeface="宋体" charset="-122"/>
              </a:rPr>
            </a:br>
            <a:r>
              <a:rPr lang="zh-CN" altLang="en-US" sz="1600" dirty="0">
                <a:ea typeface="宋体" charset="-122"/>
              </a:rPr>
              <a:t>功能： 对文件目录进行打包备份</a:t>
            </a:r>
            <a:endParaRPr lang="en-US" altLang="zh-CN" sz="1600" dirty="0">
              <a:ea typeface="宋体" charset="-122"/>
            </a:endParaRPr>
          </a:p>
          <a:p>
            <a:pPr lvl="2" algn="l">
              <a:lnSpc>
                <a:spcPct val="80000"/>
              </a:lnSpc>
              <a:defRPr/>
            </a:pPr>
            <a:r>
              <a:rPr lang="zh-CN" altLang="en-US" sz="1600" dirty="0">
                <a:ea typeface="宋体" charset="-122"/>
              </a:rPr>
              <a:t>选项：</a:t>
            </a:r>
            <a:br>
              <a:rPr lang="zh-CN" altLang="en-US" sz="1600" dirty="0">
                <a:ea typeface="宋体" charset="-122"/>
              </a:rPr>
            </a:br>
            <a:r>
              <a:rPr lang="en-US" altLang="zh-CN" sz="1600" dirty="0">
                <a:ea typeface="宋体" charset="-122"/>
              </a:rPr>
              <a:t>-c </a:t>
            </a:r>
            <a:r>
              <a:rPr lang="zh-CN" altLang="en-US" sz="1600" dirty="0">
                <a:ea typeface="宋体" charset="-122"/>
              </a:rPr>
              <a:t>建立新的归档</a:t>
            </a:r>
            <a:r>
              <a:rPr lang="zh-CN" altLang="en-US" sz="1600" dirty="0" smtClean="0">
                <a:ea typeface="宋体" charset="-122"/>
              </a:rPr>
              <a:t>文件</a:t>
            </a:r>
            <a:r>
              <a:rPr lang="zh-CN" altLang="en-US" sz="1600" dirty="0">
                <a:ea typeface="宋体" charset="-122"/>
              </a:rPr>
              <a:t/>
            </a:r>
            <a:br>
              <a:rPr lang="zh-CN" altLang="en-US" sz="1600" dirty="0">
                <a:ea typeface="宋体" charset="-122"/>
              </a:rPr>
            </a:br>
            <a:r>
              <a:rPr lang="en-US" altLang="zh-CN" sz="1600" dirty="0">
                <a:ea typeface="宋体" charset="-122"/>
              </a:rPr>
              <a:t>-x </a:t>
            </a:r>
            <a:r>
              <a:rPr lang="zh-CN" altLang="en-US" sz="1600" dirty="0">
                <a:ea typeface="宋体" charset="-122"/>
              </a:rPr>
              <a:t>从归档文件中解出</a:t>
            </a:r>
            <a:r>
              <a:rPr lang="zh-CN" altLang="en-US" sz="1600" dirty="0" smtClean="0">
                <a:ea typeface="宋体" charset="-122"/>
              </a:rPr>
              <a:t>文件</a:t>
            </a:r>
            <a:r>
              <a:rPr lang="zh-CN" altLang="en-US" sz="1600" dirty="0">
                <a:ea typeface="宋体" charset="-122"/>
              </a:rPr>
              <a:t/>
            </a:r>
            <a:br>
              <a:rPr lang="zh-CN" altLang="en-US" sz="1600" dirty="0">
                <a:ea typeface="宋体" charset="-122"/>
              </a:rPr>
            </a:br>
            <a:r>
              <a:rPr lang="en-US" altLang="zh-CN" sz="1600" dirty="0">
                <a:ea typeface="宋体" charset="-122"/>
              </a:rPr>
              <a:t>-v </a:t>
            </a:r>
            <a:r>
              <a:rPr lang="zh-CN" altLang="en-US" sz="1600" dirty="0">
                <a:ea typeface="宋体" charset="-122"/>
              </a:rPr>
              <a:t>处理过程中输出相关信息</a:t>
            </a:r>
            <a:br>
              <a:rPr lang="zh-CN" altLang="en-US" sz="1600" dirty="0">
                <a:ea typeface="宋体" charset="-122"/>
              </a:rPr>
            </a:br>
            <a:r>
              <a:rPr lang="en-US" altLang="zh-CN" sz="1600" dirty="0">
                <a:ea typeface="宋体" charset="-122"/>
              </a:rPr>
              <a:t>-f </a:t>
            </a:r>
            <a:r>
              <a:rPr lang="zh-CN" altLang="en-US" sz="1600" dirty="0">
                <a:ea typeface="宋体" charset="-122"/>
              </a:rPr>
              <a:t>对普通文件操作</a:t>
            </a:r>
            <a:br>
              <a:rPr lang="zh-CN" altLang="en-US" sz="1600" dirty="0">
                <a:ea typeface="宋体" charset="-122"/>
              </a:rPr>
            </a:br>
            <a:r>
              <a:rPr lang="en-US" altLang="zh-CN" sz="1600" dirty="0" smtClean="0">
                <a:ea typeface="宋体" charset="-122"/>
              </a:rPr>
              <a:t>-z </a:t>
            </a:r>
            <a:r>
              <a:rPr lang="zh-CN" altLang="en-US" sz="1600" dirty="0" smtClean="0">
                <a:ea typeface="宋体" charset="-122"/>
              </a:rPr>
              <a:t>调用</a:t>
            </a:r>
            <a:r>
              <a:rPr lang="en-US" altLang="zh-CN" sz="1600" dirty="0" err="1" smtClean="0">
                <a:ea typeface="宋体" charset="-122"/>
              </a:rPr>
              <a:t>gzip</a:t>
            </a:r>
            <a:r>
              <a:rPr lang="zh-CN" altLang="en-US" sz="1600" dirty="0" smtClean="0">
                <a:ea typeface="宋体" charset="-122"/>
              </a:rPr>
              <a:t>来压缩归档文件，与</a:t>
            </a:r>
            <a:r>
              <a:rPr lang="en-US" altLang="zh-CN" sz="1600" dirty="0" smtClean="0">
                <a:ea typeface="宋体" charset="-122"/>
              </a:rPr>
              <a:t>-x</a:t>
            </a:r>
            <a:r>
              <a:rPr lang="zh-CN" altLang="en-US" sz="1600" dirty="0" smtClean="0">
                <a:ea typeface="宋体" charset="-122"/>
              </a:rPr>
              <a:t>联用时调用</a:t>
            </a:r>
            <a:r>
              <a:rPr lang="en-US" altLang="zh-CN" sz="1600" dirty="0" err="1" smtClean="0">
                <a:ea typeface="宋体" charset="-122"/>
              </a:rPr>
              <a:t>gzip</a:t>
            </a:r>
            <a:r>
              <a:rPr lang="zh-CN" altLang="en-US" sz="1600" dirty="0" smtClean="0">
                <a:ea typeface="宋体" charset="-122"/>
              </a:rPr>
              <a:t>完成解压缩</a:t>
            </a:r>
            <a:br>
              <a:rPr lang="zh-CN" altLang="en-US" sz="1600" dirty="0" smtClean="0">
                <a:ea typeface="宋体" charset="-122"/>
              </a:rPr>
            </a:br>
            <a:endParaRPr lang="en-US" altLang="zh-CN" sz="1600" dirty="0">
              <a:ea typeface="宋体" charset="-122"/>
            </a:endParaRPr>
          </a:p>
          <a:p>
            <a:pPr lvl="2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</a:t>
            </a:r>
            <a:r>
              <a:rPr lang="en-US" altLang="en-US" sz="1600" dirty="0" smtClean="0">
                <a:ea typeface="宋体" charset="-122"/>
              </a:rPr>
              <a:t>1.#</a:t>
            </a:r>
            <a:r>
              <a:rPr lang="zh-CN" altLang="en-US" sz="1600" dirty="0">
                <a:ea typeface="宋体" charset="-122"/>
              </a:rPr>
              <a:t>解压源码包文件</a:t>
            </a: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tar </a:t>
            </a:r>
            <a:r>
              <a:rPr lang="en-US" altLang="en-US" sz="1600" dirty="0" smtClean="0">
                <a:ea typeface="宋体" charset="-122"/>
              </a:rPr>
              <a:t>   -</a:t>
            </a:r>
            <a:r>
              <a:rPr lang="en-US" altLang="en-US" sz="1600" dirty="0" err="1" smtClean="0">
                <a:ea typeface="宋体" charset="-122"/>
              </a:rPr>
              <a:t>zxvf</a:t>
            </a:r>
            <a:r>
              <a:rPr lang="en-US" altLang="en-US" sz="1600" dirty="0" smtClean="0">
                <a:ea typeface="宋体" charset="-122"/>
              </a:rPr>
              <a:t>     </a:t>
            </a:r>
            <a:r>
              <a:rPr lang="en-US" altLang="en-US" sz="1600" dirty="0" err="1" smtClean="0">
                <a:ea typeface="宋体" charset="-122"/>
              </a:rPr>
              <a:t>FILENAME.tar.gz</a:t>
            </a: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</a:t>
            </a:r>
            <a:r>
              <a:rPr lang="zh-CN" altLang="en-US" sz="1600" dirty="0">
                <a:ea typeface="宋体" charset="-122"/>
              </a:rPr>
              <a:t>或</a:t>
            </a:r>
            <a:r>
              <a:rPr lang="en-US" altLang="en-US" sz="1600" dirty="0">
                <a:ea typeface="宋体" charset="-122"/>
              </a:rPr>
              <a:t>tar </a:t>
            </a:r>
            <a:r>
              <a:rPr lang="en-US" altLang="en-US" sz="1600" dirty="0" smtClean="0">
                <a:ea typeface="宋体" charset="-122"/>
              </a:rPr>
              <a:t>  -</a:t>
            </a:r>
            <a:r>
              <a:rPr lang="en-US" altLang="en-US" sz="1600" dirty="0" err="1" smtClean="0">
                <a:ea typeface="宋体" charset="-122"/>
              </a:rPr>
              <a:t>jxvf</a:t>
            </a:r>
            <a:r>
              <a:rPr lang="en-US" altLang="en-US" sz="1600" dirty="0" smtClean="0">
                <a:ea typeface="宋体" charset="-122"/>
              </a:rPr>
              <a:t>   FILENAME.tar.gz2</a:t>
            </a: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</a:t>
            </a:r>
            <a:r>
              <a:rPr lang="en-US" altLang="en-US" sz="1600" dirty="0" smtClean="0">
                <a:ea typeface="宋体" charset="-122"/>
              </a:rPr>
              <a:t>2.#</a:t>
            </a:r>
            <a:r>
              <a:rPr lang="zh-CN" altLang="en-US" sz="1600" dirty="0">
                <a:ea typeface="宋体" charset="-122"/>
              </a:rPr>
              <a:t>配置安装目录</a:t>
            </a:r>
            <a:endParaRPr lang="en-US" altLang="zh-CN" sz="1600" dirty="0">
              <a:ea typeface="宋体" charset="-122"/>
            </a:endParaRPr>
          </a:p>
          <a:p>
            <a:pPr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    </a:t>
            </a:r>
            <a:r>
              <a:rPr lang="en-US" altLang="zh-CN" sz="1600" dirty="0" smtClean="0">
                <a:ea typeface="宋体" charset="-122"/>
              </a:rPr>
              <a:t>   ./</a:t>
            </a:r>
            <a:r>
              <a:rPr lang="en-US" altLang="en-US" sz="1600" dirty="0">
                <a:ea typeface="宋体" charset="-122"/>
              </a:rPr>
              <a:t>configure  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ea typeface="宋体" charset="-122"/>
              </a:rPr>
              <a:t>（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./configure</a:t>
            </a:r>
            <a:r>
              <a:rPr lang="zh-CN" altLang="en-US" sz="1600" dirty="0">
                <a:solidFill>
                  <a:srgbClr val="FF0000"/>
                </a:solidFill>
              </a:rPr>
              <a:t>主要的作用是对即将安装的软件进行配置，检查当前的环境是否满足要安装 软件的依赖关系，但并不是所有的</a:t>
            </a:r>
            <a:r>
              <a:rPr lang="en-US" altLang="zh-CN" sz="1600" dirty="0">
                <a:solidFill>
                  <a:srgbClr val="FF0000"/>
                </a:solidFill>
              </a:rPr>
              <a:t>tar</a:t>
            </a:r>
            <a:r>
              <a:rPr lang="zh-CN" altLang="en-US" sz="1600" dirty="0">
                <a:solidFill>
                  <a:srgbClr val="FF0000"/>
                </a:solidFill>
              </a:rPr>
              <a:t>包都是源代码的包，可以</a:t>
            </a:r>
            <a:r>
              <a:rPr lang="en-US" altLang="zh-CN" sz="1600" dirty="0" err="1">
                <a:solidFill>
                  <a:srgbClr val="FF0000"/>
                </a:solidFill>
              </a:rPr>
              <a:t>ls</a:t>
            </a:r>
            <a:r>
              <a:rPr lang="zh-CN" altLang="en-US" sz="1600" dirty="0">
                <a:solidFill>
                  <a:srgbClr val="FF0000"/>
                </a:solidFill>
              </a:rPr>
              <a:t>看看有没有</a:t>
            </a:r>
            <a:r>
              <a:rPr lang="en-US" altLang="zh-CN" sz="1600" dirty="0">
                <a:solidFill>
                  <a:srgbClr val="FF0000"/>
                </a:solidFill>
              </a:rPr>
              <a:t>configure</a:t>
            </a:r>
            <a:r>
              <a:rPr lang="zh-CN" altLang="en-US" sz="1600" dirty="0">
                <a:solidFill>
                  <a:srgbClr val="FF0000"/>
                </a:solidFill>
              </a:rPr>
              <a:t>这个文件）</a:t>
            </a:r>
            <a:endParaRPr lang="en-US" altLang="en-US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</a:t>
            </a:r>
            <a:r>
              <a:rPr lang="en-US" altLang="en-US" sz="1600" dirty="0" smtClean="0">
                <a:ea typeface="宋体" charset="-122"/>
              </a:rPr>
              <a:t>3.#</a:t>
            </a:r>
            <a:r>
              <a:rPr lang="zh-CN" altLang="en-US" sz="1600" dirty="0">
                <a:ea typeface="宋体" charset="-122"/>
              </a:rPr>
              <a:t>编译</a:t>
            </a: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make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</a:t>
            </a:r>
            <a:r>
              <a:rPr lang="en-US" altLang="en-US" sz="1600" dirty="0" smtClean="0">
                <a:ea typeface="宋体" charset="-122"/>
              </a:rPr>
              <a:t>4.#</a:t>
            </a:r>
            <a:r>
              <a:rPr lang="zh-CN" altLang="en-US" sz="1600" dirty="0">
                <a:ea typeface="宋体" charset="-122"/>
              </a:rPr>
              <a:t>安装</a:t>
            </a:r>
            <a:r>
              <a:rPr lang="en-US" altLang="en-US" sz="1600" dirty="0">
                <a:ea typeface="宋体" charset="-122"/>
              </a:rPr>
              <a:t>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make install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tar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tar</a:t>
            </a:r>
            <a:r>
              <a:rPr kumimoji="1" lang="zh-CN" altLang="en-US" sz="2100" b="1" dirty="0">
                <a:ea typeface="宋体" charset="-122"/>
              </a:rPr>
              <a:t>安装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sz="1600" dirty="0">
                <a:ea typeface="宋体" charset="-122"/>
              </a:rPr>
              <a:t>tar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1600" dirty="0">
                <a:ea typeface="宋体" charset="-122"/>
              </a:rPr>
              <a:t>   举例：安装</a:t>
            </a:r>
            <a:r>
              <a:rPr lang="en-US" altLang="zh-CN" sz="1600" dirty="0">
                <a:ea typeface="宋体" charset="-122"/>
              </a:rPr>
              <a:t>freetype-2.3.5.tar.gz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  <a:r>
              <a:rPr lang="zh-CN" altLang="en-US" sz="1600" dirty="0">
                <a:ea typeface="宋体" charset="-122"/>
              </a:rPr>
              <a:t>步骤</a:t>
            </a:r>
            <a:r>
              <a:rPr lang="en-US" altLang="zh-CN" sz="1600" dirty="0">
                <a:ea typeface="宋体" charset="-122"/>
              </a:rPr>
              <a:t>1.</a:t>
            </a:r>
            <a:r>
              <a:rPr lang="zh-CN" altLang="en-US" sz="1600" dirty="0">
                <a:ea typeface="宋体" charset="-122"/>
              </a:rPr>
              <a:t>解压安装包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  <a:r>
              <a:rPr lang="zh-CN" altLang="en-US" sz="1600" dirty="0">
                <a:ea typeface="宋体" charset="-122"/>
              </a:rPr>
              <a:t>步骤</a:t>
            </a:r>
            <a:r>
              <a:rPr lang="en-US" altLang="zh-CN" sz="1600" dirty="0">
                <a:ea typeface="宋体" charset="-122"/>
              </a:rPr>
              <a:t>2.</a:t>
            </a:r>
            <a:r>
              <a:rPr lang="zh-CN" altLang="en-US" sz="1600" dirty="0">
                <a:ea typeface="宋体" charset="-122"/>
              </a:rPr>
              <a:t>配置安装目录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  <a:r>
              <a:rPr lang="zh-CN" altLang="en-US" sz="1600" dirty="0">
                <a:ea typeface="宋体" charset="-122"/>
              </a:rPr>
              <a:t>步骤</a:t>
            </a:r>
            <a:r>
              <a:rPr lang="en-US" altLang="zh-CN" sz="1600" dirty="0">
                <a:ea typeface="宋体" charset="-122"/>
              </a:rPr>
              <a:t>3.</a:t>
            </a:r>
            <a:r>
              <a:rPr lang="zh-CN" altLang="en-US" sz="1600" dirty="0">
                <a:ea typeface="宋体" charset="-122"/>
              </a:rPr>
              <a:t>编译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</a:t>
            </a:r>
            <a:r>
              <a:rPr lang="zh-CN" altLang="en-US" sz="1600" dirty="0">
                <a:ea typeface="宋体" charset="-122"/>
              </a:rPr>
              <a:t>步骤</a:t>
            </a:r>
            <a:r>
              <a:rPr lang="en-US" altLang="zh-CN" sz="1600" dirty="0">
                <a:ea typeface="宋体" charset="-122"/>
              </a:rPr>
              <a:t>4.</a:t>
            </a:r>
            <a:r>
              <a:rPr lang="zh-CN" altLang="en-US" sz="1600" dirty="0">
                <a:ea typeface="宋体" charset="-122"/>
              </a:rPr>
              <a:t>安装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5088" y="2643188"/>
            <a:ext cx="52736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5088" y="3714750"/>
            <a:ext cx="5273675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63650" y="4857750"/>
            <a:ext cx="5273675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63650" y="5857875"/>
            <a:ext cx="527367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rpm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安装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zh-CN" sz="1600" dirty="0">
                <a:ea typeface="宋体" charset="-122"/>
              </a:rPr>
              <a:t>rpm </a:t>
            </a:r>
            <a:r>
              <a:rPr lang="zh-CN" altLang="en-US" sz="1600" dirty="0">
                <a:ea typeface="宋体" charset="-122"/>
              </a:rPr>
              <a:t>执行安装包</a:t>
            </a:r>
            <a:endParaRPr lang="en-US" altLang="zh-CN" sz="1600" dirty="0">
              <a:ea typeface="宋体" charset="-122"/>
            </a:endParaRPr>
          </a:p>
          <a:p>
            <a:pPr lvl="2" algn="l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zh-CN" altLang="en-US" sz="1600" dirty="0"/>
              <a:t>常用参数</a:t>
            </a:r>
            <a:endParaRPr lang="en-US" sz="1600" dirty="0"/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     -</a:t>
            </a:r>
            <a:r>
              <a:rPr lang="en-US" altLang="en-US" sz="1600" dirty="0" err="1">
                <a:ea typeface="宋体" charset="-122"/>
              </a:rPr>
              <a:t>i</a:t>
            </a:r>
            <a:r>
              <a:rPr lang="en-US" altLang="en-US" sz="1600" dirty="0">
                <a:ea typeface="宋体" charset="-122"/>
              </a:rPr>
              <a:t>, --install                     </a:t>
            </a:r>
            <a:r>
              <a:rPr lang="en-US" altLang="en-US" sz="1600" dirty="0" err="1">
                <a:ea typeface="宋体" charset="-122"/>
              </a:rPr>
              <a:t>install</a:t>
            </a:r>
            <a:r>
              <a:rPr lang="en-US" altLang="en-US" sz="1600" dirty="0">
                <a:ea typeface="宋体" charset="-122"/>
              </a:rPr>
              <a:t> package(s)</a:t>
            </a:r>
            <a:br>
              <a:rPr lang="en-US" altLang="en-US" sz="1600" dirty="0">
                <a:ea typeface="宋体" charset="-122"/>
              </a:rPr>
            </a:br>
            <a:r>
              <a:rPr lang="en-US" altLang="en-US" sz="1600" dirty="0">
                <a:ea typeface="宋体" charset="-122"/>
              </a:rPr>
              <a:t>        -v, --verbose                     provide more detailed output</a:t>
            </a:r>
            <a:br>
              <a:rPr lang="en-US" altLang="en-US" sz="1600" dirty="0">
                <a:ea typeface="宋体" charset="-122"/>
              </a:rPr>
            </a:br>
            <a:r>
              <a:rPr lang="en-US" altLang="en-US" sz="1600" dirty="0">
                <a:ea typeface="宋体" charset="-122"/>
              </a:rPr>
              <a:t>        -h, --hash                        print hash marks as package installs (good with -v)</a:t>
            </a:r>
            <a:br>
              <a:rPr lang="en-US" altLang="en-US" sz="1600" dirty="0">
                <a:ea typeface="宋体" charset="-122"/>
              </a:rPr>
            </a:br>
            <a:r>
              <a:rPr lang="en-US" altLang="en-US" sz="1600" dirty="0">
                <a:ea typeface="宋体" charset="-122"/>
              </a:rPr>
              <a:t>        -e, --erase                       </a:t>
            </a:r>
            <a:r>
              <a:rPr lang="en-US" altLang="en-US" sz="1600" dirty="0" err="1">
                <a:ea typeface="宋体" charset="-122"/>
              </a:rPr>
              <a:t>erase</a:t>
            </a:r>
            <a:r>
              <a:rPr lang="en-US" altLang="en-US" sz="1600" dirty="0">
                <a:ea typeface="宋体" charset="-122"/>
              </a:rPr>
              <a:t> (uninstall) package</a:t>
            </a:r>
            <a:br>
              <a:rPr lang="en-US" altLang="en-US" sz="1600" dirty="0">
                <a:ea typeface="宋体" charset="-122"/>
              </a:rPr>
            </a:br>
            <a:r>
              <a:rPr lang="en-US" altLang="en-US" sz="1600" dirty="0">
                <a:ea typeface="宋体" charset="-122"/>
              </a:rPr>
              <a:t>        -U, --upgrade=&lt;</a:t>
            </a:r>
            <a:r>
              <a:rPr lang="en-US" altLang="en-US" sz="1600" dirty="0" err="1">
                <a:ea typeface="宋体" charset="-122"/>
              </a:rPr>
              <a:t>packagefile</a:t>
            </a:r>
            <a:r>
              <a:rPr lang="en-US" altLang="en-US" sz="1600" dirty="0">
                <a:ea typeface="宋体" charset="-122"/>
              </a:rPr>
              <a:t>&gt;+      upgrade package(s)</a:t>
            </a:r>
            <a:br>
              <a:rPr lang="en-US" altLang="en-US" sz="1600" dirty="0">
                <a:ea typeface="宋体" charset="-122"/>
              </a:rPr>
            </a:br>
            <a:r>
              <a:rPr lang="en-US" altLang="en-US" sz="1600" dirty="0">
                <a:ea typeface="宋体" charset="-122"/>
              </a:rPr>
              <a:t>       －-</a:t>
            </a:r>
            <a:r>
              <a:rPr lang="en-US" altLang="en-US" sz="1600" dirty="0" err="1">
                <a:ea typeface="宋体" charset="-122"/>
              </a:rPr>
              <a:t>replacepkge</a:t>
            </a:r>
            <a:r>
              <a:rPr lang="en-US" altLang="en-US" sz="1600" dirty="0">
                <a:ea typeface="宋体" charset="-122"/>
              </a:rPr>
              <a:t>                    </a:t>
            </a:r>
            <a:r>
              <a:rPr lang="zh-CN" altLang="en-US" sz="1600" dirty="0">
                <a:ea typeface="宋体" charset="-122"/>
              </a:rPr>
              <a:t>无论软件包是否已被安装，都强行安装软件包</a:t>
            </a:r>
            <a:br>
              <a:rPr lang="zh-CN" altLang="en-US" sz="1600" dirty="0">
                <a:ea typeface="宋体" charset="-122"/>
              </a:rPr>
            </a:br>
            <a:r>
              <a:rPr lang="zh-CN" altLang="en-US" sz="1600" dirty="0">
                <a:ea typeface="宋体" charset="-122"/>
              </a:rPr>
              <a:t>       </a:t>
            </a:r>
            <a:r>
              <a:rPr lang="en-US" altLang="zh-CN" sz="1600" dirty="0">
                <a:ea typeface="宋体" charset="-122"/>
              </a:rPr>
              <a:t>--</a:t>
            </a:r>
            <a:r>
              <a:rPr lang="en-US" altLang="en-US" sz="1600" dirty="0">
                <a:ea typeface="宋体" charset="-122"/>
              </a:rPr>
              <a:t>test                            </a:t>
            </a:r>
            <a:r>
              <a:rPr lang="zh-CN" altLang="en-US" sz="1600" dirty="0">
                <a:ea typeface="宋体" charset="-122"/>
              </a:rPr>
              <a:t>安装测试，并不实际安装</a:t>
            </a:r>
            <a:br>
              <a:rPr lang="zh-CN" altLang="en-US" sz="1600" dirty="0">
                <a:ea typeface="宋体" charset="-122"/>
              </a:rPr>
            </a:br>
            <a:r>
              <a:rPr lang="zh-CN" altLang="en-US" sz="1600" dirty="0">
                <a:ea typeface="宋体" charset="-122"/>
              </a:rPr>
              <a:t>       </a:t>
            </a:r>
            <a:r>
              <a:rPr lang="en-US" altLang="zh-CN" sz="1600" dirty="0">
                <a:ea typeface="宋体" charset="-122"/>
              </a:rPr>
              <a:t>--</a:t>
            </a:r>
            <a:r>
              <a:rPr lang="en-US" altLang="en-US" sz="1600" dirty="0" err="1">
                <a:ea typeface="宋体" charset="-122"/>
              </a:rPr>
              <a:t>nodeps</a:t>
            </a:r>
            <a:r>
              <a:rPr lang="en-US" altLang="en-US" sz="1600" dirty="0">
                <a:ea typeface="宋体" charset="-122"/>
              </a:rPr>
              <a:t>                          </a:t>
            </a:r>
            <a:r>
              <a:rPr lang="zh-CN" altLang="en-US" sz="1600" dirty="0">
                <a:ea typeface="宋体" charset="-122"/>
              </a:rPr>
              <a:t>忽略软件包的依赖关系强行安装</a:t>
            </a:r>
            <a:br>
              <a:rPr lang="zh-CN" altLang="en-US" sz="1600" dirty="0">
                <a:ea typeface="宋体" charset="-122"/>
              </a:rPr>
            </a:br>
            <a:r>
              <a:rPr lang="zh-CN" altLang="en-US" sz="1600" dirty="0">
                <a:ea typeface="宋体" charset="-122"/>
              </a:rPr>
              <a:t>       </a:t>
            </a:r>
            <a:r>
              <a:rPr lang="en-US" altLang="zh-CN" sz="1600" dirty="0">
                <a:ea typeface="宋体" charset="-122"/>
              </a:rPr>
              <a:t>--</a:t>
            </a:r>
            <a:r>
              <a:rPr lang="en-US" altLang="en-US" sz="1600" dirty="0">
                <a:ea typeface="宋体" charset="-122"/>
              </a:rPr>
              <a:t>force                           </a:t>
            </a:r>
            <a:r>
              <a:rPr lang="zh-CN" altLang="en-US" sz="1600" dirty="0">
                <a:ea typeface="宋体" charset="-122"/>
              </a:rPr>
              <a:t>忽略软件包及文件的冲突</a:t>
            </a:r>
            <a:br>
              <a:rPr lang="zh-CN" altLang="en-US" sz="1600" dirty="0">
                <a:ea typeface="宋体" charset="-122"/>
              </a:rPr>
            </a:b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2" algn="l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zh-CN" altLang="en-US" sz="1600" dirty="0">
                <a:ea typeface="宋体" charset="-122"/>
              </a:rPr>
              <a:t>   常用命令组合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 </a:t>
            </a:r>
            <a:r>
              <a:rPr lang="en-US" altLang="en-US" sz="1600" dirty="0">
                <a:solidFill>
                  <a:srgbClr val="FF0000"/>
                </a:solidFill>
                <a:ea typeface="宋体" charset="-122"/>
              </a:rPr>
              <a:t>－</a:t>
            </a:r>
            <a:r>
              <a:rPr lang="en-US" altLang="en-US" sz="1600" dirty="0" err="1">
                <a:solidFill>
                  <a:srgbClr val="FF0000"/>
                </a:solidFill>
                <a:ea typeface="宋体" charset="-122"/>
              </a:rPr>
              <a:t>ivh</a:t>
            </a:r>
            <a:r>
              <a:rPr lang="en-US" altLang="en-US" sz="1600" dirty="0">
                <a:ea typeface="宋体" charset="-122"/>
              </a:rPr>
              <a:t>：</a:t>
            </a:r>
            <a:r>
              <a:rPr lang="zh-CN" altLang="en-US" sz="1600" dirty="0">
                <a:ea typeface="宋体" charset="-122"/>
              </a:rPr>
              <a:t>安装显示安装进度</a:t>
            </a:r>
            <a:r>
              <a:rPr lang="en-US" altLang="zh-CN" sz="1600" dirty="0">
                <a:ea typeface="宋体" charset="-122"/>
              </a:rPr>
              <a:t>--</a:t>
            </a:r>
            <a:r>
              <a:rPr lang="en-US" altLang="en-US" sz="1600" dirty="0">
                <a:ea typeface="宋体" charset="-122"/>
              </a:rPr>
              <a:t>install--verbose—hash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 </a:t>
            </a:r>
            <a:r>
              <a:rPr lang="en-US" altLang="en-US" sz="1600" dirty="0">
                <a:solidFill>
                  <a:srgbClr val="FF0000"/>
                </a:solidFill>
                <a:ea typeface="宋体" charset="-122"/>
              </a:rPr>
              <a:t>－e</a:t>
            </a:r>
            <a:r>
              <a:rPr lang="en-US" altLang="en-US" sz="1600" dirty="0">
                <a:ea typeface="宋体" charset="-122"/>
              </a:rPr>
              <a:t>：</a:t>
            </a:r>
            <a:r>
              <a:rPr lang="zh-CN" altLang="en-US" sz="1600" dirty="0">
                <a:ea typeface="宋体" charset="-122"/>
              </a:rPr>
              <a:t>删除包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sz="1600" dirty="0"/>
              <a:t>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sz="1600" dirty="0">
                <a:solidFill>
                  <a:srgbClr val="FF0000"/>
                </a:solidFill>
              </a:rPr>
              <a:t>        --</a:t>
            </a:r>
            <a:r>
              <a:rPr lang="en-US" sz="1600" dirty="0" err="1">
                <a:solidFill>
                  <a:srgbClr val="FF0000"/>
                </a:solidFill>
              </a:rPr>
              <a:t>nodeps</a:t>
            </a:r>
            <a:r>
              <a:rPr lang="en-US" sz="1600" dirty="0">
                <a:solidFill>
                  <a:srgbClr val="FF0000"/>
                </a:solidFill>
              </a:rPr>
              <a:t>:</a:t>
            </a:r>
            <a:r>
              <a:rPr lang="zh-CN" altLang="en-US" sz="1600" dirty="0">
                <a:solidFill>
                  <a:srgbClr val="FF0000"/>
                </a:solidFill>
                <a:ea typeface="宋体" charset="-122"/>
              </a:rPr>
              <a:t>忽略软件包的依赖关系强行安装</a:t>
            </a: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i="1" dirty="0">
                <a:ea typeface="宋体" charset="-122"/>
              </a:rPr>
              <a:t>        rpm -q XXX //</a:t>
            </a:r>
            <a:r>
              <a:rPr lang="zh-CN" altLang="en-US" sz="1600" i="1" dirty="0">
                <a:ea typeface="宋体" charset="-122"/>
              </a:rPr>
              <a:t>查询程序是否安装</a:t>
            </a:r>
            <a:endParaRPr lang="en-US" altLang="zh-CN" sz="1600" i="1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rpm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71406" y="1071547"/>
            <a:ext cx="8988425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安装举例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zh-CN" sz="2000" dirty="0">
                <a:latin typeface="+mn-ea"/>
              </a:rPr>
              <a:t>rpm </a:t>
            </a:r>
            <a:r>
              <a:rPr lang="zh-CN" altLang="en-US" sz="2000" dirty="0">
                <a:latin typeface="+mn-ea"/>
              </a:rPr>
              <a:t>执行安装包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2400" dirty="0">
                <a:latin typeface="+mn-ea"/>
              </a:rPr>
              <a:t>   </a:t>
            </a:r>
            <a:r>
              <a:rPr lang="zh-CN" altLang="en-US" sz="2000" dirty="0">
                <a:latin typeface="+mn-ea"/>
              </a:rPr>
              <a:t>举例</a:t>
            </a:r>
            <a:r>
              <a:rPr lang="en-US" altLang="zh-CN" sz="2000" dirty="0">
                <a:latin typeface="+mn-ea"/>
              </a:rPr>
              <a:t>:</a:t>
            </a:r>
            <a:r>
              <a:rPr lang="zh-CN" altLang="en-US" sz="2000" dirty="0">
                <a:latin typeface="+mn-ea"/>
              </a:rPr>
              <a:t>安装</a:t>
            </a:r>
            <a:r>
              <a:rPr lang="en-US" altLang="zh-CN" sz="2000" dirty="0">
                <a:latin typeface="+mn-ea"/>
              </a:rPr>
              <a:t>ftp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>
                <a:latin typeface="+mn-ea"/>
              </a:rPr>
              <a:t>   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zh-CN" altLang="en-US" sz="2000" dirty="0" smtClean="0">
                <a:latin typeface="+mn-ea"/>
              </a:rPr>
              <a:t>步骤</a:t>
            </a:r>
            <a:r>
              <a:rPr lang="en-US" altLang="zh-CN" sz="2000" dirty="0">
                <a:latin typeface="+mn-ea"/>
              </a:rPr>
              <a:t>1.</a:t>
            </a:r>
            <a:r>
              <a:rPr lang="zh-CN" altLang="en-US" sz="2000" dirty="0">
                <a:latin typeface="+mn-ea"/>
              </a:rPr>
              <a:t>检查是否安装</a:t>
            </a:r>
            <a:r>
              <a:rPr lang="en-US" altLang="zh-CN" sz="2000" dirty="0">
                <a:latin typeface="+mn-ea"/>
              </a:rPr>
              <a:t>ftp</a:t>
            </a:r>
            <a:r>
              <a:rPr lang="zh-CN" altLang="en-US" sz="2000" dirty="0" smtClean="0">
                <a:latin typeface="+mn-ea"/>
              </a:rPr>
              <a:t>服务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  rpm  -</a:t>
            </a:r>
            <a:r>
              <a:rPr lang="en-US" altLang="zh-CN" sz="2000" dirty="0" err="1" smtClean="0">
                <a:latin typeface="+mn-ea"/>
              </a:rPr>
              <a:t>qa</a:t>
            </a:r>
            <a:r>
              <a:rPr lang="en-US" altLang="zh-CN" sz="2000" dirty="0" smtClean="0">
                <a:latin typeface="+mn-ea"/>
              </a:rPr>
              <a:t>  | </a:t>
            </a:r>
            <a:r>
              <a:rPr lang="en-US" altLang="zh-CN" sz="2000" dirty="0" err="1" smtClean="0">
                <a:latin typeface="+mn-ea"/>
              </a:rPr>
              <a:t>grep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err="1" smtClean="0">
                <a:latin typeface="+mn-ea"/>
              </a:rPr>
              <a:t>vsftpd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  </a:t>
            </a:r>
            <a:r>
              <a:rPr lang="zh-CN" altLang="en-US" sz="2000" dirty="0" smtClean="0">
                <a:latin typeface="+mn-ea"/>
              </a:rPr>
              <a:t>步骤</a:t>
            </a:r>
            <a:r>
              <a:rPr lang="en-US" altLang="zh-CN" sz="2000" dirty="0" smtClean="0">
                <a:latin typeface="+mn-ea"/>
              </a:rPr>
              <a:t>2.</a:t>
            </a:r>
            <a:r>
              <a:rPr lang="zh-CN" altLang="en-US" sz="2000" dirty="0" smtClean="0">
                <a:latin typeface="+mn-ea"/>
              </a:rPr>
              <a:t>进入光盘安装目录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 smtClean="0">
              <a:latin typeface="+mn-ea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  </a:t>
            </a:r>
            <a:r>
              <a:rPr lang="zh-CN" altLang="en-US" sz="2000" dirty="0" smtClean="0">
                <a:latin typeface="+mn-ea"/>
              </a:rPr>
              <a:t>步骤</a:t>
            </a:r>
            <a:r>
              <a:rPr lang="en-US" altLang="zh-CN" sz="2000" dirty="0" smtClean="0">
                <a:latin typeface="+mn-ea"/>
              </a:rPr>
              <a:t>3.</a:t>
            </a:r>
            <a:r>
              <a:rPr lang="zh-CN" altLang="en-US" sz="2000" dirty="0" smtClean="0">
                <a:ea typeface="宋体" charset="-122"/>
              </a:rPr>
              <a:t>使用</a:t>
            </a:r>
            <a:r>
              <a:rPr lang="en-US" altLang="zh-CN" sz="2000" dirty="0" smtClean="0">
                <a:ea typeface="宋体" charset="-122"/>
              </a:rPr>
              <a:t>rpm</a:t>
            </a:r>
            <a:r>
              <a:rPr lang="zh-CN" altLang="en-US" sz="2000" dirty="0" smtClean="0">
                <a:ea typeface="宋体" charset="-122"/>
              </a:rPr>
              <a:t>命令安装</a:t>
            </a:r>
            <a:r>
              <a:rPr lang="en-US" altLang="zh-CN" sz="2000" dirty="0" smtClean="0">
                <a:ea typeface="宋体" charset="-122"/>
              </a:rPr>
              <a:t>ftp</a:t>
            </a:r>
            <a:r>
              <a:rPr lang="zh-CN" altLang="en-US" sz="2000" dirty="0" smtClean="0">
                <a:ea typeface="宋体" charset="-122"/>
              </a:rPr>
              <a:t>软件包</a:t>
            </a:r>
            <a:endParaRPr lang="en-US" altLang="zh-CN" sz="2000" dirty="0" smtClean="0"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>
                <a:latin typeface="宋体" charset="-122"/>
                <a:ea typeface="宋体" charset="-122"/>
              </a:rPr>
              <a:t>    </a:t>
            </a:r>
            <a:r>
              <a:rPr lang="zh-CN" altLang="en-US" sz="2000" dirty="0" smtClean="0">
                <a:latin typeface="宋体" charset="-122"/>
                <a:ea typeface="宋体" charset="-122"/>
              </a:rPr>
              <a:t>步骤</a:t>
            </a:r>
            <a:r>
              <a:rPr lang="en-US" altLang="zh-CN" sz="2000" dirty="0" smtClean="0">
                <a:latin typeface="宋体" charset="-122"/>
                <a:ea typeface="宋体" charset="-122"/>
              </a:rPr>
              <a:t>4.</a:t>
            </a:r>
            <a:r>
              <a:rPr lang="zh-CN" altLang="en-US" sz="2000" dirty="0" smtClean="0">
                <a:latin typeface="宋体" charset="-122"/>
                <a:ea typeface="宋体" charset="-122"/>
              </a:rPr>
              <a:t>开启</a:t>
            </a:r>
            <a:r>
              <a:rPr lang="en-US" altLang="zh-CN" sz="2000" dirty="0" smtClean="0">
                <a:latin typeface="宋体" charset="-122"/>
                <a:ea typeface="宋体" charset="-122"/>
              </a:rPr>
              <a:t>ftp</a:t>
            </a:r>
            <a:r>
              <a:rPr lang="zh-CN" altLang="en-US" sz="2000" dirty="0" smtClean="0">
                <a:latin typeface="宋体" charset="-122"/>
                <a:ea typeface="宋体" charset="-122"/>
              </a:rPr>
              <a:t>服务</a:t>
            </a:r>
            <a:endParaRPr lang="en-US" altLang="zh-CN" sz="2000" dirty="0" smtClean="0">
              <a:latin typeface="宋体" charset="-122"/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>
                <a:latin typeface="宋体" charset="-122"/>
                <a:ea typeface="宋体" charset="-122"/>
              </a:rPr>
              <a:t> </a:t>
            </a:r>
            <a:r>
              <a:rPr lang="en-US" altLang="zh-CN" sz="2000" dirty="0" smtClean="0">
                <a:latin typeface="宋体" charset="-122"/>
                <a:ea typeface="宋体" charset="-122"/>
              </a:rPr>
              <a:t>   service </a:t>
            </a:r>
            <a:r>
              <a:rPr lang="en-US" altLang="zh-CN" sz="2000" dirty="0" err="1" smtClean="0">
                <a:latin typeface="宋体" charset="-122"/>
                <a:ea typeface="宋体" charset="-122"/>
              </a:rPr>
              <a:t>vsftpd</a:t>
            </a:r>
            <a:r>
              <a:rPr lang="en-US" altLang="zh-CN" sz="2000" dirty="0" smtClean="0">
                <a:latin typeface="宋体" charset="-122"/>
                <a:ea typeface="宋体" charset="-122"/>
              </a:rPr>
              <a:t> start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  </a:t>
            </a:r>
            <a:endParaRPr lang="en-US" altLang="zh-CN" sz="24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071810"/>
            <a:ext cx="7200900" cy="904875"/>
          </a:xfrm>
          <a:prstGeom prst="rect">
            <a:avLst/>
          </a:prstGeom>
          <a:noFill/>
          <a:ln w="19050" algn="ctr">
            <a:noFill/>
            <a:prstDash val="sysDot"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4500570"/>
            <a:ext cx="7172325" cy="1190625"/>
          </a:xfrm>
          <a:prstGeom prst="rect">
            <a:avLst/>
          </a:prstGeom>
          <a:noFill/>
          <a:ln w="19050" algn="ctr">
            <a:noFill/>
            <a:prstDash val="sysDot"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rpm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71406" y="1122387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安装举例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zh-CN" sz="1600" dirty="0">
                <a:ea typeface="宋体" charset="-122"/>
              </a:rPr>
              <a:t>rpm </a:t>
            </a:r>
            <a:r>
              <a:rPr lang="zh-CN" altLang="en-US" sz="1600" dirty="0">
                <a:ea typeface="宋体" charset="-122"/>
              </a:rPr>
              <a:t>执行</a:t>
            </a:r>
            <a:r>
              <a:rPr lang="zh-CN" altLang="en-US" sz="1600" dirty="0" smtClean="0">
                <a:ea typeface="宋体" charset="-122"/>
              </a:rPr>
              <a:t>安装包</a:t>
            </a:r>
            <a:endParaRPr lang="en-US" altLang="zh-CN" sz="1600" dirty="0" smtClean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 smtClean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1600" dirty="0" smtClean="0">
                <a:ea typeface="宋体" charset="-122"/>
              </a:rPr>
              <a:t>   </a:t>
            </a:r>
            <a:endParaRPr lang="en-US" altLang="zh-CN" sz="1600" dirty="0" smtClean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  </a:t>
            </a:r>
            <a:r>
              <a:rPr lang="zh-CN" altLang="en-US" sz="2000" dirty="0">
                <a:latin typeface="+mn-ea"/>
              </a:rPr>
              <a:t>步骤</a:t>
            </a:r>
            <a:r>
              <a:rPr lang="en-US" altLang="zh-CN" sz="2000" dirty="0">
                <a:latin typeface="+mn-ea"/>
              </a:rPr>
              <a:t>5.</a:t>
            </a:r>
            <a:r>
              <a:rPr lang="zh-CN" altLang="en-US" sz="2000" dirty="0">
                <a:latin typeface="+mn-ea"/>
              </a:rPr>
              <a:t>测试</a:t>
            </a:r>
            <a:r>
              <a:rPr lang="en-US" altLang="zh-CN" sz="2000" dirty="0">
                <a:latin typeface="+mn-ea"/>
              </a:rPr>
              <a:t>ftp</a:t>
            </a:r>
            <a:r>
              <a:rPr lang="zh-CN" altLang="en-US" sz="2000" dirty="0">
                <a:latin typeface="+mn-ea"/>
              </a:rPr>
              <a:t>服务是否可以正常使用  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2000" dirty="0" smtClean="0">
                <a:latin typeface="+mn-ea"/>
              </a:rPr>
              <a:t>     （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err="1">
                <a:latin typeface="+mn-ea"/>
              </a:rPr>
              <a:t>linux</a:t>
            </a:r>
            <a:r>
              <a:rPr lang="zh-CN" altLang="en-US" sz="2000" dirty="0">
                <a:latin typeface="+mn-ea"/>
              </a:rPr>
              <a:t>下</a:t>
            </a:r>
            <a:r>
              <a:rPr lang="en-US" altLang="zh-CN" sz="2000" dirty="0">
                <a:latin typeface="+mn-ea"/>
              </a:rPr>
              <a:t>ftp</a:t>
            </a:r>
            <a:r>
              <a:rPr lang="zh-CN" altLang="en-US" sz="2000" dirty="0">
                <a:latin typeface="+mn-ea"/>
              </a:rPr>
              <a:t>服务默认路径为</a:t>
            </a:r>
            <a:r>
              <a:rPr lang="en-US" altLang="zh-CN" sz="2000" dirty="0">
                <a:latin typeface="+mn-ea"/>
              </a:rPr>
              <a:t>/</a:t>
            </a:r>
            <a:r>
              <a:rPr lang="en-US" altLang="zh-CN" sz="2000" dirty="0" err="1">
                <a:latin typeface="+mn-ea"/>
              </a:rPr>
              <a:t>var</a:t>
            </a:r>
            <a:r>
              <a:rPr lang="en-US" altLang="zh-CN" sz="2000" dirty="0">
                <a:latin typeface="+mn-ea"/>
              </a:rPr>
              <a:t>/ftp/pub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>
                <a:latin typeface="+mn-ea"/>
              </a:rPr>
              <a:t>      </a:t>
            </a:r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/</a:t>
            </a:r>
            <a:r>
              <a:rPr lang="en-US" altLang="zh-CN" sz="2000" dirty="0" err="1">
                <a:latin typeface="+mn-ea"/>
              </a:rPr>
              <a:t>var</a:t>
            </a:r>
            <a:r>
              <a:rPr lang="en-US" altLang="zh-CN" sz="2000" dirty="0">
                <a:latin typeface="+mn-ea"/>
              </a:rPr>
              <a:t>/ftp/pub</a:t>
            </a:r>
            <a:r>
              <a:rPr lang="zh-CN" altLang="en-US" sz="2000" dirty="0">
                <a:latin typeface="+mn-ea"/>
              </a:rPr>
              <a:t>下新建</a:t>
            </a:r>
            <a:r>
              <a:rPr lang="en-US" altLang="zh-CN" sz="2000" dirty="0">
                <a:latin typeface="+mn-ea"/>
              </a:rPr>
              <a:t>1.txt    ---------</a:t>
            </a:r>
            <a:r>
              <a:rPr lang="zh-CN" altLang="en-US" sz="2000" dirty="0">
                <a:latin typeface="+mn-ea"/>
              </a:rPr>
              <a:t>此步骤找学生操作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>
                <a:latin typeface="+mn-ea"/>
              </a:rPr>
              <a:t>   </a:t>
            </a:r>
            <a:r>
              <a:rPr lang="zh-CN" altLang="en-US" sz="2000" dirty="0">
                <a:latin typeface="+mn-ea"/>
              </a:rPr>
              <a:t>步骤</a:t>
            </a:r>
            <a:r>
              <a:rPr lang="en-US" altLang="zh-CN" sz="2000" dirty="0">
                <a:latin typeface="+mn-ea"/>
              </a:rPr>
              <a:t>6.</a:t>
            </a:r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win7</a:t>
            </a:r>
            <a:r>
              <a:rPr lang="zh-CN" altLang="en-US" sz="2000" dirty="0">
                <a:latin typeface="+mn-ea"/>
              </a:rPr>
              <a:t>下输入</a:t>
            </a:r>
            <a:r>
              <a:rPr lang="en-US" altLang="zh-CN" sz="2000" dirty="0">
                <a:latin typeface="+mn-ea"/>
              </a:rPr>
              <a:t>ftp</a:t>
            </a:r>
            <a:r>
              <a:rPr lang="en-US" altLang="zh-CN" sz="2000" dirty="0" smtClean="0">
                <a:latin typeface="+mn-ea"/>
              </a:rPr>
              <a:t>://IP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>
                <a:latin typeface="+mn-ea"/>
              </a:rPr>
              <a:t>    </a:t>
            </a:r>
            <a:r>
              <a:rPr lang="zh-CN" altLang="en-US" sz="2000" dirty="0">
                <a:latin typeface="+mn-ea"/>
              </a:rPr>
              <a:t>步骤</a:t>
            </a:r>
            <a:r>
              <a:rPr lang="en-US" altLang="zh-CN" sz="2000" dirty="0">
                <a:latin typeface="+mn-ea"/>
              </a:rPr>
              <a:t>7.</a:t>
            </a:r>
            <a:r>
              <a:rPr lang="zh-CN" altLang="en-US" sz="2000" dirty="0">
                <a:latin typeface="+mn-ea"/>
              </a:rPr>
              <a:t>进入</a:t>
            </a:r>
            <a:r>
              <a:rPr lang="en-US" altLang="zh-CN" sz="2000" dirty="0">
                <a:latin typeface="+mn-ea"/>
              </a:rPr>
              <a:t>pub</a:t>
            </a:r>
            <a:r>
              <a:rPr lang="zh-CN" altLang="en-US" sz="2000" dirty="0">
                <a:latin typeface="+mn-ea"/>
              </a:rPr>
              <a:t>文件夹，将</a:t>
            </a:r>
            <a:r>
              <a:rPr lang="en-US" altLang="zh-CN" sz="2000" dirty="0">
                <a:latin typeface="+mn-ea"/>
              </a:rPr>
              <a:t>1.txt</a:t>
            </a:r>
            <a:r>
              <a:rPr lang="zh-CN" altLang="en-US" sz="2000" dirty="0">
                <a:latin typeface="+mn-ea"/>
              </a:rPr>
              <a:t>复制到本地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>
                <a:latin typeface="+mn-ea"/>
              </a:rPr>
              <a:t>    </a:t>
            </a:r>
            <a:r>
              <a:rPr lang="zh-CN" altLang="en-US" sz="2000" dirty="0">
                <a:latin typeface="+mn-ea"/>
              </a:rPr>
              <a:t>步骤</a:t>
            </a:r>
            <a:r>
              <a:rPr lang="en-US" altLang="zh-CN" sz="2000" dirty="0">
                <a:latin typeface="+mn-ea"/>
              </a:rPr>
              <a:t>8.</a:t>
            </a:r>
            <a:r>
              <a:rPr lang="zh-CN" altLang="en-US" sz="2000" dirty="0">
                <a:latin typeface="+mn-ea"/>
              </a:rPr>
              <a:t>成功证明</a:t>
            </a:r>
            <a:r>
              <a:rPr lang="en-US" altLang="zh-CN" sz="2000" dirty="0">
                <a:latin typeface="+mn-ea"/>
              </a:rPr>
              <a:t>ftp</a:t>
            </a:r>
            <a:r>
              <a:rPr lang="zh-CN" altLang="en-US" sz="2000" dirty="0">
                <a:latin typeface="+mn-ea"/>
              </a:rPr>
              <a:t>服务</a:t>
            </a:r>
            <a:r>
              <a:rPr lang="zh-CN" altLang="en-US" sz="2000" dirty="0" smtClean="0">
                <a:latin typeface="+mn-ea"/>
              </a:rPr>
              <a:t>正常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  </a:t>
            </a:r>
            <a:r>
              <a:rPr lang="zh-CN" altLang="en-US" sz="2000" dirty="0" smtClean="0">
                <a:latin typeface="+mn-ea"/>
              </a:rPr>
              <a:t>思考：如何卸载？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571876"/>
            <a:ext cx="3533775" cy="704850"/>
          </a:xfrm>
          <a:prstGeom prst="rect">
            <a:avLst/>
          </a:prstGeom>
          <a:noFill/>
          <a:ln w="19050" algn="ctr">
            <a:noFill/>
            <a:prstDash val="sysDot"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5720" y="642918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yum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-32" y="1428751"/>
            <a:ext cx="8988425" cy="507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yum</a:t>
            </a:r>
            <a:r>
              <a:rPr kumimoji="1" lang="zh-CN" altLang="en-US" sz="2100" b="1" dirty="0">
                <a:ea typeface="宋体" charset="-122"/>
              </a:rPr>
              <a:t>简介</a:t>
            </a:r>
            <a:endParaRPr kumimoji="1" lang="en-US" altLang="zh-CN" sz="2100" b="1" dirty="0">
              <a:ea typeface="宋体" charset="-122"/>
            </a:endParaRPr>
          </a:p>
          <a:p>
            <a:pPr lvl="1" indent="-342900" algn="l">
              <a:lnSpc>
                <a:spcPct val="80000"/>
              </a:lnSpc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lang="en-US" altLang="zh-CN" sz="2000" dirty="0">
                <a:ea typeface="宋体" charset="-122"/>
              </a:rPr>
              <a:t>yum</a:t>
            </a:r>
            <a:r>
              <a:rPr lang="zh-CN" altLang="en-US" sz="2000" dirty="0">
                <a:ea typeface="宋体" charset="-122"/>
              </a:rPr>
              <a:t>（全称为 </a:t>
            </a:r>
            <a:r>
              <a:rPr lang="en-US" altLang="zh-CN" sz="2000" dirty="0">
                <a:ea typeface="宋体" charset="-122"/>
              </a:rPr>
              <a:t>Yellow dog Updater, Modified</a:t>
            </a:r>
            <a:r>
              <a:rPr lang="zh-CN" altLang="en-US" sz="2000" dirty="0">
                <a:ea typeface="宋体" charset="-122"/>
              </a:rPr>
              <a:t>）是一个在</a:t>
            </a:r>
            <a:r>
              <a:rPr lang="en-US" altLang="zh-CN" sz="2000" dirty="0">
                <a:ea typeface="宋体" charset="-122"/>
              </a:rPr>
              <a:t>Fedora</a:t>
            </a:r>
            <a:r>
              <a:rPr lang="zh-CN" altLang="en-US" sz="2000" dirty="0">
                <a:ea typeface="宋体" charset="-122"/>
              </a:rPr>
              <a:t>和</a:t>
            </a:r>
            <a:r>
              <a:rPr lang="en-US" altLang="zh-CN" sz="2000" dirty="0" err="1">
                <a:ea typeface="宋体" charset="-122"/>
              </a:rPr>
              <a:t>RedHat</a:t>
            </a:r>
            <a:r>
              <a:rPr lang="zh-CN" altLang="en-US" sz="2000" dirty="0">
                <a:ea typeface="宋体" charset="-122"/>
              </a:rPr>
              <a:t>以及</a:t>
            </a:r>
            <a:r>
              <a:rPr lang="en-US" altLang="zh-CN" sz="2000" dirty="0">
                <a:ea typeface="宋体" charset="-122"/>
              </a:rPr>
              <a:t>SUSE</a:t>
            </a:r>
            <a:r>
              <a:rPr lang="zh-CN" altLang="en-US" sz="2000" dirty="0">
                <a:ea typeface="宋体" charset="-122"/>
              </a:rPr>
              <a:t>中的</a:t>
            </a:r>
            <a:r>
              <a:rPr lang="en-US" altLang="zh-CN" sz="2000" dirty="0">
                <a:ea typeface="宋体" charset="-122"/>
              </a:rPr>
              <a:t>Shell</a:t>
            </a:r>
            <a:r>
              <a:rPr lang="zh-CN" altLang="en-US" sz="2000" dirty="0">
                <a:ea typeface="宋体" charset="-122"/>
              </a:rPr>
              <a:t>前端软件包管理器。基於</a:t>
            </a:r>
            <a:r>
              <a:rPr lang="en-US" altLang="zh-CN" sz="2000" dirty="0">
                <a:ea typeface="宋体" charset="-122"/>
              </a:rPr>
              <a:t>RPM</a:t>
            </a:r>
            <a:r>
              <a:rPr lang="zh-CN" altLang="en-US" sz="2000" dirty="0">
                <a:ea typeface="宋体" charset="-122"/>
              </a:rPr>
              <a:t>包管理，能够从指定的服务器自动下载</a:t>
            </a:r>
            <a:r>
              <a:rPr lang="en-US" altLang="zh-CN" sz="2000" dirty="0">
                <a:ea typeface="宋体" charset="-122"/>
              </a:rPr>
              <a:t>RPM</a:t>
            </a:r>
            <a:r>
              <a:rPr lang="zh-CN" altLang="en-US" sz="2000" dirty="0">
                <a:ea typeface="宋体" charset="-122"/>
              </a:rPr>
              <a:t>包并且安装，可以自动处理依赖性关系，并且一次安装所有依赖的软体包，无须繁琐地一次次下载、安装</a:t>
            </a:r>
            <a:r>
              <a:rPr lang="en-US" altLang="zh-CN" sz="1600" dirty="0">
                <a:ea typeface="宋体" charset="-122"/>
              </a:rPr>
              <a:t> </a:t>
            </a:r>
            <a:endParaRPr lang="en-US" altLang="zh-CN" sz="1600" dirty="0" smtClean="0">
              <a:ea typeface="宋体" charset="-122"/>
            </a:endParaRPr>
          </a:p>
          <a:p>
            <a:pPr lvl="1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endParaRPr lang="en-US" altLang="zh-CN" sz="1600" dirty="0">
              <a:ea typeface="宋体" charset="-122"/>
            </a:endParaRPr>
          </a:p>
          <a:p>
            <a:pPr lvl="2" indent="-342900" algn="l">
              <a:lnSpc>
                <a:spcPct val="80000"/>
              </a:lnSpc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lang="en-US" altLang="zh-CN" sz="2000" dirty="0">
                <a:latin typeface="+mn-ea"/>
              </a:rPr>
              <a:t>yum</a:t>
            </a:r>
            <a:r>
              <a:rPr lang="zh-CN" altLang="en-US" sz="2000" dirty="0">
                <a:latin typeface="+mn-ea"/>
              </a:rPr>
              <a:t>联网方式安装</a:t>
            </a:r>
            <a:r>
              <a:rPr lang="en-US" altLang="zh-CN" sz="2000" dirty="0">
                <a:latin typeface="+mn-ea"/>
              </a:rPr>
              <a:t>   </a:t>
            </a:r>
          </a:p>
          <a:p>
            <a:pPr lvl="3" indent="-342900" algn="l">
              <a:lnSpc>
                <a:spcPct val="80000"/>
              </a:lnSpc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lang="zh-CN" altLang="en-US" sz="2000" dirty="0">
                <a:latin typeface="+mn-ea"/>
              </a:rPr>
              <a:t>操作系统连通外网的前提下使用，命令为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yum –y install 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软件包</a:t>
            </a: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pPr lvl="2" indent="-342900" algn="l">
              <a:lnSpc>
                <a:spcPct val="80000"/>
              </a:lnSpc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lang="en-US" altLang="zh-CN" sz="2000" dirty="0">
                <a:latin typeface="+mn-ea"/>
              </a:rPr>
              <a:t>yum</a:t>
            </a:r>
            <a:r>
              <a:rPr lang="zh-CN" altLang="en-US" sz="2000" dirty="0">
                <a:latin typeface="+mn-ea"/>
              </a:rPr>
              <a:t>本地源安装</a:t>
            </a:r>
            <a:endParaRPr lang="en-US" altLang="zh-CN" sz="2000" dirty="0">
              <a:latin typeface="+mn-ea"/>
            </a:endParaRPr>
          </a:p>
          <a:p>
            <a:pPr lvl="3" indent="-342900" algn="l">
              <a:lnSpc>
                <a:spcPct val="80000"/>
              </a:lnSpc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lang="zh-CN" altLang="en-US" sz="2000" dirty="0">
                <a:latin typeface="+mn-ea"/>
              </a:rPr>
              <a:t>需要挂载系统镜像文件，修改</a:t>
            </a:r>
            <a:r>
              <a:rPr lang="en-US" altLang="zh-CN" sz="2000" dirty="0">
                <a:latin typeface="+mn-ea"/>
              </a:rPr>
              <a:t>/etc/</a:t>
            </a:r>
            <a:r>
              <a:rPr lang="en-US" altLang="en-US" sz="2000" dirty="0" err="1">
                <a:latin typeface="+mn-ea"/>
              </a:rPr>
              <a:t>yum.rpos.d</a:t>
            </a:r>
            <a:r>
              <a:rPr lang="zh-CN" altLang="en-US" sz="2000" dirty="0">
                <a:latin typeface="+mn-ea"/>
              </a:rPr>
              <a:t>目录下对文件</a:t>
            </a:r>
            <a:endParaRPr lang="en-US" altLang="zh-CN" sz="2000" dirty="0">
              <a:latin typeface="+mn-ea"/>
            </a:endParaRPr>
          </a:p>
          <a:p>
            <a:pPr lvl="3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2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r>
              <a:rPr lang="en-US" altLang="zh-CN" sz="1600" dirty="0">
                <a:ea typeface="宋体" charset="-122"/>
              </a:rPr>
              <a:t>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yum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0" y="979487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yum</a:t>
            </a:r>
            <a:r>
              <a:rPr kumimoji="1" lang="zh-CN" altLang="en-US" sz="2100" b="1" dirty="0">
                <a:ea typeface="宋体" charset="-122"/>
              </a:rPr>
              <a:t>简介</a:t>
            </a:r>
            <a:endParaRPr kumimoji="1" lang="en-US" altLang="zh-CN" sz="2100" b="1" dirty="0">
              <a:ea typeface="宋体" charset="-122"/>
            </a:endParaRPr>
          </a:p>
          <a:p>
            <a:pPr lvl="1" indent="-342900" algn="l">
              <a:lnSpc>
                <a:spcPct val="80000"/>
              </a:lnSpc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lang="en-US" altLang="zh-CN" sz="2000" dirty="0">
                <a:ea typeface="宋体" charset="-122"/>
              </a:rPr>
              <a:t>yum</a:t>
            </a:r>
            <a:r>
              <a:rPr lang="zh-CN" altLang="en-US" sz="2000" dirty="0">
                <a:ea typeface="宋体" charset="-122"/>
              </a:rPr>
              <a:t>常用命令介绍</a:t>
            </a:r>
            <a:endParaRPr lang="en-US" altLang="zh-CN" sz="2000" dirty="0">
              <a:ea typeface="宋体" charset="-122"/>
            </a:endParaRPr>
          </a:p>
          <a:p>
            <a:pPr lvl="1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r>
              <a:rPr lang="en-US" altLang="zh-CN" sz="1600" dirty="0"/>
              <a:t>      </a:t>
            </a: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安装</a:t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install </a:t>
            </a:r>
            <a:r>
              <a:rPr lang="zh-CN" altLang="en-US" sz="1600" dirty="0">
                <a:latin typeface="+mn-ea"/>
                <a:ea typeface="+mn-ea"/>
              </a:rPr>
              <a:t>全部安装</a:t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install package1 </a:t>
            </a:r>
            <a:r>
              <a:rPr lang="zh-CN" altLang="en-US" sz="1600" dirty="0">
                <a:latin typeface="+mn-ea"/>
                <a:ea typeface="+mn-ea"/>
              </a:rPr>
              <a:t>安装指定的安装包</a:t>
            </a:r>
            <a:r>
              <a:rPr lang="en-US" sz="1600" dirty="0">
                <a:latin typeface="+mn-ea"/>
                <a:ea typeface="+mn-ea"/>
              </a:rPr>
              <a:t>package1</a:t>
            </a:r>
            <a:br>
              <a:rPr 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</a:t>
            </a:r>
            <a:r>
              <a:rPr lang="en-US" sz="1600" dirty="0" err="1">
                <a:latin typeface="+mn-ea"/>
                <a:ea typeface="+mn-ea"/>
              </a:rPr>
              <a:t>groupinsall</a:t>
            </a:r>
            <a:r>
              <a:rPr lang="en-US" sz="1600" dirty="0">
                <a:latin typeface="+mn-ea"/>
                <a:ea typeface="+mn-ea"/>
              </a:rPr>
              <a:t> group1 </a:t>
            </a:r>
            <a:r>
              <a:rPr lang="zh-CN" altLang="en-US" sz="1600" dirty="0">
                <a:latin typeface="+mn-ea"/>
                <a:ea typeface="+mn-ea"/>
              </a:rPr>
              <a:t>安装程序组</a:t>
            </a:r>
            <a:r>
              <a:rPr lang="en-US" sz="1600" dirty="0" smtClean="0">
                <a:latin typeface="+mn-ea"/>
                <a:ea typeface="+mn-ea"/>
              </a:rPr>
              <a:t>group1</a:t>
            </a:r>
            <a:endParaRPr lang="en-US" sz="1600" dirty="0">
              <a:latin typeface="+mn-ea"/>
            </a:endParaRPr>
          </a:p>
          <a:p>
            <a:pPr lvl="1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r>
              <a:rPr lang="en-US" sz="1600" dirty="0">
                <a:latin typeface="+mn-ea"/>
                <a:ea typeface="+mn-ea"/>
              </a:rPr>
              <a:t/>
            </a:r>
            <a:br>
              <a:rPr lang="en-US" sz="1600" dirty="0">
                <a:latin typeface="+mn-ea"/>
                <a:ea typeface="+mn-ea"/>
              </a:rPr>
            </a:br>
            <a:r>
              <a:rPr lang="en-US" sz="1600" dirty="0" smtClean="0">
                <a:latin typeface="+mn-ea"/>
                <a:ea typeface="+mn-ea"/>
              </a:rPr>
              <a:t>2 </a:t>
            </a:r>
            <a:r>
              <a:rPr lang="en-US" sz="1600" dirty="0">
                <a:latin typeface="+mn-ea"/>
                <a:ea typeface="+mn-ea"/>
              </a:rPr>
              <a:t>. </a:t>
            </a:r>
            <a:r>
              <a:rPr lang="zh-CN" altLang="en-US" sz="1600" dirty="0">
                <a:latin typeface="+mn-ea"/>
                <a:ea typeface="+mn-ea"/>
              </a:rPr>
              <a:t>查找和显示</a:t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info package1 </a:t>
            </a:r>
            <a:r>
              <a:rPr lang="zh-CN" altLang="en-US" sz="1600" dirty="0">
                <a:latin typeface="+mn-ea"/>
                <a:ea typeface="+mn-ea"/>
              </a:rPr>
              <a:t>显示安装包信息</a:t>
            </a:r>
            <a:r>
              <a:rPr lang="en-US" sz="1600" dirty="0">
                <a:latin typeface="+mn-ea"/>
                <a:ea typeface="+mn-ea"/>
              </a:rPr>
              <a:t>package1</a:t>
            </a:r>
            <a:br>
              <a:rPr 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list </a:t>
            </a:r>
            <a:r>
              <a:rPr lang="zh-CN" altLang="en-US" sz="1600" dirty="0">
                <a:latin typeface="+mn-ea"/>
                <a:ea typeface="+mn-ea"/>
              </a:rPr>
              <a:t>显示所有已经安装和可以安装的程序包</a:t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zh-CN" altLang="en-US" sz="1600" dirty="0">
                <a:latin typeface="+mn-ea"/>
                <a:ea typeface="+mn-ea"/>
              </a:rPr>
              <a:t/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en-US" altLang="zh-CN" sz="1600" dirty="0" smtClean="0">
                <a:latin typeface="+mn-ea"/>
                <a:ea typeface="+mn-ea"/>
              </a:rPr>
              <a:t>3.</a:t>
            </a:r>
            <a:r>
              <a:rPr lang="zh-CN" altLang="en-US" sz="1600" dirty="0">
                <a:latin typeface="+mn-ea"/>
                <a:ea typeface="+mn-ea"/>
              </a:rPr>
              <a:t>删除程序</a:t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remove </a:t>
            </a:r>
            <a:r>
              <a:rPr lang="en-US" sz="1600" dirty="0" smtClean="0">
                <a:latin typeface="+mn-ea"/>
                <a:ea typeface="+mn-ea"/>
              </a:rPr>
              <a:t>package1 </a:t>
            </a:r>
            <a:r>
              <a:rPr lang="zh-CN" altLang="en-US" sz="1600" dirty="0">
                <a:latin typeface="+mn-ea"/>
                <a:ea typeface="+mn-ea"/>
              </a:rPr>
              <a:t>删除程序包</a:t>
            </a:r>
            <a:r>
              <a:rPr lang="en-US" sz="1600" dirty="0" smtClean="0">
                <a:latin typeface="+mn-ea"/>
                <a:ea typeface="+mn-ea"/>
              </a:rPr>
              <a:t>package1</a:t>
            </a:r>
            <a:r>
              <a:rPr lang="en-US" sz="1600" dirty="0">
                <a:latin typeface="+mn-ea"/>
                <a:ea typeface="+mn-ea"/>
              </a:rPr>
              <a:t/>
            </a:r>
            <a:br>
              <a:rPr 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</a:t>
            </a:r>
            <a:r>
              <a:rPr lang="en-US" sz="1600" dirty="0" err="1">
                <a:latin typeface="+mn-ea"/>
                <a:ea typeface="+mn-ea"/>
              </a:rPr>
              <a:t>deplist</a:t>
            </a:r>
            <a:r>
              <a:rPr lang="en-US" sz="1600" dirty="0">
                <a:latin typeface="+mn-ea"/>
                <a:ea typeface="+mn-ea"/>
              </a:rPr>
              <a:t> package1 </a:t>
            </a:r>
            <a:r>
              <a:rPr lang="zh-CN" altLang="en-US" sz="1600" dirty="0">
                <a:latin typeface="+mn-ea"/>
                <a:ea typeface="+mn-ea"/>
              </a:rPr>
              <a:t>查看程序</a:t>
            </a:r>
            <a:r>
              <a:rPr lang="en-US" sz="1600" dirty="0">
                <a:latin typeface="+mn-ea"/>
                <a:ea typeface="+mn-ea"/>
              </a:rPr>
              <a:t>package1</a:t>
            </a:r>
            <a:r>
              <a:rPr lang="zh-CN" altLang="en-US" sz="1600" dirty="0">
                <a:latin typeface="+mn-ea"/>
                <a:ea typeface="+mn-ea"/>
              </a:rPr>
              <a:t>依赖情况</a:t>
            </a:r>
            <a:br>
              <a:rPr lang="zh-CN" altLang="en-US" sz="1600" dirty="0">
                <a:latin typeface="+mn-ea"/>
                <a:ea typeface="+mn-ea"/>
              </a:rPr>
            </a:br>
            <a:endParaRPr lang="en-US" altLang="zh-CN" sz="1600" dirty="0" smtClean="0">
              <a:latin typeface="+mn-ea"/>
              <a:ea typeface="+mn-ea"/>
            </a:endParaRPr>
          </a:p>
          <a:p>
            <a:pPr lvl="1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r>
              <a:rPr lang="en-US" altLang="zh-CN" sz="1600" dirty="0" smtClean="0">
                <a:latin typeface="+mn-ea"/>
                <a:ea typeface="+mn-ea"/>
              </a:rPr>
              <a:t>    4. </a:t>
            </a:r>
            <a:r>
              <a:rPr lang="zh-CN" altLang="en-US" sz="1600" dirty="0">
                <a:latin typeface="+mn-ea"/>
                <a:ea typeface="+mn-ea"/>
              </a:rPr>
              <a:t>清除缓存</a:t>
            </a:r>
            <a:br>
              <a:rPr lang="zh-CN" alt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clean packages </a:t>
            </a:r>
            <a:r>
              <a:rPr lang="zh-CN" altLang="en-US" sz="1600" dirty="0">
                <a:latin typeface="+mn-ea"/>
                <a:ea typeface="+mn-ea"/>
              </a:rPr>
              <a:t>清除缓存目录下的</a:t>
            </a:r>
            <a:r>
              <a:rPr lang="zh-CN" altLang="en-US" sz="1600" dirty="0" smtClean="0">
                <a:latin typeface="+mn-ea"/>
                <a:ea typeface="+mn-ea"/>
              </a:rPr>
              <a:t>软件包</a:t>
            </a:r>
            <a:r>
              <a:rPr lang="en-US" sz="1600" dirty="0">
                <a:latin typeface="+mn-ea"/>
                <a:ea typeface="+mn-ea"/>
              </a:rPr>
              <a:t/>
            </a:r>
            <a:br>
              <a:rPr lang="en-US" sz="1600" dirty="0">
                <a:latin typeface="+mn-ea"/>
                <a:ea typeface="+mn-ea"/>
              </a:rPr>
            </a:br>
            <a:r>
              <a:rPr lang="en-US" sz="1600" dirty="0">
                <a:latin typeface="+mn-ea"/>
                <a:ea typeface="+mn-ea"/>
              </a:rPr>
              <a:t>yum clean, yum clean all (= yum clean packages; yum clean </a:t>
            </a:r>
            <a:r>
              <a:rPr lang="en-US" sz="1600" dirty="0" err="1">
                <a:latin typeface="+mn-ea"/>
                <a:ea typeface="+mn-ea"/>
              </a:rPr>
              <a:t>oldheaders</a:t>
            </a:r>
            <a:r>
              <a:rPr lang="en-US" sz="1600" dirty="0">
                <a:latin typeface="+mn-ea"/>
                <a:ea typeface="+mn-ea"/>
              </a:rPr>
              <a:t>) </a:t>
            </a:r>
            <a:r>
              <a:rPr lang="zh-CN" altLang="en-US" sz="1600" dirty="0">
                <a:latin typeface="+mn-ea"/>
                <a:ea typeface="+mn-ea"/>
              </a:rPr>
              <a:t>清除缓存目录下的软件包及旧的</a:t>
            </a:r>
            <a:r>
              <a:rPr lang="en-US" sz="1600" dirty="0">
                <a:latin typeface="+mn-ea"/>
                <a:ea typeface="+mn-ea"/>
              </a:rPr>
              <a:t>headers</a:t>
            </a:r>
            <a:endParaRPr lang="en-US" altLang="zh-CN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 indent="-342900" algn="l">
              <a:lnSpc>
                <a:spcPct val="80000"/>
              </a:lnSpc>
              <a:buClr>
                <a:srgbClr val="990000"/>
              </a:buClr>
              <a:buSzPct val="85000"/>
              <a:defRPr/>
            </a:pPr>
            <a:r>
              <a:rPr lang="en-US" altLang="zh-CN" sz="1600" dirty="0">
                <a:ea typeface="宋体" charset="-122"/>
              </a:rPr>
              <a:t>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28604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yum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549275" y="1428750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yum</a:t>
            </a:r>
            <a:r>
              <a:rPr kumimoji="1" lang="zh-CN" altLang="en-US" sz="2100" b="1" dirty="0">
                <a:ea typeface="宋体" charset="-122"/>
              </a:rPr>
              <a:t>方式安装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+mj-ea"/>
                <a:ea typeface="+mj-ea"/>
              </a:rPr>
              <a:t>联网方式下</a:t>
            </a:r>
            <a:r>
              <a:rPr lang="en-US" altLang="zh-CN" sz="2000" dirty="0">
                <a:latin typeface="+mj-ea"/>
                <a:ea typeface="+mj-ea"/>
              </a:rPr>
              <a:t>yum</a:t>
            </a:r>
            <a:r>
              <a:rPr lang="zh-CN" altLang="en-US" sz="2000" dirty="0">
                <a:latin typeface="+mj-ea"/>
                <a:ea typeface="+mj-ea"/>
              </a:rPr>
              <a:t>安装</a:t>
            </a:r>
            <a:endParaRPr lang="en-US" altLang="zh-CN" sz="2000" dirty="0">
              <a:latin typeface="+mj-ea"/>
              <a:ea typeface="+mj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2000" dirty="0">
                <a:latin typeface="+mn-ea"/>
              </a:rPr>
              <a:t> </a:t>
            </a:r>
            <a:r>
              <a:rPr lang="zh-CN" altLang="en-US" sz="2000" dirty="0" smtClean="0">
                <a:latin typeface="+mn-ea"/>
              </a:rPr>
              <a:t>举例：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    </a:t>
            </a:r>
            <a:r>
              <a:rPr lang="zh-CN" altLang="en-US" sz="2000" dirty="0" smtClean="0">
                <a:latin typeface="+mn-ea"/>
              </a:rPr>
              <a:t>安装</a:t>
            </a:r>
            <a:r>
              <a:rPr lang="en-US" altLang="zh-CN" sz="2000" dirty="0" smtClean="0">
                <a:latin typeface="+mn-ea"/>
              </a:rPr>
              <a:t>ftp</a:t>
            </a:r>
            <a:r>
              <a:rPr lang="zh-CN" altLang="en-US" sz="2000" dirty="0" smtClean="0">
                <a:latin typeface="+mn-ea"/>
              </a:rPr>
              <a:t>服务</a:t>
            </a:r>
            <a:endParaRPr lang="en-US" altLang="zh-CN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yum install </a:t>
            </a:r>
            <a:r>
              <a:rPr lang="en-US" altLang="zh-CN" sz="2000" dirty="0" err="1" smtClean="0">
                <a:latin typeface="+mn-ea"/>
              </a:rPr>
              <a:t>vsftpd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      </a:t>
            </a:r>
            <a:r>
              <a:rPr lang="zh-CN" altLang="en-US" sz="2000" dirty="0" smtClean="0">
                <a:latin typeface="+mn-ea"/>
              </a:rPr>
              <a:t>查看</a:t>
            </a:r>
            <a:r>
              <a:rPr lang="en-US" altLang="zh-CN" sz="2000" dirty="0" smtClean="0">
                <a:latin typeface="+mn-ea"/>
              </a:rPr>
              <a:t>ftp</a:t>
            </a:r>
            <a:r>
              <a:rPr lang="zh-CN" altLang="en-US" sz="2000" dirty="0" smtClean="0">
                <a:latin typeface="+mn-ea"/>
              </a:rPr>
              <a:t>服务安装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yum list | </a:t>
            </a:r>
            <a:r>
              <a:rPr lang="en-US" altLang="zh-CN" sz="2000" dirty="0" err="1" smtClean="0">
                <a:latin typeface="+mn-ea"/>
              </a:rPr>
              <a:t>grep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err="1" smtClean="0">
                <a:latin typeface="+mn-ea"/>
              </a:rPr>
              <a:t>vsftpd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  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      </a:t>
            </a:r>
            <a:r>
              <a:rPr lang="zh-CN" altLang="en-US" sz="2000" dirty="0" smtClean="0">
                <a:latin typeface="+mn-ea"/>
              </a:rPr>
              <a:t>删除</a:t>
            </a:r>
            <a:r>
              <a:rPr lang="en-US" altLang="zh-CN" sz="2000" dirty="0" smtClean="0">
                <a:latin typeface="+mn-ea"/>
              </a:rPr>
              <a:t>ftp</a:t>
            </a:r>
            <a:r>
              <a:rPr lang="zh-CN" altLang="en-US" sz="2000" dirty="0" smtClean="0">
                <a:latin typeface="+mn-ea"/>
              </a:rPr>
              <a:t>服务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endParaRPr lang="en-US" altLang="zh-CN" sz="2000" dirty="0" smtClean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yum remove </a:t>
            </a:r>
            <a:r>
              <a:rPr lang="en-US" altLang="zh-CN" sz="2000" dirty="0" err="1" smtClean="0">
                <a:latin typeface="+mn-ea"/>
              </a:rPr>
              <a:t>vsftpd</a:t>
            </a:r>
            <a:endParaRPr lang="zh-CN" altLang="en-US" sz="2000" dirty="0">
              <a:latin typeface="+mn-ea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yum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71406" y="1142984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yum</a:t>
            </a:r>
            <a:r>
              <a:rPr kumimoji="1" lang="zh-CN" altLang="en-US" sz="2100" b="1" dirty="0">
                <a:ea typeface="宋体" charset="-122"/>
              </a:rPr>
              <a:t>方式安装</a:t>
            </a: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zh-CN" altLang="en-US" sz="1600" dirty="0">
                <a:ea typeface="宋体" charset="-122"/>
              </a:rPr>
              <a:t>无网方式下</a:t>
            </a:r>
            <a:r>
              <a:rPr lang="en-US" altLang="zh-CN" sz="1600" dirty="0">
                <a:ea typeface="宋体" charset="-122"/>
              </a:rPr>
              <a:t>yum</a:t>
            </a:r>
            <a:r>
              <a:rPr lang="zh-CN" altLang="en-US" sz="1600" dirty="0">
                <a:ea typeface="宋体" charset="-122"/>
              </a:rPr>
              <a:t>安装（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yum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本地源</a:t>
            </a:r>
            <a:r>
              <a:rPr lang="zh-CN" altLang="en-US" sz="1600" dirty="0" smtClean="0">
                <a:ea typeface="宋体" charset="-122"/>
              </a:rPr>
              <a:t>）</a:t>
            </a:r>
            <a:endParaRPr lang="en-US" altLang="zh-CN" sz="1600" dirty="0" smtClean="0"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en-US" sz="1600" dirty="0" smtClean="0">
                <a:ea typeface="宋体" charset="-122"/>
              </a:rPr>
              <a:t>  </a:t>
            </a:r>
          </a:p>
          <a:p>
            <a:pPr lvl="1">
              <a:lnSpc>
                <a:spcPct val="80000"/>
              </a:lnSpc>
              <a:defRPr/>
            </a:pPr>
            <a:endParaRPr lang="en-US" altLang="zh-CN" sz="1600" dirty="0" smtClean="0"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r>
              <a:rPr lang="zh-CN" altLang="en-US" sz="1600" dirty="0" smtClean="0">
                <a:ea typeface="宋体" charset="-122"/>
              </a:rPr>
              <a:t>步骤</a:t>
            </a:r>
            <a:r>
              <a:rPr lang="en-US" altLang="zh-CN" sz="1600" dirty="0" smtClean="0">
                <a:ea typeface="宋体" charset="-122"/>
              </a:rPr>
              <a:t>1.</a:t>
            </a:r>
            <a:r>
              <a:rPr lang="zh-CN" altLang="en-US" sz="1600" dirty="0" smtClean="0">
                <a:ea typeface="宋体" charset="-122"/>
              </a:rPr>
              <a:t>编辑</a:t>
            </a:r>
            <a:r>
              <a:rPr lang="en-US" altLang="zh-CN" sz="1600" dirty="0" smtClean="0">
                <a:ea typeface="宋体" charset="-122"/>
              </a:rPr>
              <a:t>/</a:t>
            </a:r>
            <a:r>
              <a:rPr lang="en-US" altLang="en-US" sz="1600" dirty="0" smtClean="0">
                <a:ea typeface="宋体" charset="-122"/>
              </a:rPr>
              <a:t>etc/</a:t>
            </a:r>
            <a:r>
              <a:rPr lang="en-US" altLang="en-US" sz="1600" dirty="0" err="1" smtClean="0">
                <a:ea typeface="宋体" charset="-122"/>
              </a:rPr>
              <a:t>yum.repo.d</a:t>
            </a:r>
            <a:r>
              <a:rPr lang="zh-CN" altLang="en-US" sz="1600" dirty="0" smtClean="0">
                <a:ea typeface="宋体" charset="-122"/>
              </a:rPr>
              <a:t>下的</a:t>
            </a:r>
            <a:r>
              <a:rPr lang="en-US" altLang="en-US" sz="1600" dirty="0" err="1" smtClean="0">
                <a:ea typeface="宋体" charset="-122"/>
              </a:rPr>
              <a:t>CentOS-Media.repo</a:t>
            </a:r>
            <a:r>
              <a:rPr lang="zh-CN" altLang="en-US" sz="1600" dirty="0" smtClean="0">
                <a:ea typeface="宋体" charset="-122"/>
              </a:rPr>
              <a:t>文件</a:t>
            </a:r>
          </a:p>
          <a:p>
            <a:pPr lvl="1">
              <a:defRPr/>
            </a:pPr>
            <a:r>
              <a:rPr lang="en-US" altLang="en-US" sz="1600" dirty="0" err="1" smtClean="0">
                <a:ea typeface="宋体" charset="-122"/>
              </a:rPr>
              <a:t>cd</a:t>
            </a:r>
            <a:r>
              <a:rPr lang="en-US" altLang="en-US" sz="1600" dirty="0" smtClean="0">
                <a:ea typeface="宋体" charset="-122"/>
              </a:rPr>
              <a:t> </a:t>
            </a:r>
            <a:r>
              <a:rPr lang="en-US" altLang="en-US" sz="1600" dirty="0" smtClean="0">
                <a:ea typeface="宋体" charset="-122"/>
              </a:rPr>
              <a:t> </a:t>
            </a:r>
            <a:r>
              <a:rPr lang="en-US" altLang="en-US" sz="1600" dirty="0" smtClean="0">
                <a:ea typeface="宋体" charset="-122"/>
              </a:rPr>
              <a:t>  /</a:t>
            </a:r>
            <a:r>
              <a:rPr lang="en-US" altLang="en-US" sz="1600" dirty="0" smtClean="0">
                <a:ea typeface="宋体" charset="-122"/>
              </a:rPr>
              <a:t>etc/</a:t>
            </a:r>
            <a:r>
              <a:rPr lang="en-US" altLang="en-US" sz="1600" dirty="0" err="1" smtClean="0">
                <a:ea typeface="宋体" charset="-122"/>
              </a:rPr>
              <a:t>yum.repos.d</a:t>
            </a:r>
            <a:r>
              <a:rPr lang="en-US" altLang="en-US" sz="1600" dirty="0" smtClean="0">
                <a:ea typeface="宋体" charset="-122"/>
              </a:rPr>
              <a:t>/                                                               #</a:t>
            </a:r>
            <a:r>
              <a:rPr lang="zh-CN" altLang="en-US" sz="1600" dirty="0" smtClean="0">
                <a:ea typeface="宋体" charset="-122"/>
              </a:rPr>
              <a:t>进入</a:t>
            </a:r>
            <a:r>
              <a:rPr lang="en-US" altLang="en-US" sz="1600" dirty="0" smtClean="0">
                <a:ea typeface="宋体" charset="-122"/>
              </a:rPr>
              <a:t>yum</a:t>
            </a:r>
            <a:r>
              <a:rPr lang="zh-CN" altLang="en-US" sz="1600" dirty="0" smtClean="0">
                <a:ea typeface="宋体" charset="-122"/>
              </a:rPr>
              <a:t>配置目录</a:t>
            </a:r>
          </a:p>
          <a:p>
            <a:pPr lvl="1">
              <a:defRPr/>
            </a:pPr>
            <a:r>
              <a:rPr lang="en-US" altLang="en-US" sz="1600" dirty="0" smtClean="0">
                <a:ea typeface="宋体" charset="-122"/>
              </a:rPr>
              <a:t>cp  </a:t>
            </a:r>
            <a:r>
              <a:rPr lang="en-US" altLang="en-US" sz="1600" dirty="0" smtClean="0">
                <a:ea typeface="宋体" charset="-122"/>
              </a:rPr>
              <a:t> </a:t>
            </a:r>
            <a:r>
              <a:rPr lang="en-US" altLang="en-US" sz="1600" dirty="0" err="1" smtClean="0">
                <a:ea typeface="宋体" charset="-122"/>
              </a:rPr>
              <a:t>CentOS-Media.repo</a:t>
            </a:r>
            <a:r>
              <a:rPr lang="en-US" altLang="en-US" sz="1600" dirty="0" smtClean="0">
                <a:ea typeface="宋体" charset="-122"/>
              </a:rPr>
              <a:t>   </a:t>
            </a:r>
            <a:r>
              <a:rPr lang="en-US" altLang="en-US" sz="1600" dirty="0" err="1" smtClean="0">
                <a:ea typeface="宋体" charset="-122"/>
              </a:rPr>
              <a:t>CentOS-Media.repo.bak</a:t>
            </a:r>
            <a:r>
              <a:rPr lang="en-US" altLang="en-US" sz="1600" dirty="0" smtClean="0">
                <a:ea typeface="宋体" charset="-122"/>
              </a:rPr>
              <a:t>                   #</a:t>
            </a:r>
            <a:r>
              <a:rPr lang="zh-CN" altLang="en-US" sz="1600" dirty="0" smtClean="0">
                <a:ea typeface="宋体" charset="-122"/>
              </a:rPr>
              <a:t>做好备份</a:t>
            </a:r>
          </a:p>
          <a:p>
            <a:pPr lvl="1">
              <a:defRPr/>
            </a:pPr>
            <a:r>
              <a:rPr lang="en-US" altLang="en-US" sz="1600" dirty="0" smtClean="0">
                <a:ea typeface="宋体" charset="-122"/>
              </a:rPr>
              <a:t>vi </a:t>
            </a:r>
            <a:r>
              <a:rPr lang="en-US" altLang="en-US" sz="1600" dirty="0" smtClean="0">
                <a:ea typeface="宋体" charset="-122"/>
              </a:rPr>
              <a:t>  </a:t>
            </a:r>
            <a:r>
              <a:rPr lang="en-US" altLang="en-US" sz="1600" dirty="0" smtClean="0">
                <a:ea typeface="宋体" charset="-122"/>
              </a:rPr>
              <a:t> </a:t>
            </a:r>
            <a:r>
              <a:rPr lang="en-US" altLang="en-US" sz="1600" dirty="0" err="1" smtClean="0">
                <a:ea typeface="宋体" charset="-122"/>
              </a:rPr>
              <a:t>CentOS-Media.repo</a:t>
            </a:r>
            <a:r>
              <a:rPr lang="en-US" altLang="en-US" sz="1600" dirty="0" smtClean="0">
                <a:ea typeface="宋体" charset="-122"/>
              </a:rPr>
              <a:t>                                                            #</a:t>
            </a:r>
            <a:r>
              <a:rPr lang="zh-CN" altLang="en-US" sz="1600" dirty="0" smtClean="0">
                <a:ea typeface="宋体" charset="-122"/>
              </a:rPr>
              <a:t>编辑配置文件，添加以下内容</a:t>
            </a:r>
          </a:p>
          <a:p>
            <a:pPr lvl="1">
              <a:defRPr/>
            </a:pPr>
            <a:r>
              <a:rPr lang="zh-CN" altLang="en-US" sz="1600" dirty="0" smtClean="0">
                <a:ea typeface="宋体" charset="-122"/>
              </a:rPr>
              <a:t> </a:t>
            </a:r>
            <a:r>
              <a:rPr lang="en-US" altLang="zh-CN" sz="1600" dirty="0" smtClean="0">
                <a:ea typeface="宋体" charset="-122"/>
              </a:rPr>
              <a:t>[</a:t>
            </a:r>
            <a:r>
              <a:rPr lang="en-US" altLang="en-US" sz="1600" dirty="0" smtClean="0">
                <a:ea typeface="宋体" charset="-122"/>
              </a:rPr>
              <a:t>c6-media]</a:t>
            </a:r>
          </a:p>
          <a:p>
            <a:pPr lvl="1">
              <a:defRPr/>
            </a:pPr>
            <a:r>
              <a:rPr lang="en-US" altLang="en-US" sz="1600" dirty="0" smtClean="0">
                <a:ea typeface="宋体" charset="-122"/>
              </a:rPr>
              <a:t> name=</a:t>
            </a:r>
            <a:r>
              <a:rPr lang="en-US" altLang="en-US" sz="1600" dirty="0" err="1" smtClean="0">
                <a:ea typeface="宋体" charset="-122"/>
              </a:rPr>
              <a:t>CentOS</a:t>
            </a:r>
            <a:r>
              <a:rPr lang="en-US" altLang="en-US" sz="1600" dirty="0" smtClean="0">
                <a:ea typeface="宋体" charset="-122"/>
              </a:rPr>
              <a:t>-$</a:t>
            </a:r>
            <a:r>
              <a:rPr lang="en-US" altLang="en-US" sz="1600" dirty="0" err="1" smtClean="0">
                <a:ea typeface="宋体" charset="-122"/>
              </a:rPr>
              <a:t>releasever</a:t>
            </a:r>
            <a:r>
              <a:rPr lang="en-US" altLang="en-US" sz="1600" dirty="0" smtClean="0">
                <a:ea typeface="宋体" charset="-122"/>
              </a:rPr>
              <a:t> - Media                                       #</a:t>
            </a:r>
            <a:r>
              <a:rPr lang="zh-CN" altLang="en-US" sz="1600" dirty="0" smtClean="0">
                <a:ea typeface="宋体" charset="-122"/>
              </a:rPr>
              <a:t>自定义名称</a:t>
            </a:r>
          </a:p>
          <a:p>
            <a:pPr lvl="1">
              <a:defRPr/>
            </a:pPr>
            <a:r>
              <a:rPr lang="zh-CN" altLang="en-US" sz="1600" dirty="0" smtClean="0">
                <a:ea typeface="宋体" charset="-122"/>
              </a:rPr>
              <a:t> </a:t>
            </a:r>
            <a:r>
              <a:rPr lang="en-US" altLang="en-US" sz="1600" dirty="0" err="1" smtClean="0">
                <a:ea typeface="宋体" charset="-122"/>
              </a:rPr>
              <a:t>baseurl</a:t>
            </a:r>
            <a:r>
              <a:rPr lang="en-US" altLang="en-US" sz="1600" dirty="0" smtClean="0">
                <a:ea typeface="宋体" charset="-122"/>
              </a:rPr>
              <a:t>=file:///media/CentOS_6.4_Final                                 #</a:t>
            </a:r>
            <a:r>
              <a:rPr lang="zh-CN" altLang="en-US" sz="1600" dirty="0" smtClean="0">
                <a:ea typeface="宋体" charset="-122"/>
              </a:rPr>
              <a:t>本地光盘挂载路径</a:t>
            </a:r>
          </a:p>
          <a:p>
            <a:pPr lvl="1">
              <a:defRPr/>
            </a:pPr>
            <a:r>
              <a:rPr lang="zh-CN" altLang="en-US" sz="1600" dirty="0" smtClean="0">
                <a:ea typeface="宋体" charset="-122"/>
              </a:rPr>
              <a:t> </a:t>
            </a:r>
            <a:r>
              <a:rPr lang="en-US" altLang="en-US" sz="1600" dirty="0" err="1" smtClean="0">
                <a:ea typeface="宋体" charset="-122"/>
              </a:rPr>
              <a:t>gpgcheck</a:t>
            </a:r>
            <a:r>
              <a:rPr lang="en-US" altLang="en-US" sz="1600" dirty="0" smtClean="0">
                <a:ea typeface="宋体" charset="-122"/>
              </a:rPr>
              <a:t>=0                                                                #</a:t>
            </a:r>
            <a:r>
              <a:rPr lang="zh-CN" altLang="en-US" sz="1600" dirty="0" smtClean="0">
                <a:ea typeface="宋体" charset="-122"/>
              </a:rPr>
              <a:t>检查</a:t>
            </a:r>
            <a:r>
              <a:rPr lang="en-US" altLang="en-US" sz="1600" dirty="0" smtClean="0">
                <a:ea typeface="宋体" charset="-122"/>
              </a:rPr>
              <a:t>GPG-KEY，0</a:t>
            </a:r>
            <a:r>
              <a:rPr lang="zh-CN" altLang="en-US" sz="1600" dirty="0" smtClean="0">
                <a:ea typeface="宋体" charset="-122"/>
              </a:rPr>
              <a:t>为不检查，</a:t>
            </a:r>
            <a:r>
              <a:rPr lang="en-US" altLang="zh-CN" sz="1600" dirty="0" smtClean="0">
                <a:ea typeface="宋体" charset="-122"/>
              </a:rPr>
              <a:t>1</a:t>
            </a:r>
            <a:r>
              <a:rPr lang="zh-CN" altLang="en-US" sz="1600" dirty="0" smtClean="0">
                <a:ea typeface="宋体" charset="-122"/>
              </a:rPr>
              <a:t>为检查</a:t>
            </a:r>
          </a:p>
          <a:p>
            <a:pPr lvl="1">
              <a:defRPr/>
            </a:pPr>
            <a:r>
              <a:rPr lang="zh-CN" altLang="en-US" sz="1600" dirty="0" smtClean="0">
                <a:ea typeface="宋体" charset="-122"/>
              </a:rPr>
              <a:t> </a:t>
            </a:r>
            <a:r>
              <a:rPr lang="en-US" altLang="en-US" sz="1600" dirty="0" smtClean="0">
                <a:ea typeface="宋体" charset="-122"/>
              </a:rPr>
              <a:t>enabled=1                                                                  #</a:t>
            </a:r>
            <a:r>
              <a:rPr lang="zh-CN" altLang="en-US" sz="1600" dirty="0" smtClean="0">
                <a:ea typeface="宋体" charset="-122"/>
              </a:rPr>
              <a:t>启用</a:t>
            </a:r>
            <a:r>
              <a:rPr lang="en-US" altLang="en-US" sz="1600" dirty="0" smtClean="0">
                <a:ea typeface="宋体" charset="-122"/>
              </a:rPr>
              <a:t>yum</a:t>
            </a:r>
            <a:r>
              <a:rPr lang="zh-CN" altLang="en-US" sz="1600" dirty="0" smtClean="0">
                <a:ea typeface="宋体" charset="-122"/>
              </a:rPr>
              <a:t>源，</a:t>
            </a:r>
            <a:r>
              <a:rPr lang="en-US" altLang="zh-CN" sz="1600" dirty="0" smtClean="0">
                <a:ea typeface="宋体" charset="-122"/>
              </a:rPr>
              <a:t>0</a:t>
            </a:r>
            <a:r>
              <a:rPr lang="zh-CN" altLang="en-US" sz="1600" dirty="0" smtClean="0">
                <a:ea typeface="宋体" charset="-122"/>
              </a:rPr>
              <a:t>为不启用，</a:t>
            </a:r>
            <a:r>
              <a:rPr lang="en-US" altLang="zh-CN" sz="1600" dirty="0" smtClean="0">
                <a:ea typeface="宋体" charset="-122"/>
              </a:rPr>
              <a:t>1</a:t>
            </a:r>
            <a:r>
              <a:rPr lang="zh-CN" altLang="en-US" sz="1600" dirty="0" smtClean="0">
                <a:ea typeface="宋体" charset="-122"/>
              </a:rPr>
              <a:t>为</a:t>
            </a:r>
            <a:r>
              <a:rPr lang="zh-CN" altLang="en-US" sz="1600" dirty="0" smtClean="0">
                <a:ea typeface="宋体" charset="-122"/>
              </a:rPr>
              <a:t>启用</a:t>
            </a:r>
            <a:endParaRPr lang="en-US" altLang="zh-CN" sz="1600" dirty="0" smtClean="0">
              <a:ea typeface="宋体" charset="-122"/>
            </a:endParaRPr>
          </a:p>
          <a:p>
            <a:pPr lvl="1">
              <a:defRPr/>
            </a:pPr>
            <a:endParaRPr lang="en-US" altLang="zh-CN" sz="1600" dirty="0" smtClean="0">
              <a:ea typeface="宋体" charset="-122"/>
            </a:endParaRPr>
          </a:p>
          <a:p>
            <a:pPr lvl="1">
              <a:defRPr/>
            </a:pPr>
            <a:r>
              <a:rPr lang="zh-CN" altLang="en-US" sz="1600" dirty="0" smtClean="0">
                <a:ea typeface="宋体" charset="-122"/>
              </a:rPr>
              <a:t>步骤</a:t>
            </a:r>
            <a:r>
              <a:rPr lang="en-US" altLang="zh-CN" sz="1600" dirty="0" smtClean="0">
                <a:ea typeface="宋体" charset="-122"/>
              </a:rPr>
              <a:t>2.</a:t>
            </a:r>
            <a:endParaRPr lang="en-US" altLang="en-US" sz="1600" dirty="0" smtClean="0">
              <a:ea typeface="宋体" charset="-122"/>
            </a:endParaRPr>
          </a:p>
          <a:p>
            <a:pPr lvl="1">
              <a:defRPr/>
            </a:pPr>
            <a:r>
              <a:rPr lang="en-US" altLang="en-US" sz="1600" dirty="0" err="1" smtClean="0">
                <a:ea typeface="宋体" charset="-122"/>
              </a:rPr>
              <a:t>CentOS</a:t>
            </a:r>
            <a:r>
              <a:rPr lang="zh-CN" altLang="en-US" sz="1600" dirty="0" smtClean="0">
                <a:ea typeface="宋体" charset="-122"/>
              </a:rPr>
              <a:t>需要将</a:t>
            </a:r>
            <a:r>
              <a:rPr lang="en-US" altLang="zh-CN" sz="1600" dirty="0" smtClean="0">
                <a:ea typeface="宋体" charset="-122"/>
              </a:rPr>
              <a:t>/</a:t>
            </a:r>
            <a:r>
              <a:rPr lang="en-US" altLang="en-US" sz="1600" dirty="0" smtClean="0">
                <a:ea typeface="宋体" charset="-122"/>
              </a:rPr>
              <a:t>etc/</a:t>
            </a:r>
            <a:r>
              <a:rPr lang="en-US" altLang="en-US" sz="1600" dirty="0" err="1" smtClean="0">
                <a:ea typeface="宋体" charset="-122"/>
              </a:rPr>
              <a:t>yum.rpos.d</a:t>
            </a:r>
            <a:r>
              <a:rPr lang="en-US" altLang="en-US" sz="1600" dirty="0" smtClean="0">
                <a:ea typeface="宋体" charset="-122"/>
              </a:rPr>
              <a:t>/</a:t>
            </a:r>
            <a:r>
              <a:rPr lang="zh-CN" altLang="en-US" sz="1600" dirty="0" smtClean="0">
                <a:ea typeface="宋体" charset="-122"/>
              </a:rPr>
              <a:t>目录下的</a:t>
            </a:r>
            <a:r>
              <a:rPr lang="en-US" altLang="en-US" sz="1600" dirty="0" err="1" smtClean="0">
                <a:ea typeface="宋体" charset="-122"/>
              </a:rPr>
              <a:t>CentOS-Base.repo</a:t>
            </a:r>
            <a:r>
              <a:rPr lang="zh-CN" altLang="en-US" sz="1600" dirty="0" smtClean="0">
                <a:ea typeface="宋体" charset="-122"/>
              </a:rPr>
              <a:t>和</a:t>
            </a:r>
            <a:r>
              <a:rPr lang="en-US" altLang="en-US" sz="1600" dirty="0" err="1" smtClean="0">
                <a:ea typeface="宋体" charset="-122"/>
              </a:rPr>
              <a:t>CentOS-Debuginfo.repo</a:t>
            </a:r>
            <a:r>
              <a:rPr lang="zh-CN" altLang="en-US" sz="1600" dirty="0" smtClean="0">
                <a:ea typeface="宋体" charset="-122"/>
              </a:rPr>
              <a:t>文件进行改名，这样就可以绕过网络进行本地源的安装。具体命令如下：</a:t>
            </a:r>
          </a:p>
          <a:p>
            <a:pPr lvl="1">
              <a:defRPr/>
            </a:pPr>
            <a:r>
              <a:rPr lang="en-US" altLang="en-US" sz="1600" dirty="0" err="1" smtClean="0">
                <a:ea typeface="宋体" charset="-122"/>
              </a:rPr>
              <a:t>cd</a:t>
            </a:r>
            <a:r>
              <a:rPr lang="en-US" altLang="en-US" sz="1600" dirty="0" smtClean="0">
                <a:ea typeface="宋体" charset="-122"/>
              </a:rPr>
              <a:t> </a:t>
            </a:r>
            <a:r>
              <a:rPr lang="en-US" altLang="en-US" sz="1600" dirty="0" smtClean="0">
                <a:ea typeface="宋体" charset="-122"/>
              </a:rPr>
              <a:t>   /</a:t>
            </a:r>
            <a:r>
              <a:rPr lang="en-US" altLang="en-US" sz="1600" dirty="0" smtClean="0">
                <a:ea typeface="宋体" charset="-122"/>
              </a:rPr>
              <a:t>etc/</a:t>
            </a:r>
            <a:r>
              <a:rPr lang="en-US" altLang="en-US" sz="1600" dirty="0" err="1" smtClean="0">
                <a:ea typeface="宋体" charset="-122"/>
              </a:rPr>
              <a:t>yum.repos.d</a:t>
            </a:r>
            <a:r>
              <a:rPr lang="en-US" altLang="en-US" sz="1600" dirty="0" smtClean="0">
                <a:ea typeface="宋体" charset="-122"/>
              </a:rPr>
              <a:t>/</a:t>
            </a:r>
          </a:p>
          <a:p>
            <a:pPr lvl="1">
              <a:defRPr/>
            </a:pPr>
            <a:r>
              <a:rPr lang="en-US" altLang="en-US" sz="1600" dirty="0" err="1" smtClean="0">
                <a:ea typeface="宋体" charset="-122"/>
              </a:rPr>
              <a:t>mv</a:t>
            </a:r>
            <a:r>
              <a:rPr lang="en-US" altLang="en-US" sz="1600" dirty="0" smtClean="0">
                <a:ea typeface="宋体" charset="-122"/>
              </a:rPr>
              <a:t> </a:t>
            </a:r>
            <a:r>
              <a:rPr lang="en-US" altLang="en-US" sz="1600" dirty="0" smtClean="0">
                <a:ea typeface="宋体" charset="-122"/>
              </a:rPr>
              <a:t>   </a:t>
            </a:r>
            <a:r>
              <a:rPr lang="en-US" altLang="en-US" sz="1600" dirty="0" err="1" smtClean="0">
                <a:ea typeface="宋体" charset="-122"/>
              </a:rPr>
              <a:t>CentOS-Base.repo</a:t>
            </a:r>
            <a:r>
              <a:rPr lang="en-US" altLang="en-US" sz="1600" dirty="0" smtClean="0">
                <a:ea typeface="宋体" charset="-122"/>
              </a:rPr>
              <a:t>     </a:t>
            </a:r>
            <a:r>
              <a:rPr lang="en-US" altLang="en-US" sz="1600" dirty="0" err="1" smtClean="0">
                <a:ea typeface="宋体" charset="-122"/>
              </a:rPr>
              <a:t>CentOS-Base.repo.bak</a:t>
            </a:r>
            <a:endParaRPr lang="en-US" altLang="en-US" sz="1600" dirty="0" smtClean="0">
              <a:ea typeface="宋体" charset="-122"/>
            </a:endParaRPr>
          </a:p>
          <a:p>
            <a:pPr lvl="1">
              <a:defRPr/>
            </a:pPr>
            <a:r>
              <a:rPr lang="en-US" altLang="en-US" sz="1600" dirty="0" err="1" smtClean="0">
                <a:ea typeface="宋体" charset="-122"/>
              </a:rPr>
              <a:t>mv</a:t>
            </a:r>
            <a:r>
              <a:rPr lang="en-US" altLang="en-US" sz="1600" dirty="0" smtClean="0">
                <a:ea typeface="宋体" charset="-122"/>
              </a:rPr>
              <a:t> </a:t>
            </a:r>
            <a:r>
              <a:rPr lang="en-US" altLang="en-US" sz="1600" dirty="0" smtClean="0">
                <a:ea typeface="宋体" charset="-122"/>
              </a:rPr>
              <a:t>   </a:t>
            </a:r>
            <a:r>
              <a:rPr lang="en-US" altLang="en-US" sz="1600" dirty="0" err="1" smtClean="0">
                <a:ea typeface="宋体" charset="-122"/>
              </a:rPr>
              <a:t>CentOS-Debuginfo.repo</a:t>
            </a:r>
            <a:r>
              <a:rPr lang="en-US" altLang="en-US" sz="1600" dirty="0" smtClean="0">
                <a:ea typeface="宋体" charset="-122"/>
              </a:rPr>
              <a:t>    </a:t>
            </a:r>
            <a:r>
              <a:rPr lang="en-US" altLang="en-US" sz="1600" dirty="0" err="1" smtClean="0">
                <a:ea typeface="宋体" charset="-122"/>
              </a:rPr>
              <a:t>CentOS-Debuginfo.repo.bak</a:t>
            </a:r>
            <a:endParaRPr lang="en-US" altLang="en-US" sz="1600" dirty="0" smtClean="0">
              <a:ea typeface="宋体" charset="-122"/>
            </a:endParaRPr>
          </a:p>
          <a:p>
            <a:pPr lvl="1">
              <a:defRPr/>
            </a:pPr>
            <a:endParaRPr lang="en-US" altLang="zh-CN" sz="1600" dirty="0" smtClean="0">
              <a:ea typeface="宋体" charset="-122"/>
            </a:endParaRPr>
          </a:p>
          <a:p>
            <a:pPr lvl="1">
              <a:defRPr/>
            </a:pPr>
            <a:r>
              <a:rPr lang="zh-CN" altLang="en-US" sz="1600" dirty="0" smtClean="0">
                <a:ea typeface="宋体" charset="-122"/>
              </a:rPr>
              <a:t>尝试使用本地源安装删除</a:t>
            </a:r>
            <a:r>
              <a:rPr lang="en-US" altLang="zh-CN" sz="1600" dirty="0" smtClean="0">
                <a:ea typeface="宋体" charset="-122"/>
              </a:rPr>
              <a:t>ftp</a:t>
            </a:r>
            <a:r>
              <a:rPr lang="zh-CN" altLang="en-US" sz="1600" dirty="0" smtClean="0">
                <a:ea typeface="宋体" charset="-122"/>
              </a:rPr>
              <a:t>服务 </a:t>
            </a:r>
            <a:endParaRPr lang="en-US" altLang="zh-CN" sz="1600" dirty="0" smtClean="0">
              <a:ea typeface="宋体" charset="-122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zh-CN" sz="1600" dirty="0" smtClean="0">
                <a:ea typeface="宋体" charset="-122"/>
              </a:rPr>
              <a:t>       </a:t>
            </a:r>
            <a:endParaRPr lang="en-US" altLang="zh-CN" sz="1600" dirty="0" smtClean="0">
              <a:ea typeface="宋体" charset="-122"/>
            </a:endParaRPr>
          </a:p>
          <a:p>
            <a:pPr marL="800100" lvl="1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 smtClean="0">
                <a:ea typeface="宋体" charset="-122"/>
              </a:rPr>
              <a:t>   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zh-CN" sz="1600" i="1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en-US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r>
              <a:rPr lang="zh-CN" altLang="en-US" sz="1600" dirty="0">
                <a:ea typeface="宋体" charset="-122"/>
              </a:rPr>
              <a:t>   </a:t>
            </a:r>
            <a:endParaRPr lang="en-US" altLang="zh-CN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r>
              <a:rPr lang="en-US" altLang="zh-CN" sz="1600" dirty="0">
                <a:ea typeface="宋体" charset="-122"/>
              </a:rPr>
              <a:t> 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软件包</a:t>
            </a: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yum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方法安装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84169" y="1071546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zh-CN" altLang="en-US" sz="2100" b="1" dirty="0">
                <a:ea typeface="宋体" charset="-122"/>
              </a:rPr>
              <a:t>什么是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000" b="1" dirty="0">
                <a:ea typeface="宋体" charset="-122"/>
              </a:rPr>
              <a:t>LAMP</a:t>
            </a:r>
            <a:r>
              <a:rPr kumimoji="1" lang="zh-CN" altLang="en-US" sz="2000" b="1" dirty="0">
                <a:ea typeface="宋体" charset="-122"/>
              </a:rPr>
              <a:t>是</a:t>
            </a:r>
            <a:r>
              <a:rPr kumimoji="1" lang="en-US" altLang="zh-CN" sz="2000" b="1" dirty="0">
                <a:ea typeface="宋体" charset="-122"/>
              </a:rPr>
              <a:t>Linux+ </a:t>
            </a:r>
            <a:r>
              <a:rPr kumimoji="1" lang="en-US" altLang="zh-CN" sz="2000" b="1" dirty="0" err="1">
                <a:ea typeface="宋体" charset="-122"/>
              </a:rPr>
              <a:t>Apache+MySQL+PHP</a:t>
            </a:r>
            <a:r>
              <a:rPr kumimoji="1" lang="zh-CN" altLang="en-US" sz="2000" b="1" dirty="0">
                <a:ea typeface="宋体" charset="-122"/>
              </a:rPr>
              <a:t>的缩写</a:t>
            </a:r>
            <a:endParaRPr kumimoji="1" lang="en-US" altLang="zh-CN" sz="2000" b="1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zh-CN" altLang="en-US" sz="2000" dirty="0">
                <a:ea typeface="宋体" charset="-122"/>
              </a:rPr>
              <a:t>    常用来搭建动态网站或者服务器的开源软件，本身都是各自独立的程序，但是因为常被放在一起使用，拥有了越来越高的兼容度，共同组成了一个强大的</a:t>
            </a:r>
            <a:r>
              <a:rPr lang="en-US" altLang="zh-CN" sz="2000" dirty="0">
                <a:ea typeface="宋体" charset="-122"/>
              </a:rPr>
              <a:t>Web</a:t>
            </a:r>
            <a:r>
              <a:rPr lang="zh-CN" altLang="en-US" sz="2000" dirty="0">
                <a:ea typeface="宋体" charset="-122"/>
              </a:rPr>
              <a:t>应用程序平台</a:t>
            </a:r>
            <a:r>
              <a:rPr lang="en-US" altLang="zh-CN" sz="2000" dirty="0">
                <a:ea typeface="宋体" charset="-122"/>
              </a:rPr>
              <a:t>LAMP</a:t>
            </a:r>
            <a:r>
              <a:rPr lang="zh-CN" altLang="en-US" sz="2000" dirty="0">
                <a:ea typeface="宋体" charset="-122"/>
              </a:rPr>
              <a:t>是最强大的网站解决方案．</a:t>
            </a:r>
            <a:r>
              <a:rPr lang="en-US" altLang="zh-CN" sz="2000" dirty="0">
                <a:ea typeface="宋体" charset="-122"/>
              </a:rPr>
              <a:t>    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000" b="1" dirty="0">
                <a:ea typeface="宋体" charset="-122"/>
              </a:rPr>
              <a:t>APCHE</a:t>
            </a:r>
            <a:endParaRPr kumimoji="1" lang="en-US" altLang="zh-CN" sz="2000" b="1" dirty="0">
              <a:ea typeface="宋体" charset="-122"/>
              <a:hlinkClick r:id="rId2" tooltip="查看LAMP中的全部文章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000" dirty="0">
                <a:ea typeface="宋体" charset="-122"/>
              </a:rPr>
              <a:t>    Apache </a:t>
            </a:r>
            <a:r>
              <a:rPr lang="zh-CN" altLang="en-US" sz="2000" dirty="0">
                <a:ea typeface="宋体" charset="-122"/>
              </a:rPr>
              <a:t>是开放源码的</a:t>
            </a:r>
            <a:r>
              <a:rPr lang="en-US" altLang="zh-CN" sz="2000" dirty="0">
                <a:ea typeface="宋体" charset="-122"/>
              </a:rPr>
              <a:t>WEB</a:t>
            </a:r>
            <a:r>
              <a:rPr lang="zh-CN" altLang="en-US" sz="2000" dirty="0">
                <a:ea typeface="宋体" charset="-122"/>
              </a:rPr>
              <a:t>服务器软件</a:t>
            </a:r>
            <a:endParaRPr lang="en-US" altLang="zh-CN" sz="2000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000" b="1" dirty="0" err="1">
                <a:ea typeface="宋体" charset="-122"/>
              </a:rPr>
              <a:t>MySQL</a:t>
            </a:r>
            <a:endParaRPr kumimoji="1" lang="en-US" altLang="zh-CN" sz="2000" b="1" dirty="0">
              <a:ea typeface="宋体" charset="-122"/>
              <a:hlinkClick r:id="rId2" tooltip="查看LAMP中的全部文章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MySQL</a:t>
            </a:r>
            <a:r>
              <a:rPr lang="en-US" altLang="zh-CN" sz="2000" dirty="0"/>
              <a:t> </a:t>
            </a:r>
            <a:r>
              <a:rPr lang="zh-CN" altLang="en-US" sz="2000" dirty="0">
                <a:ea typeface="宋体" charset="-122"/>
              </a:rPr>
              <a:t>是</a:t>
            </a:r>
            <a:r>
              <a:rPr lang="en-US" altLang="zh-CN" sz="2000" dirty="0">
                <a:ea typeface="宋体" charset="-122"/>
              </a:rPr>
              <a:t> </a:t>
            </a:r>
            <a:r>
              <a:rPr lang="zh-CN" altLang="en-US" sz="2000" dirty="0">
                <a:ea typeface="宋体" charset="-122"/>
              </a:rPr>
              <a:t>数据库管理系统</a:t>
            </a:r>
            <a:endParaRPr lang="en-US" altLang="zh-CN" sz="2000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000" b="1" dirty="0">
                <a:ea typeface="宋体" charset="-122"/>
              </a:rPr>
              <a:t>PHP</a:t>
            </a:r>
            <a:endParaRPr kumimoji="1" lang="en-US" altLang="zh-CN" sz="2000" b="1" dirty="0">
              <a:ea typeface="宋体" charset="-122"/>
              <a:hlinkClick r:id="rId2" tooltip="查看LAMP中的全部文章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sz="2000" dirty="0">
                <a:ea typeface="宋体" charset="-122"/>
              </a:rPr>
              <a:t>PHP </a:t>
            </a:r>
            <a:r>
              <a:rPr lang="zh-CN" altLang="en-US" sz="2000" dirty="0">
                <a:ea typeface="宋体" charset="-122"/>
              </a:rPr>
              <a:t>是一种编程语言最初设计生产动态网站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zh-CN" altLang="en-US" sz="2100" b="1" dirty="0" smtClean="0">
                <a:solidFill>
                  <a:srgbClr val="FF0000"/>
                </a:solidFill>
                <a:ea typeface="宋体" charset="-122"/>
              </a:rPr>
              <a:t>先做快照，以方便安装后</a:t>
            </a:r>
            <a:r>
              <a:rPr kumimoji="1" lang="zh-CN" altLang="en-US" sz="2100" b="1" dirty="0" smtClean="0">
                <a:solidFill>
                  <a:srgbClr val="FF0000"/>
                </a:solidFill>
                <a:ea typeface="宋体" charset="-122"/>
              </a:rPr>
              <a:t>恢复</a:t>
            </a: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 smtClean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>
                <a:ea typeface="宋体" charset="-122"/>
              </a:rPr>
              <a:t>APACHE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 </a:t>
            </a:r>
            <a:r>
              <a:rPr kumimoji="1" lang="en-US" altLang="zh-CN" sz="2100" dirty="0">
                <a:ea typeface="宋体" charset="-122"/>
              </a:rPr>
              <a:t>1</a:t>
            </a:r>
            <a:r>
              <a:rPr kumimoji="1" lang="en-US" altLang="zh-CN" sz="2100" b="1" dirty="0">
                <a:ea typeface="宋体" charset="-122"/>
              </a:rPr>
              <a:t>.</a:t>
            </a:r>
            <a:r>
              <a:rPr kumimoji="1" lang="zh-CN" altLang="en-US" sz="2100" dirty="0">
                <a:ea typeface="宋体" charset="-122"/>
              </a:rPr>
              <a:t>检查</a:t>
            </a:r>
            <a:r>
              <a:rPr kumimoji="1" lang="en-US" altLang="zh-CN" sz="2100" dirty="0" err="1">
                <a:ea typeface="宋体" charset="-122"/>
              </a:rPr>
              <a:t>apche</a:t>
            </a:r>
            <a:r>
              <a:rPr kumimoji="1" lang="zh-CN" altLang="en-US" sz="2100" dirty="0">
                <a:ea typeface="宋体" charset="-122"/>
              </a:rPr>
              <a:t>服务器是否安装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 #</a:t>
            </a:r>
            <a:r>
              <a:rPr kumimoji="1" lang="en-US" altLang="zh-CN" sz="2100" dirty="0" err="1">
                <a:ea typeface="宋体" charset="-122"/>
              </a:rPr>
              <a:t>sevice</a:t>
            </a:r>
            <a:r>
              <a:rPr kumimoji="1" lang="en-US" altLang="zh-CN" sz="2100" dirty="0">
                <a:ea typeface="宋体" charset="-122"/>
              </a:rPr>
              <a:t> </a:t>
            </a:r>
            <a:r>
              <a:rPr kumimoji="1" lang="en-US" altLang="zh-CN" sz="2100" dirty="0" err="1">
                <a:ea typeface="宋体" charset="-122"/>
              </a:rPr>
              <a:t>httpd</a:t>
            </a:r>
            <a:r>
              <a:rPr kumimoji="1" lang="en-US" altLang="zh-CN" sz="2100" dirty="0">
                <a:ea typeface="宋体" charset="-122"/>
              </a:rPr>
              <a:t> status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2.</a:t>
            </a:r>
            <a:r>
              <a:rPr kumimoji="1" lang="zh-CN" altLang="en-US" sz="2100" dirty="0">
                <a:ea typeface="宋体" charset="-122"/>
              </a:rPr>
              <a:t>系统已默认安装</a:t>
            </a:r>
            <a:r>
              <a:rPr kumimoji="1" lang="en-US" altLang="zh-CN" sz="2100" dirty="0">
                <a:ea typeface="宋体" charset="-122"/>
              </a:rPr>
              <a:t>apache</a:t>
            </a:r>
            <a:r>
              <a:rPr kumimoji="1" lang="zh-CN" altLang="en-US" sz="2100" dirty="0">
                <a:ea typeface="宋体" charset="-122"/>
              </a:rPr>
              <a:t>服务</a:t>
            </a:r>
            <a:endParaRPr kumimoji="1" lang="en-US" altLang="zh-CN" sz="2100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3. </a:t>
            </a:r>
            <a:r>
              <a:rPr kumimoji="1" lang="zh-CN" altLang="en-US" sz="2100" dirty="0">
                <a:ea typeface="宋体" charset="-122"/>
              </a:rPr>
              <a:t>启动</a:t>
            </a:r>
            <a:r>
              <a:rPr kumimoji="1" lang="en-US" altLang="zh-CN" sz="2100" dirty="0" err="1">
                <a:ea typeface="宋体" charset="-122"/>
              </a:rPr>
              <a:t>httpd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en-US" sz="2100" dirty="0">
                <a:ea typeface="宋体" charset="-122"/>
              </a:rPr>
              <a:t>          #service </a:t>
            </a:r>
            <a:r>
              <a:rPr kumimoji="1" lang="en-US" altLang="en-US" sz="2100" dirty="0" err="1">
                <a:ea typeface="宋体" charset="-122"/>
              </a:rPr>
              <a:t>httpd</a:t>
            </a:r>
            <a:r>
              <a:rPr kumimoji="1" lang="en-US" altLang="en-US" sz="2100" dirty="0">
                <a:ea typeface="宋体" charset="-122"/>
              </a:rPr>
              <a:t> start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71406" y="1071546"/>
            <a:ext cx="8988425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solidFill>
                <a:srgbClr val="FF0000"/>
              </a:solidFill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>
                <a:ea typeface="宋体" charset="-122"/>
              </a:rPr>
              <a:t>APACHE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 </a:t>
            </a:r>
            <a:r>
              <a:rPr kumimoji="1" lang="en-US" altLang="zh-CN" sz="2100" dirty="0">
                <a:ea typeface="宋体" charset="-122"/>
              </a:rPr>
              <a:t>4.</a:t>
            </a:r>
            <a:r>
              <a:rPr kumimoji="1" lang="zh-CN" altLang="en-US" sz="2100" dirty="0">
                <a:ea typeface="宋体" charset="-122"/>
              </a:rPr>
              <a:t>验证</a:t>
            </a:r>
            <a:r>
              <a:rPr kumimoji="1" lang="en-US" altLang="zh-CN" sz="2100" dirty="0">
                <a:ea typeface="宋体" charset="-122"/>
              </a:rPr>
              <a:t>APACHE</a:t>
            </a:r>
            <a:r>
              <a:rPr kumimoji="1" lang="zh-CN" altLang="en-US" sz="2100" dirty="0">
                <a:ea typeface="宋体" charset="-122"/>
              </a:rPr>
              <a:t>是否正常运行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</a:t>
            </a:r>
            <a:r>
              <a:rPr kumimoji="1" lang="zh-CN" altLang="en-US" sz="2100" dirty="0">
                <a:ea typeface="宋体" charset="-122"/>
              </a:rPr>
              <a:t>   找开浏览器输入：</a:t>
            </a:r>
            <a:r>
              <a:rPr kumimoji="1" lang="en-US" altLang="zh-CN" sz="2100" dirty="0">
                <a:ea typeface="宋体" charset="-122"/>
              </a:rPr>
              <a:t>http://</a:t>
            </a:r>
            <a:r>
              <a:rPr kumimoji="1" lang="zh-CN" altLang="en-US" sz="2100" dirty="0">
                <a:ea typeface="宋体" charset="-122"/>
              </a:rPr>
              <a:t>服务器</a:t>
            </a:r>
            <a:r>
              <a:rPr kumimoji="1" lang="en-US" altLang="zh-CN" sz="2100" dirty="0">
                <a:ea typeface="宋体" charset="-122"/>
              </a:rPr>
              <a:t>IP</a:t>
            </a:r>
            <a:r>
              <a:rPr kumimoji="1" lang="zh-CN" altLang="en-US" sz="2100" dirty="0">
                <a:ea typeface="宋体" charset="-122"/>
              </a:rPr>
              <a:t>地址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en-US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00438"/>
            <a:ext cx="8501062" cy="3071834"/>
          </a:xfrm>
          <a:prstGeom prst="rect">
            <a:avLst/>
          </a:prstGeom>
          <a:noFill/>
          <a:ln w="19050" algn="ctr">
            <a:noFill/>
            <a:prstDash val="sysDot"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71406" y="1071563"/>
            <a:ext cx="8988425" cy="5500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 err="1">
                <a:ea typeface="宋体" charset="-122"/>
              </a:rPr>
              <a:t>mysql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 </a:t>
            </a:r>
            <a:r>
              <a:rPr kumimoji="1" lang="en-US" altLang="zh-CN" sz="2100" b="1" dirty="0" smtClean="0">
                <a:ea typeface="宋体" charset="-122"/>
              </a:rPr>
              <a:t> </a:t>
            </a:r>
            <a:r>
              <a:rPr kumimoji="1" lang="en-US" altLang="zh-CN" sz="2100" dirty="0" smtClean="0">
                <a:ea typeface="宋体" charset="-122"/>
              </a:rPr>
              <a:t>1</a:t>
            </a:r>
            <a:r>
              <a:rPr kumimoji="1" lang="en-US" altLang="zh-CN" sz="2100" b="1" dirty="0">
                <a:ea typeface="宋体" charset="-122"/>
              </a:rPr>
              <a:t>.</a:t>
            </a:r>
            <a:r>
              <a:rPr kumimoji="1" lang="zh-CN" altLang="en-US" sz="2100" dirty="0">
                <a:ea typeface="宋体" charset="-122"/>
              </a:rPr>
              <a:t>检查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zh-CN" altLang="en-US" sz="2100" dirty="0">
                <a:ea typeface="宋体" charset="-122"/>
              </a:rPr>
              <a:t>服务</a:t>
            </a:r>
            <a:r>
              <a:rPr kumimoji="1" lang="zh-CN" altLang="en-US" sz="2100" dirty="0" smtClean="0">
                <a:ea typeface="宋体" charset="-122"/>
              </a:rPr>
              <a:t>是否安装</a:t>
            </a:r>
            <a:endParaRPr kumimoji="1" lang="en-US" altLang="zh-CN" sz="2100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 smtClean="0">
                <a:ea typeface="宋体" charset="-122"/>
              </a:rPr>
              <a:t>       #</a:t>
            </a:r>
            <a:r>
              <a:rPr kumimoji="1" lang="en-US" altLang="zh-CN" sz="2100" dirty="0" err="1" smtClean="0">
                <a:ea typeface="宋体" charset="-122"/>
              </a:rPr>
              <a:t>sevice</a:t>
            </a:r>
            <a:r>
              <a:rPr kumimoji="1" lang="en-US" altLang="zh-CN" sz="2100" dirty="0" smtClean="0">
                <a:ea typeface="宋体" charset="-122"/>
              </a:rPr>
              <a:t> </a:t>
            </a:r>
            <a:r>
              <a:rPr kumimoji="1" lang="en-US" altLang="zh-CN" sz="2100" dirty="0" err="1" smtClean="0">
                <a:ea typeface="宋体" charset="-122"/>
              </a:rPr>
              <a:t>mysqld</a:t>
            </a:r>
            <a:r>
              <a:rPr kumimoji="1" lang="en-US" altLang="zh-CN" sz="2100" dirty="0" smtClean="0">
                <a:ea typeface="宋体" charset="-122"/>
              </a:rPr>
              <a:t> status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 smtClean="0">
                <a:ea typeface="宋体" charset="-122"/>
              </a:rPr>
              <a:t>       2</a:t>
            </a:r>
            <a:r>
              <a:rPr kumimoji="1" lang="en-US" altLang="zh-CN" sz="2100" dirty="0">
                <a:ea typeface="宋体" charset="-122"/>
              </a:rPr>
              <a:t>.</a:t>
            </a:r>
            <a:r>
              <a:rPr kumimoji="1" lang="zh-CN" altLang="en-US" sz="2100" dirty="0">
                <a:ea typeface="宋体" charset="-122"/>
              </a:rPr>
              <a:t>系统默认未安装， 需手动</a:t>
            </a:r>
            <a:r>
              <a:rPr kumimoji="1" lang="zh-CN" altLang="en-US" sz="2100" dirty="0" smtClean="0">
                <a:ea typeface="宋体" charset="-122"/>
              </a:rPr>
              <a:t>安装</a:t>
            </a:r>
            <a:endParaRPr kumimoji="1" lang="en-US" altLang="en-US" sz="2100" dirty="0">
              <a:ea typeface="宋体" charset="-122"/>
            </a:endParaRPr>
          </a:p>
          <a:p>
            <a:pPr lvl="2">
              <a:defRPr/>
            </a:pPr>
            <a:r>
              <a:rPr lang="en-US" dirty="0" smtClean="0"/>
              <a:t>（1）cd /</a:t>
            </a:r>
            <a:r>
              <a:rPr lang="en-US" dirty="0" smtClean="0"/>
              <a:t>media/CentOS_6.4_Final/Packages</a:t>
            </a:r>
          </a:p>
          <a:p>
            <a:pPr lvl="2">
              <a:defRPr/>
            </a:pPr>
            <a:r>
              <a:rPr lang="en-US" altLang="zh-CN" dirty="0" smtClean="0"/>
              <a:t>rpm 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mysql-5.1.66-2.el6_3.x86_64.rpm</a:t>
            </a:r>
          </a:p>
          <a:p>
            <a:pPr lvl="2">
              <a:defRPr/>
            </a:pPr>
            <a:r>
              <a:rPr lang="en-US" altLang="zh-CN" dirty="0" smtClean="0"/>
              <a:t>rpm 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perl-DBI-1.609-4.el6.x86_64.rpm</a:t>
            </a:r>
          </a:p>
          <a:p>
            <a:pPr lvl="2">
              <a:defRPr/>
            </a:pPr>
            <a:r>
              <a:rPr lang="en-US" altLang="zh-CN" dirty="0" smtClean="0"/>
              <a:t>rpm 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perl-DBD-MySQL-4.013-3.el6.x86_64.rpm</a:t>
            </a:r>
          </a:p>
          <a:p>
            <a:pPr lvl="2">
              <a:defRPr/>
            </a:pPr>
            <a:r>
              <a:rPr lang="en-US" altLang="zh-CN" dirty="0" smtClean="0"/>
              <a:t>rpm 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mysql-server-5.1.66-2.el6_3.x86_64.rpm</a:t>
            </a:r>
          </a:p>
          <a:p>
            <a:pPr lvl="2">
              <a:defRPr/>
            </a:pPr>
            <a:r>
              <a:rPr lang="en-US" altLang="zh-CN" dirty="0" smtClean="0"/>
              <a:t>rpm 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php-common-5.3.3-22.el6.x86_64.rpm</a:t>
            </a:r>
          </a:p>
          <a:p>
            <a:pPr lvl="2">
              <a:defRPr/>
            </a:pPr>
            <a:r>
              <a:rPr lang="en-US" altLang="zh-CN" dirty="0" smtClean="0"/>
              <a:t>rpm 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php-pdo-5.3.3-22.el6.x86_64.rpm</a:t>
            </a:r>
          </a:p>
          <a:p>
            <a:pPr lvl="2">
              <a:defRPr/>
            </a:pPr>
            <a:r>
              <a:rPr lang="en-US" altLang="zh-CN" dirty="0" smtClean="0"/>
              <a:t>rpm -</a:t>
            </a:r>
            <a:r>
              <a:rPr lang="en-US" altLang="zh-CN" dirty="0" err="1" smtClean="0"/>
              <a:t>ivh</a:t>
            </a:r>
            <a:r>
              <a:rPr lang="en-US" altLang="zh-CN" dirty="0" smtClean="0"/>
              <a:t> </a:t>
            </a:r>
            <a:r>
              <a:rPr lang="en-US" altLang="zh-CN" dirty="0" smtClean="0"/>
              <a:t>php-mysql-5.3.3-22.el6.x86_64.rpm</a:t>
            </a:r>
          </a:p>
          <a:p>
            <a:pPr lvl="2">
              <a:defRPr/>
            </a:pPr>
            <a:r>
              <a:rPr kumimoji="1" lang="zh-CN" altLang="en-US" sz="1800" dirty="0" smtClean="0">
                <a:ea typeface="宋体" charset="-122"/>
              </a:rPr>
              <a:t>（</a:t>
            </a:r>
            <a:r>
              <a:rPr kumimoji="1" lang="en-US" altLang="zh-CN" sz="1800" dirty="0" smtClean="0">
                <a:ea typeface="宋体" charset="-122"/>
              </a:rPr>
              <a:t>2</a:t>
            </a:r>
            <a:r>
              <a:rPr kumimoji="1" lang="zh-CN" altLang="en-US" sz="1800" dirty="0" smtClean="0">
                <a:ea typeface="宋体" charset="-122"/>
              </a:rPr>
              <a:t>）</a:t>
            </a:r>
            <a:r>
              <a:rPr kumimoji="1" lang="zh-CN" altLang="en-US" dirty="0" smtClean="0">
                <a:ea typeface="宋体" charset="-122"/>
              </a:rPr>
              <a:t>查看服务状态</a:t>
            </a:r>
            <a:r>
              <a:rPr kumimoji="1" lang="en-US" altLang="zh-CN" dirty="0" smtClean="0">
                <a:ea typeface="宋体" charset="-122"/>
              </a:rPr>
              <a:t> </a:t>
            </a:r>
            <a:r>
              <a:rPr kumimoji="1" lang="en-US" altLang="zh-CN" dirty="0" smtClean="0">
                <a:ea typeface="宋体" charset="-122"/>
              </a:rPr>
              <a:t>     service </a:t>
            </a:r>
            <a:r>
              <a:rPr kumimoji="1" lang="en-US" altLang="zh-CN" dirty="0" err="1" smtClean="0">
                <a:ea typeface="宋体" charset="-122"/>
              </a:rPr>
              <a:t>mysqld</a:t>
            </a:r>
            <a:r>
              <a:rPr kumimoji="1" lang="en-US" altLang="zh-CN" dirty="0" smtClean="0">
                <a:ea typeface="宋体" charset="-122"/>
              </a:rPr>
              <a:t> status</a:t>
            </a:r>
            <a:endParaRPr kumimoji="1" lang="en-US" altLang="zh-CN" sz="1800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latin typeface="+mn-ea"/>
              </a:rPr>
              <a:t>3.</a:t>
            </a:r>
            <a:r>
              <a:rPr kumimoji="1" lang="zh-CN" altLang="en-US" sz="2100" dirty="0">
                <a:latin typeface="+mn-ea"/>
              </a:rPr>
              <a:t>启动</a:t>
            </a:r>
            <a:r>
              <a:rPr kumimoji="1" lang="en-US" altLang="zh-CN" sz="2100" dirty="0" err="1" smtClean="0">
                <a:latin typeface="+mn-ea"/>
              </a:rPr>
              <a:t>mysql</a:t>
            </a:r>
            <a:r>
              <a:rPr kumimoji="1" lang="en-US" altLang="en-US" sz="2100" dirty="0" smtClean="0">
                <a:latin typeface="+mn-ea"/>
              </a:rPr>
              <a:t>          </a:t>
            </a:r>
            <a:r>
              <a:rPr kumimoji="1" lang="en-US" altLang="en-US" sz="2100" dirty="0">
                <a:latin typeface="+mn-ea"/>
              </a:rPr>
              <a:t>#service </a:t>
            </a:r>
            <a:r>
              <a:rPr kumimoji="1" lang="en-US" altLang="en-US" sz="2100" dirty="0" err="1">
                <a:latin typeface="+mn-ea"/>
              </a:rPr>
              <a:t>mysqld</a:t>
            </a:r>
            <a:r>
              <a:rPr kumimoji="1" lang="en-US" altLang="en-US" sz="2100" dirty="0">
                <a:latin typeface="+mn-ea"/>
              </a:rPr>
              <a:t> start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 err="1">
                <a:ea typeface="宋体" charset="-122"/>
              </a:rPr>
              <a:t>mysql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 </a:t>
            </a:r>
            <a:r>
              <a:rPr kumimoji="1" lang="en-US" altLang="zh-CN" sz="2100" dirty="0">
                <a:ea typeface="宋体" charset="-122"/>
              </a:rPr>
              <a:t>4</a:t>
            </a:r>
            <a:r>
              <a:rPr kumimoji="1" lang="en-US" altLang="zh-CN" sz="2100" b="1" dirty="0">
                <a:ea typeface="宋体" charset="-122"/>
              </a:rPr>
              <a:t>.</a:t>
            </a:r>
            <a:r>
              <a:rPr kumimoji="1" lang="zh-CN" altLang="en-US" sz="2100" dirty="0">
                <a:ea typeface="宋体" charset="-122"/>
              </a:rPr>
              <a:t>检查服务端口是否调用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 #</a:t>
            </a:r>
            <a:r>
              <a:rPr kumimoji="1" lang="en-US" altLang="zh-CN" sz="2100" dirty="0" err="1">
                <a:ea typeface="宋体" charset="-122"/>
              </a:rPr>
              <a:t>netstat</a:t>
            </a:r>
            <a:r>
              <a:rPr kumimoji="1" lang="en-US" altLang="zh-CN" sz="2100" dirty="0">
                <a:ea typeface="宋体" charset="-122"/>
              </a:rPr>
              <a:t> -</a:t>
            </a:r>
            <a:r>
              <a:rPr kumimoji="1" lang="en-US" altLang="zh-CN" sz="2100" dirty="0" err="1">
                <a:ea typeface="宋体" charset="-122"/>
              </a:rPr>
              <a:t>ntl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zh-CN" altLang="en-US" sz="2100" dirty="0">
                <a:ea typeface="宋体" charset="-122"/>
              </a:rPr>
              <a:t>      如果有</a:t>
            </a:r>
            <a:r>
              <a:rPr kumimoji="1" lang="en-US" altLang="zh-CN" sz="2100" dirty="0">
                <a:ea typeface="宋体" charset="-122"/>
              </a:rPr>
              <a:t>3306</a:t>
            </a:r>
            <a:r>
              <a:rPr kumimoji="1" lang="zh-CN" altLang="en-US" sz="2100" dirty="0">
                <a:ea typeface="宋体" charset="-122"/>
              </a:rPr>
              <a:t>端口，那么代表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zh-CN" altLang="en-US" sz="2100" dirty="0">
                <a:ea typeface="宋体" charset="-122"/>
              </a:rPr>
              <a:t>启动成功</a:t>
            </a:r>
            <a:endParaRPr kumimoji="1" lang="en-US" altLang="zh-CN" sz="2100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5.</a:t>
            </a:r>
            <a:r>
              <a:rPr kumimoji="1" lang="zh-CN" altLang="en-US" sz="2100" dirty="0">
                <a:ea typeface="宋体" charset="-122"/>
              </a:rPr>
              <a:t>配置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zh-CN" altLang="en-US" sz="2100" dirty="0">
                <a:ea typeface="宋体" charset="-122"/>
              </a:rPr>
              <a:t>服务器</a:t>
            </a:r>
            <a:r>
              <a:rPr kumimoji="1" lang="en-US" altLang="zh-CN" sz="2100" dirty="0">
                <a:ea typeface="宋体" charset="-122"/>
              </a:rPr>
              <a:t>root</a:t>
            </a:r>
            <a:r>
              <a:rPr kumimoji="1" lang="zh-CN" altLang="en-US" sz="2100" dirty="0">
                <a:ea typeface="宋体" charset="-122"/>
              </a:rPr>
              <a:t>账号密码</a:t>
            </a:r>
            <a:endParaRPr kumimoji="1" lang="en-US" altLang="en-US" sz="2100" dirty="0">
              <a:ea typeface="宋体" charset="-122"/>
            </a:endParaRPr>
          </a:p>
          <a:p>
            <a:pPr algn="l">
              <a:defRPr/>
            </a:pPr>
            <a:r>
              <a:rPr kumimoji="1" lang="zh-CN" altLang="en-US" sz="2100" dirty="0">
                <a:ea typeface="宋体" charset="-122"/>
              </a:rPr>
              <a:t>            默认安装好的</a:t>
            </a:r>
          </a:p>
          <a:p>
            <a:pPr algn="l">
              <a:defRPr/>
            </a:pPr>
            <a:r>
              <a:rPr kumimoji="1" lang="en-US" altLang="zh-CN" sz="2100" dirty="0">
                <a:ea typeface="宋体" charset="-122"/>
              </a:rPr>
              <a:t>           </a:t>
            </a:r>
            <a:r>
              <a:rPr kumimoji="1" lang="en-US" altLang="zh-CN" sz="1800" dirty="0" err="1">
                <a:ea typeface="宋体" charset="-122"/>
              </a:rPr>
              <a:t>mysql</a:t>
            </a:r>
            <a:r>
              <a:rPr kumimoji="1" lang="zh-CN" altLang="en-US" sz="1800" dirty="0">
                <a:ea typeface="宋体" charset="-122"/>
              </a:rPr>
              <a:t>账号是</a:t>
            </a:r>
            <a:r>
              <a:rPr kumimoji="1" lang="en-US" altLang="zh-CN" sz="1800" dirty="0">
                <a:ea typeface="宋体" charset="-122"/>
              </a:rPr>
              <a:t>root</a:t>
            </a:r>
            <a:r>
              <a:rPr kumimoji="1" lang="zh-CN" altLang="en-US" sz="1800" dirty="0">
                <a:ea typeface="宋体" charset="-122"/>
              </a:rPr>
              <a:t>密码为空，从安全角度考虑，需要把</a:t>
            </a:r>
            <a:r>
              <a:rPr kumimoji="1" lang="en-US" altLang="zh-CN" sz="1800" dirty="0">
                <a:ea typeface="宋体" charset="-122"/>
              </a:rPr>
              <a:t>root</a:t>
            </a:r>
            <a:r>
              <a:rPr kumimoji="1" lang="zh-CN" altLang="en-US" sz="1800" dirty="0">
                <a:ea typeface="宋体" charset="-122"/>
              </a:rPr>
              <a:t>账号的密码      修改：</a:t>
            </a:r>
          </a:p>
          <a:p>
            <a:pPr algn="l">
              <a:defRPr/>
            </a:pPr>
            <a:r>
              <a:rPr kumimoji="1" lang="en-US" altLang="zh-CN" sz="2100" dirty="0">
                <a:ea typeface="宋体" charset="-122"/>
              </a:rPr>
              <a:t>           #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en-US" altLang="zh-CN" sz="2100" dirty="0">
                <a:ea typeface="宋体" charset="-122"/>
              </a:rPr>
              <a:t> </a:t>
            </a:r>
          </a:p>
          <a:p>
            <a:pPr algn="l">
              <a:defRPr/>
            </a:pPr>
            <a:r>
              <a:rPr kumimoji="1" lang="en-US" altLang="zh-CN" sz="2100" dirty="0">
                <a:ea typeface="宋体" charset="-122"/>
              </a:rPr>
              <a:t>           #use 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en-US" altLang="zh-CN" sz="2100" dirty="0">
                <a:ea typeface="宋体" charset="-122"/>
              </a:rPr>
              <a:t> </a:t>
            </a:r>
          </a:p>
          <a:p>
            <a:pPr>
              <a:defRPr/>
            </a:pPr>
            <a:r>
              <a:rPr kumimoji="1" lang="en-US" altLang="zh-CN" sz="2100" dirty="0">
                <a:ea typeface="宋体" charset="-122"/>
              </a:rPr>
              <a:t>           </a:t>
            </a:r>
            <a:r>
              <a:rPr kumimoji="1" lang="en-US" altLang="zh-CN" sz="2100" dirty="0" smtClean="0">
                <a:ea typeface="宋体" charset="-122"/>
              </a:rPr>
              <a:t>#update user set password=password('123456') where user='root</a:t>
            </a:r>
            <a:r>
              <a:rPr kumimoji="1" lang="en-US" altLang="zh-CN" sz="2100" dirty="0" smtClean="0">
                <a:ea typeface="宋体" charset="-122"/>
              </a:rPr>
              <a:t>';</a:t>
            </a:r>
            <a:endParaRPr kumimoji="1" lang="en-US" altLang="zh-CN" sz="2100" dirty="0">
              <a:ea typeface="宋体" charset="-122"/>
            </a:endParaRPr>
          </a:p>
          <a:p>
            <a:pPr algn="l">
              <a:defRPr/>
            </a:pPr>
            <a:r>
              <a:rPr kumimoji="1" lang="zh-CN" altLang="en-US" sz="2100" dirty="0">
                <a:ea typeface="宋体" charset="-122"/>
              </a:rPr>
              <a:t>           此句结尾需加上分号</a:t>
            </a:r>
            <a:r>
              <a:rPr kumimoji="1" lang="en-US" altLang="zh-CN" sz="2100" dirty="0">
                <a:ea typeface="宋体" charset="-122"/>
              </a:rPr>
              <a:t>;</a:t>
            </a:r>
            <a:r>
              <a:rPr kumimoji="1" lang="zh-CN" altLang="en-US" sz="2100" dirty="0">
                <a:ea typeface="宋体" charset="-122"/>
              </a:rPr>
              <a:t>分号不能漏掉</a:t>
            </a:r>
          </a:p>
          <a:p>
            <a:pPr algn="l">
              <a:defRPr/>
            </a:pPr>
            <a:r>
              <a:rPr kumimoji="1" lang="zh-CN" altLang="en-US" sz="2100" dirty="0">
                <a:ea typeface="宋体" charset="-122"/>
              </a:rPr>
              <a:t/>
            </a:r>
            <a:br>
              <a:rPr kumimoji="1" lang="zh-CN" altLang="en-US" sz="2100" dirty="0">
                <a:ea typeface="宋体" charset="-122"/>
              </a:rPr>
            </a:br>
            <a:endParaRPr kumimoji="1" lang="en-US" altLang="en-US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 err="1">
                <a:ea typeface="宋体" charset="-122"/>
              </a:rPr>
              <a:t>mysql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 </a:t>
            </a:r>
            <a:r>
              <a:rPr kumimoji="1" lang="en-US" altLang="zh-CN" sz="2100" dirty="0">
                <a:ea typeface="宋体" charset="-122"/>
              </a:rPr>
              <a:t>6.</a:t>
            </a:r>
            <a:r>
              <a:rPr kumimoji="1" lang="zh-CN" altLang="en-US" sz="2100" dirty="0">
                <a:ea typeface="宋体" charset="-122"/>
              </a:rPr>
              <a:t>重启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zh-CN" altLang="en-US" sz="2100" dirty="0">
                <a:ea typeface="宋体" charset="-122"/>
              </a:rPr>
              <a:t>服务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#service </a:t>
            </a:r>
            <a:r>
              <a:rPr kumimoji="1" lang="en-US" altLang="zh-CN" sz="2100" dirty="0" err="1">
                <a:ea typeface="宋体" charset="-122"/>
              </a:rPr>
              <a:t>mysqld</a:t>
            </a:r>
            <a:r>
              <a:rPr kumimoji="1" lang="en-US" altLang="zh-CN" sz="2100" dirty="0">
                <a:ea typeface="宋体" charset="-122"/>
              </a:rPr>
              <a:t> restart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7.</a:t>
            </a:r>
            <a:r>
              <a:rPr kumimoji="1" lang="zh-CN" altLang="en-US" sz="2100" dirty="0">
                <a:ea typeface="宋体" charset="-122"/>
              </a:rPr>
              <a:t>验证密码修改是否成功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#</a:t>
            </a:r>
            <a:r>
              <a:rPr kumimoji="1" lang="en-US" altLang="zh-CN" sz="2100" dirty="0" err="1">
                <a:ea typeface="宋体" charset="-122"/>
              </a:rPr>
              <a:t>mysql</a:t>
            </a:r>
            <a:r>
              <a:rPr kumimoji="1" lang="en-US" altLang="zh-CN" sz="2100" dirty="0">
                <a:ea typeface="宋体" charset="-122"/>
              </a:rPr>
              <a:t>  -u root –p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</a:t>
            </a:r>
            <a:r>
              <a:rPr kumimoji="1" lang="zh-CN" altLang="en-US" sz="2100" dirty="0">
                <a:ea typeface="宋体" charset="-122"/>
              </a:rPr>
              <a:t>然后输入新的密码，如成功登陆，则表明新密码已经生效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35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 err="1">
                <a:ea typeface="宋体" charset="-122"/>
              </a:rPr>
              <a:t>php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zh-CN" altLang="en-US" sz="1600" dirty="0">
                <a:latin typeface="+mn-ea"/>
              </a:rPr>
              <a:t>    </a:t>
            </a:r>
            <a:r>
              <a:rPr kumimoji="1" lang="en-US" altLang="zh-CN" sz="1600" dirty="0" smtClean="0">
                <a:latin typeface="+mn-ea"/>
              </a:rPr>
              <a:t>1</a:t>
            </a:r>
            <a:r>
              <a:rPr kumimoji="1" lang="en-US" altLang="zh-CN" sz="1600" dirty="0">
                <a:latin typeface="+mn-ea"/>
              </a:rPr>
              <a:t>.</a:t>
            </a:r>
            <a:r>
              <a:rPr kumimoji="1" lang="zh-CN" altLang="en-US" sz="1600" dirty="0">
                <a:latin typeface="+mn-ea"/>
              </a:rPr>
              <a:t>手动安装</a:t>
            </a:r>
            <a:r>
              <a:rPr kumimoji="1" lang="en-US" altLang="zh-CN" sz="1600" dirty="0" err="1">
                <a:latin typeface="+mn-ea"/>
              </a:rPr>
              <a:t>php</a:t>
            </a:r>
            <a:r>
              <a:rPr kumimoji="1" lang="zh-CN" altLang="en-US" sz="1600" dirty="0">
                <a:latin typeface="+mn-ea"/>
              </a:rPr>
              <a:t>       </a:t>
            </a:r>
            <a:endParaRPr kumimoji="1" lang="en-US" altLang="zh-CN" sz="1600" dirty="0" smtClean="0">
              <a:latin typeface="+mn-ea"/>
            </a:endParaRPr>
          </a:p>
          <a:p>
            <a:pPr marL="800100" lvl="1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sz="1600" dirty="0" smtClean="0">
                <a:latin typeface="+mn-ea"/>
              </a:rPr>
              <a:t>       </a:t>
            </a:r>
            <a:r>
              <a:rPr kumimoji="1" lang="en-US" sz="1600" dirty="0" smtClean="0">
                <a:latin typeface="+mn-ea"/>
              </a:rPr>
              <a:t> </a:t>
            </a:r>
            <a:r>
              <a:rPr kumimoji="1" lang="en-US" sz="1600" dirty="0" err="1" smtClean="0">
                <a:latin typeface="+mn-ea"/>
              </a:rPr>
              <a:t>cd</a:t>
            </a:r>
            <a:r>
              <a:rPr kumimoji="1" lang="en-US" sz="1600" dirty="0" smtClean="0">
                <a:latin typeface="+mn-ea"/>
              </a:rPr>
              <a:t> </a:t>
            </a:r>
            <a:r>
              <a:rPr kumimoji="1" lang="en-US" sz="1600" dirty="0" smtClean="0">
                <a:latin typeface="+mn-ea"/>
              </a:rPr>
              <a:t>/media/CentOS_6.4_Final/Packages</a:t>
            </a:r>
            <a:r>
              <a:rPr lang="en-US" sz="1600" dirty="0">
                <a:latin typeface="+mn-ea"/>
              </a:rPr>
              <a:t>	</a:t>
            </a:r>
            <a:endParaRPr lang="zh-CN" altLang="en-US" sz="1600" dirty="0">
              <a:latin typeface="+mn-ea"/>
            </a:endParaRPr>
          </a:p>
          <a:p>
            <a:pPr lvl="2" algn="l">
              <a:defRPr/>
            </a:pPr>
            <a:r>
              <a:rPr lang="en-US" sz="1600" dirty="0">
                <a:latin typeface="+mn-ea"/>
              </a:rPr>
              <a:t>rpm -</a:t>
            </a:r>
            <a:r>
              <a:rPr lang="en-US" sz="1600" dirty="0" err="1">
                <a:latin typeface="+mn-ea"/>
              </a:rPr>
              <a:t>ivh</a:t>
            </a:r>
            <a:r>
              <a:rPr lang="en-US" sz="1600" dirty="0">
                <a:latin typeface="+mn-ea"/>
              </a:rPr>
              <a:t> php-cli-5.3.3-22.el6.x86_64.rpm</a:t>
            </a:r>
            <a:endParaRPr lang="zh-CN" altLang="en-US" sz="1600" dirty="0">
              <a:latin typeface="+mn-ea"/>
            </a:endParaRPr>
          </a:p>
          <a:p>
            <a:pPr lvl="2" algn="l">
              <a:defRPr/>
            </a:pPr>
            <a:r>
              <a:rPr lang="en-US" sz="1600" dirty="0">
                <a:latin typeface="+mn-ea"/>
              </a:rPr>
              <a:t>rpm -</a:t>
            </a:r>
            <a:r>
              <a:rPr lang="en-US" sz="1600" dirty="0" err="1">
                <a:latin typeface="+mn-ea"/>
              </a:rPr>
              <a:t>ivh</a:t>
            </a:r>
            <a:r>
              <a:rPr lang="en-US" sz="1600" dirty="0">
                <a:latin typeface="+mn-ea"/>
              </a:rPr>
              <a:t> php-5.3.3-22.el6.x86_64.rpm</a:t>
            </a:r>
            <a:endParaRPr lang="zh-CN" altLang="en-US" sz="1600" dirty="0">
              <a:latin typeface="+mn-ea"/>
            </a:endParaRPr>
          </a:p>
          <a:p>
            <a:pPr lvl="2" algn="l">
              <a:defRPr/>
            </a:pPr>
            <a:r>
              <a:rPr lang="en-US" sz="1600" dirty="0">
                <a:latin typeface="+mn-ea"/>
              </a:rPr>
              <a:t>rpm -</a:t>
            </a:r>
            <a:r>
              <a:rPr lang="en-US" sz="1600" dirty="0" err="1">
                <a:latin typeface="+mn-ea"/>
              </a:rPr>
              <a:t>ivh</a:t>
            </a:r>
            <a:r>
              <a:rPr lang="en-US" sz="1600" dirty="0">
                <a:latin typeface="+mn-ea"/>
              </a:rPr>
              <a:t> libXpm-3.5.10-2.el6.x86_64.rpm</a:t>
            </a:r>
            <a:endParaRPr lang="zh-CN" altLang="en-US" sz="1600" dirty="0">
              <a:latin typeface="+mn-ea"/>
            </a:endParaRPr>
          </a:p>
          <a:p>
            <a:pPr lvl="2" algn="l">
              <a:defRPr/>
            </a:pPr>
            <a:r>
              <a:rPr lang="en-US" sz="1600" dirty="0">
                <a:latin typeface="+mn-ea"/>
              </a:rPr>
              <a:t>rpm -</a:t>
            </a:r>
            <a:r>
              <a:rPr lang="en-US" sz="1600" dirty="0" err="1">
                <a:latin typeface="+mn-ea"/>
              </a:rPr>
              <a:t>ivh</a:t>
            </a:r>
            <a:r>
              <a:rPr lang="en-US" sz="1600" dirty="0">
                <a:latin typeface="+mn-ea"/>
              </a:rPr>
              <a:t> php-gd-5.3.3-22.el6.x86_64.rpm</a:t>
            </a:r>
          </a:p>
          <a:p>
            <a:pPr lvl="2" algn="l">
              <a:defRPr/>
            </a:pPr>
            <a:r>
              <a:rPr lang="en-US" sz="1600" dirty="0">
                <a:latin typeface="+mn-ea"/>
              </a:rPr>
              <a:t>rpm -</a:t>
            </a:r>
            <a:r>
              <a:rPr lang="en-US" sz="1600" dirty="0" err="1">
                <a:latin typeface="+mn-ea"/>
              </a:rPr>
              <a:t>ivh</a:t>
            </a:r>
            <a:r>
              <a:rPr lang="en-US" sz="1600" dirty="0">
                <a:latin typeface="+mn-ea"/>
              </a:rPr>
              <a:t> php-xml-5.3.3-22.el6.x86_64.rpm</a:t>
            </a:r>
            <a:endParaRPr lang="en-US" altLang="zh-CN" sz="1600" dirty="0">
              <a:latin typeface="+mn-ea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en-US" sz="1600" dirty="0" smtClean="0">
                <a:latin typeface="+mn-ea"/>
                <a:cs typeface="Arial Unicode MS" pitchFamily="34" charset="-122"/>
              </a:rPr>
              <a:t>2.</a:t>
            </a:r>
            <a:r>
              <a:rPr lang="zh-CN" altLang="en-US" sz="1600" dirty="0" smtClean="0">
                <a:latin typeface="+mn-ea"/>
                <a:cs typeface="Arial Unicode MS" pitchFamily="34" charset="-122"/>
              </a:rPr>
              <a:t>修改</a:t>
            </a:r>
            <a:r>
              <a:rPr lang="en-US" altLang="zh-CN" sz="1600" dirty="0" smtClean="0">
                <a:latin typeface="+mn-ea"/>
                <a:cs typeface="Arial Unicode MS" pitchFamily="34" charset="-122"/>
              </a:rPr>
              <a:t>http</a:t>
            </a:r>
            <a:r>
              <a:rPr lang="zh-CN" altLang="en-US" sz="1600" dirty="0" smtClean="0">
                <a:latin typeface="+mn-ea"/>
                <a:cs typeface="Arial Unicode MS" pitchFamily="34" charset="-122"/>
              </a:rPr>
              <a:t>配置文件 </a:t>
            </a:r>
            <a:endParaRPr lang="en-US" altLang="zh-CN" sz="1600" dirty="0" smtClean="0">
              <a:latin typeface="+mn-ea"/>
              <a:cs typeface="Arial Unicode MS" pitchFamily="34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en-US" sz="1600" dirty="0" smtClean="0">
                <a:latin typeface="+mn-ea"/>
                <a:cs typeface="Arial Unicode MS" pitchFamily="34" charset="-122"/>
              </a:rPr>
              <a:t>vi </a:t>
            </a:r>
            <a:r>
              <a:rPr lang="en-US" altLang="en-US" sz="1600" dirty="0">
                <a:latin typeface="+mn-ea"/>
                <a:cs typeface="Arial Unicode MS" pitchFamily="34" charset="-122"/>
              </a:rPr>
              <a:t>/etc/</a:t>
            </a:r>
            <a:r>
              <a:rPr lang="en-US" altLang="en-US" sz="1600" dirty="0" err="1">
                <a:latin typeface="+mn-ea"/>
                <a:cs typeface="Arial Unicode MS" pitchFamily="34" charset="-122"/>
              </a:rPr>
              <a:t>httpd</a:t>
            </a:r>
            <a:r>
              <a:rPr lang="en-US" altLang="en-US" sz="1600" dirty="0">
                <a:latin typeface="+mn-ea"/>
                <a:cs typeface="Arial Unicode MS" pitchFamily="34" charset="-122"/>
              </a:rPr>
              <a:t>/conf/</a:t>
            </a:r>
            <a:r>
              <a:rPr lang="en-US" altLang="en-US" sz="1600" dirty="0" err="1">
                <a:latin typeface="+mn-ea"/>
                <a:cs typeface="Arial Unicode MS" pitchFamily="34" charset="-122"/>
              </a:rPr>
              <a:t>httpd.conf</a:t>
            </a:r>
            <a:endParaRPr lang="en-US" altLang="en-US" sz="1600" dirty="0">
              <a:latin typeface="+mn-ea"/>
              <a:cs typeface="Arial Unicode MS" pitchFamily="34" charset="-122"/>
            </a:endParaRPr>
          </a:p>
          <a:p>
            <a:pPr algn="l">
              <a:defRPr/>
            </a:pPr>
            <a:r>
              <a:rPr lang="en-US" altLang="en-US" sz="1600" dirty="0">
                <a:latin typeface="+mn-ea"/>
                <a:cs typeface="Arial Unicode MS" pitchFamily="34" charset="-122"/>
              </a:rPr>
              <a:t>         </a:t>
            </a:r>
            <a:r>
              <a:rPr lang="en-US" altLang="en-US" sz="1600" dirty="0" smtClean="0">
                <a:latin typeface="+mn-ea"/>
                <a:cs typeface="Arial Unicode MS" pitchFamily="34" charset="-122"/>
              </a:rPr>
              <a:t>      </a:t>
            </a:r>
            <a:r>
              <a:rPr lang="zh-CN" altLang="en-US" sz="1600" dirty="0" smtClean="0">
                <a:latin typeface="+mn-ea"/>
                <a:cs typeface="Arial Unicode MS" pitchFamily="34" charset="-122"/>
              </a:rPr>
              <a:t>在</a:t>
            </a:r>
            <a:r>
              <a:rPr lang="en-US" altLang="zh-CN" sz="1600" dirty="0" err="1">
                <a:latin typeface="+mn-ea"/>
                <a:cs typeface="Arial Unicode MS" pitchFamily="34" charset="-122"/>
              </a:rPr>
              <a:t>AddType</a:t>
            </a:r>
            <a:r>
              <a:rPr lang="en-US" altLang="zh-CN" sz="1600" dirty="0">
                <a:latin typeface="+mn-ea"/>
                <a:cs typeface="Arial Unicode MS" pitchFamily="34" charset="-122"/>
              </a:rPr>
              <a:t> application/x-</a:t>
            </a:r>
            <a:r>
              <a:rPr lang="en-US" altLang="zh-CN" sz="1600" dirty="0" err="1">
                <a:latin typeface="+mn-ea"/>
                <a:cs typeface="Arial Unicode MS" pitchFamily="34" charset="-122"/>
              </a:rPr>
              <a:t>gzip</a:t>
            </a:r>
            <a:r>
              <a:rPr lang="en-US" altLang="zh-CN" sz="1600" dirty="0">
                <a:latin typeface="+mn-ea"/>
                <a:cs typeface="Arial Unicode MS" pitchFamily="34" charset="-122"/>
              </a:rPr>
              <a:t> .</a:t>
            </a:r>
            <a:r>
              <a:rPr lang="en-US" altLang="zh-CN" sz="1600" dirty="0" err="1">
                <a:latin typeface="+mn-ea"/>
                <a:cs typeface="Arial Unicode MS" pitchFamily="34" charset="-122"/>
              </a:rPr>
              <a:t>gz</a:t>
            </a:r>
            <a:r>
              <a:rPr lang="en-US" altLang="zh-CN" sz="1600" dirty="0">
                <a:latin typeface="+mn-ea"/>
                <a:cs typeface="Arial Unicode MS" pitchFamily="34" charset="-122"/>
              </a:rPr>
              <a:t> .</a:t>
            </a:r>
            <a:r>
              <a:rPr lang="en-US" altLang="zh-CN" sz="1600" dirty="0" err="1">
                <a:latin typeface="+mn-ea"/>
                <a:cs typeface="Arial Unicode MS" pitchFamily="34" charset="-122"/>
              </a:rPr>
              <a:t>tgz</a:t>
            </a:r>
            <a:r>
              <a:rPr lang="en-US" sz="1600" dirty="0">
                <a:latin typeface="+mn-ea"/>
              </a:rPr>
              <a:t> </a:t>
            </a:r>
            <a:r>
              <a:rPr lang="zh-CN" altLang="en-US" sz="1600" dirty="0">
                <a:latin typeface="+mn-ea"/>
                <a:cs typeface="Arial Unicode MS" pitchFamily="34" charset="-122"/>
              </a:rPr>
              <a:t>后添加</a:t>
            </a:r>
            <a:endParaRPr lang="en-US" altLang="zh-CN" sz="1600" dirty="0">
              <a:latin typeface="+mn-ea"/>
              <a:cs typeface="Arial Unicode MS" pitchFamily="34" charset="-122"/>
            </a:endParaRPr>
          </a:p>
          <a:p>
            <a:pPr algn="l">
              <a:defRPr/>
            </a:pPr>
            <a:r>
              <a:rPr lang="en-US" sz="1600" dirty="0">
                <a:latin typeface="+mn-ea"/>
                <a:cs typeface="Arial Unicode MS" pitchFamily="34" charset="-122"/>
              </a:rPr>
              <a:t>        </a:t>
            </a:r>
            <a:r>
              <a:rPr lang="en-US" sz="1600" dirty="0" smtClean="0">
                <a:latin typeface="+mn-ea"/>
                <a:cs typeface="Arial Unicode MS" pitchFamily="34" charset="-122"/>
              </a:rPr>
              <a:t>          </a:t>
            </a:r>
            <a:r>
              <a:rPr lang="en-US" sz="1600" dirty="0" err="1">
                <a:solidFill>
                  <a:srgbClr val="FF0000"/>
                </a:solidFill>
                <a:latin typeface="+mn-ea"/>
              </a:rPr>
              <a:t>AddType</a:t>
            </a:r>
            <a:r>
              <a:rPr lang="en-US" sz="1600" dirty="0">
                <a:solidFill>
                  <a:srgbClr val="FF0000"/>
                </a:solidFill>
                <a:latin typeface="+mn-ea"/>
              </a:rPr>
              <a:t> application/x-</a:t>
            </a:r>
            <a:r>
              <a:rPr lang="en-US" sz="1600" dirty="0" err="1">
                <a:solidFill>
                  <a:srgbClr val="FF0000"/>
                </a:solidFill>
                <a:latin typeface="+mn-ea"/>
              </a:rPr>
              <a:t>httpd</a:t>
            </a:r>
            <a:r>
              <a:rPr lang="en-US" sz="1600" dirty="0">
                <a:solidFill>
                  <a:srgbClr val="FF0000"/>
                </a:solidFill>
                <a:latin typeface="+mn-ea"/>
              </a:rPr>
              <a:t>-</a:t>
            </a:r>
            <a:r>
              <a:rPr lang="en-US" sz="1600" dirty="0" err="1">
                <a:solidFill>
                  <a:srgbClr val="FF0000"/>
                </a:solidFill>
                <a:latin typeface="+mn-ea"/>
              </a:rPr>
              <a:t>php</a:t>
            </a:r>
            <a:r>
              <a:rPr lang="en-US" sz="1600" dirty="0">
                <a:solidFill>
                  <a:srgbClr val="FF0000"/>
                </a:solidFill>
                <a:latin typeface="+mn-ea"/>
              </a:rPr>
              <a:t> .</a:t>
            </a:r>
            <a:r>
              <a:rPr lang="en-US" sz="1600" dirty="0" err="1">
                <a:solidFill>
                  <a:srgbClr val="FF0000"/>
                </a:solidFill>
                <a:latin typeface="+mn-ea"/>
              </a:rPr>
              <a:t>php</a:t>
            </a:r>
            <a:r>
              <a:rPr lang="en-US" sz="1600" dirty="0">
                <a:solidFill>
                  <a:srgbClr val="FF0000"/>
                </a:solidFill>
                <a:latin typeface="+mn-ea"/>
              </a:rPr>
              <a:t> .php3 .</a:t>
            </a:r>
            <a:r>
              <a:rPr lang="en-US" sz="1600" dirty="0" err="1">
                <a:solidFill>
                  <a:srgbClr val="FF0000"/>
                </a:solidFill>
                <a:latin typeface="+mn-ea"/>
              </a:rPr>
              <a:t>phtml</a:t>
            </a:r>
            <a:r>
              <a:rPr lang="en-US" sz="1600" dirty="0">
                <a:solidFill>
                  <a:srgbClr val="FF0000"/>
                </a:solidFill>
                <a:latin typeface="+mn-ea"/>
              </a:rPr>
              <a:t> .inc</a:t>
            </a:r>
          </a:p>
          <a:p>
            <a:pPr algn="l">
              <a:defRPr/>
            </a:pPr>
            <a:r>
              <a:rPr lang="en-US" altLang="en-US" sz="1600" dirty="0">
                <a:latin typeface="+mn-ea"/>
                <a:cs typeface="Arial Unicode MS" pitchFamily="34" charset="-122"/>
              </a:rPr>
              <a:t>           </a:t>
            </a:r>
            <a:r>
              <a:rPr lang="en-US" altLang="en-US" sz="1600" dirty="0" smtClean="0">
                <a:latin typeface="+mn-ea"/>
                <a:cs typeface="Arial Unicode MS" pitchFamily="34" charset="-122"/>
              </a:rPr>
              <a:t>     3.</a:t>
            </a:r>
            <a:r>
              <a:rPr lang="zh-CN" altLang="en-US" sz="1600" dirty="0">
                <a:latin typeface="+mn-ea"/>
                <a:cs typeface="Arial Unicode MS" pitchFamily="34" charset="-122"/>
              </a:rPr>
              <a:t>重启</a:t>
            </a:r>
            <a:r>
              <a:rPr lang="en-US" altLang="zh-CN" sz="1600" dirty="0">
                <a:latin typeface="+mn-ea"/>
                <a:cs typeface="Arial Unicode MS" pitchFamily="34" charset="-122"/>
              </a:rPr>
              <a:t>apache</a:t>
            </a:r>
            <a:r>
              <a:rPr lang="zh-CN" altLang="en-US" sz="1600" dirty="0">
                <a:latin typeface="+mn-ea"/>
                <a:cs typeface="Arial Unicode MS" pitchFamily="34" charset="-122"/>
              </a:rPr>
              <a:t>服务</a:t>
            </a:r>
            <a:endParaRPr lang="en-US" altLang="zh-CN" sz="1600" dirty="0">
              <a:latin typeface="+mn-ea"/>
              <a:cs typeface="Arial Unicode MS" pitchFamily="34" charset="-122"/>
            </a:endParaRPr>
          </a:p>
          <a:p>
            <a:pPr algn="l">
              <a:defRPr/>
            </a:pPr>
            <a:r>
              <a:rPr lang="en-US" altLang="en-US" sz="1600" dirty="0">
                <a:latin typeface="+mn-ea"/>
                <a:cs typeface="Arial Unicode MS" pitchFamily="34" charset="-122"/>
              </a:rPr>
              <a:t>           </a:t>
            </a:r>
            <a:r>
              <a:rPr lang="en-US" altLang="en-US" sz="1600" dirty="0" smtClean="0">
                <a:latin typeface="+mn-ea"/>
                <a:cs typeface="Arial Unicode MS" pitchFamily="34" charset="-122"/>
              </a:rPr>
              <a:t>     service </a:t>
            </a:r>
            <a:r>
              <a:rPr lang="en-US" altLang="en-US" sz="1600" dirty="0" err="1">
                <a:latin typeface="+mn-ea"/>
                <a:cs typeface="Arial Unicode MS" pitchFamily="34" charset="-122"/>
              </a:rPr>
              <a:t>httpd</a:t>
            </a:r>
            <a:r>
              <a:rPr lang="en-US" altLang="en-US" sz="1600" dirty="0">
                <a:latin typeface="+mn-ea"/>
                <a:cs typeface="Arial Unicode MS" pitchFamily="34" charset="-122"/>
              </a:rPr>
              <a:t> </a:t>
            </a:r>
            <a:r>
              <a:rPr lang="en-US" altLang="en-US" sz="1600" dirty="0" smtClean="0">
                <a:latin typeface="+mn-ea"/>
                <a:cs typeface="Arial Unicode MS" pitchFamily="34" charset="-122"/>
              </a:rPr>
              <a:t>restart</a:t>
            </a:r>
          </a:p>
          <a:p>
            <a:pPr marL="1257300" lvl="2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lang="en-US" altLang="en-US" dirty="0" smtClean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algn="l">
              <a:defRPr/>
            </a:pPr>
            <a:endParaRPr lang="en-US" altLang="en-US" sz="1600" dirty="0">
              <a:latin typeface="+mn-ea"/>
              <a:cs typeface="Arial Unicode MS" pitchFamily="34" charset="-122"/>
            </a:endParaRPr>
          </a:p>
          <a:p>
            <a:pPr algn="l">
              <a:defRPr/>
            </a:pP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5"/>
          <p:cNvSpPr txBox="1">
            <a:spLocks/>
          </p:cNvSpPr>
          <p:nvPr/>
        </p:nvSpPr>
        <p:spPr bwMode="auto">
          <a:xfrm>
            <a:off x="7686675" y="714375"/>
            <a:ext cx="1117600" cy="533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 </a:t>
            </a:r>
            <a:fld id="{A7C5CBB1-7521-4A8F-A9A0-B2C10F7F5366}" type="slidenum">
              <a:rPr kumimoji="0" lang="de-DE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35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 err="1">
                <a:ea typeface="宋体" charset="-122"/>
              </a:rPr>
              <a:t>php</a:t>
            </a:r>
            <a:r>
              <a:rPr kumimoji="1" lang="zh-CN" altLang="en-US" sz="2100" b="1" dirty="0" smtClean="0">
                <a:ea typeface="宋体" charset="-122"/>
              </a:rPr>
              <a:t>服务</a:t>
            </a:r>
            <a:endParaRPr kumimoji="1" lang="en-US" altLang="zh-CN" sz="2100" b="1" dirty="0" smtClean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 smtClean="0">
                <a:ea typeface="宋体" charset="-122"/>
              </a:rPr>
              <a:t>4.php</a:t>
            </a:r>
            <a:r>
              <a:rPr kumimoji="1" lang="zh-CN" altLang="en-US" sz="2100" dirty="0" smtClean="0">
                <a:ea typeface="宋体" charset="-122"/>
              </a:rPr>
              <a:t>调试代码</a:t>
            </a:r>
            <a:endParaRPr kumimoji="1" lang="en-US" altLang="zh-CN" sz="2100" dirty="0" smtClean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zh-CN" altLang="en-US" sz="2100" dirty="0" smtClean="0">
                <a:ea typeface="宋体" charset="-122"/>
              </a:rPr>
              <a:t>在</a:t>
            </a:r>
            <a:r>
              <a:rPr kumimoji="1" lang="en-US" altLang="zh-CN" sz="2100" dirty="0">
                <a:ea typeface="宋体" charset="-122"/>
              </a:rPr>
              <a:t>/</a:t>
            </a:r>
            <a:r>
              <a:rPr kumimoji="1" lang="en-US" altLang="zh-CN" sz="2100" dirty="0" err="1">
                <a:ea typeface="宋体" charset="-122"/>
              </a:rPr>
              <a:t>var</a:t>
            </a:r>
            <a:r>
              <a:rPr kumimoji="1" lang="en-US" altLang="zh-CN" sz="2100" dirty="0">
                <a:ea typeface="宋体" charset="-122"/>
              </a:rPr>
              <a:t>/www/html</a:t>
            </a:r>
            <a:r>
              <a:rPr kumimoji="1" lang="zh-CN" altLang="en-US" sz="2100" dirty="0">
                <a:ea typeface="宋体" charset="-122"/>
              </a:rPr>
              <a:t>目录下新建</a:t>
            </a:r>
            <a:r>
              <a:rPr kumimoji="1" lang="en-US" altLang="zh-CN" sz="2100" dirty="0">
                <a:ea typeface="宋体" charset="-122"/>
              </a:rPr>
              <a:t>test.php</a:t>
            </a:r>
            <a:r>
              <a:rPr kumimoji="1" lang="zh-CN" altLang="en-US" sz="2100" dirty="0">
                <a:ea typeface="宋体" charset="-122"/>
              </a:rPr>
              <a:t>内容包含：</a:t>
            </a:r>
          </a:p>
          <a:p>
            <a:pPr algn="l">
              <a:defRPr/>
            </a:pPr>
            <a:r>
              <a:rPr lang="en-US" altLang="en-US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    &lt;?</a:t>
            </a:r>
            <a:r>
              <a:rPr lang="en-US" altLang="en-US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php</a:t>
            </a:r>
            <a:endParaRPr lang="en-US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algn="l">
              <a:defRPr/>
            </a:pPr>
            <a:r>
              <a:rPr lang="en-US" alt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</a:t>
            </a:r>
            <a:r>
              <a:rPr lang="en-US" altLang="en-US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</a:t>
            </a:r>
            <a:r>
              <a:rPr lang="en-US" altLang="en-US" dirty="0" err="1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phpinfo</a:t>
            </a:r>
            <a:r>
              <a:rPr lang="en-US" alt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();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algn="l">
              <a:defRPr/>
            </a:pPr>
            <a:r>
              <a:rPr lang="en-US" altLang="en-US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    ?&gt;</a:t>
            </a:r>
          </a:p>
          <a:p>
            <a:pPr algn="l">
              <a:defRPr/>
            </a:pPr>
            <a:r>
              <a:rPr lang="en-US" altLang="zh-CN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-32" y="1071546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安装</a:t>
            </a:r>
            <a:r>
              <a:rPr kumimoji="1" lang="en-US" altLang="zh-CN" sz="2100" b="1" dirty="0" err="1">
                <a:ea typeface="宋体" charset="-122"/>
              </a:rPr>
              <a:t>php</a:t>
            </a:r>
            <a:r>
              <a:rPr kumimoji="1" lang="zh-CN" altLang="en-US" sz="2100" b="1" dirty="0">
                <a:ea typeface="宋体" charset="-122"/>
              </a:rPr>
              <a:t>服务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   5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r>
              <a:rPr kumimoji="1" lang="zh-CN" altLang="en-US" sz="2100" dirty="0">
                <a:ea typeface="宋体" charset="-122"/>
              </a:rPr>
              <a:t>然后在浏览器输入地址</a:t>
            </a:r>
            <a:r>
              <a:rPr kumimoji="1" lang="zh-CN" altLang="en-US" sz="2100" dirty="0" smtClean="0">
                <a:ea typeface="宋体" charset="-122"/>
              </a:rPr>
              <a:t>：</a:t>
            </a:r>
            <a:r>
              <a:rPr kumimoji="1" lang="en-US" altLang="zh-CN" sz="2100" dirty="0" smtClean="0">
                <a:ea typeface="宋体" charset="-122"/>
              </a:rPr>
              <a:t>http://ip</a:t>
            </a:r>
            <a:r>
              <a:rPr kumimoji="1" lang="en-US" altLang="en-US" sz="2100" dirty="0" smtClean="0">
                <a:ea typeface="宋体" charset="-122"/>
              </a:rPr>
              <a:t>/test.php</a:t>
            </a:r>
            <a:endParaRPr kumimoji="1" lang="en-US" altLang="en-US" sz="2100" dirty="0">
              <a:ea typeface="宋体" charset="-122"/>
            </a:endParaRPr>
          </a:p>
          <a:p>
            <a:pPr algn="l">
              <a:defRPr/>
            </a:pPr>
            <a:r>
              <a:rPr kumimoji="1" lang="zh-CN" altLang="en-US" sz="2100" dirty="0">
                <a:ea typeface="宋体" charset="-122"/>
              </a:rPr>
              <a:t>             若显示下图，则表明配置成功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928934"/>
            <a:ext cx="6534150" cy="3571900"/>
          </a:xfrm>
          <a:prstGeom prst="rect">
            <a:avLst/>
          </a:prstGeom>
          <a:noFill/>
          <a:ln w="19050" algn="ctr">
            <a:noFill/>
            <a:prstDash val="sysDot"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1"/>
            <a:ext cx="8523287" cy="507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100" b="1" dirty="0">
                <a:ea typeface="宋体" charset="-122"/>
              </a:rPr>
              <a:t>rpm</a:t>
            </a:r>
            <a:r>
              <a:rPr kumimoji="1" lang="zh-CN" altLang="en-US" sz="2100" b="1" dirty="0">
                <a:ea typeface="宋体" charset="-122"/>
              </a:rPr>
              <a:t>方式安装搭建</a:t>
            </a:r>
            <a:r>
              <a:rPr kumimoji="1" lang="en-US" altLang="zh-CN" sz="2100" b="1" dirty="0">
                <a:ea typeface="宋体" charset="-122"/>
              </a:rPr>
              <a:t>LAMP</a:t>
            </a: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zh-CN" altLang="en-US" sz="2100" b="1" dirty="0">
                <a:ea typeface="宋体" charset="-122"/>
              </a:rPr>
              <a:t>以上三个服务器配置完成后，将</a:t>
            </a:r>
            <a:r>
              <a:rPr kumimoji="1" lang="en-US" altLang="zh-CN" sz="2100" b="1" dirty="0" err="1">
                <a:ea typeface="宋体" charset="-122"/>
              </a:rPr>
              <a:t>httpd</a:t>
            </a:r>
            <a:r>
              <a:rPr kumimoji="1" lang="zh-CN" altLang="en-US" sz="2100" b="1" dirty="0">
                <a:ea typeface="宋体" charset="-122"/>
              </a:rPr>
              <a:t>和</a:t>
            </a:r>
            <a:r>
              <a:rPr kumimoji="1" lang="en-US" altLang="zh-CN" sz="2100" b="1" dirty="0" err="1">
                <a:ea typeface="宋体" charset="-122"/>
              </a:rPr>
              <a:t>mysqld</a:t>
            </a:r>
            <a:r>
              <a:rPr kumimoji="1" lang="zh-CN" altLang="en-US" sz="2100" b="1" dirty="0">
                <a:ea typeface="宋体" charset="-122"/>
              </a:rPr>
              <a:t>服务设置成开机</a:t>
            </a:r>
            <a:r>
              <a:rPr kumimoji="1" lang="zh-CN" altLang="en-US" sz="2100" b="1" dirty="0" smtClean="0">
                <a:ea typeface="宋体" charset="-122"/>
              </a:rPr>
              <a:t>启</a:t>
            </a:r>
            <a:endParaRPr kumimoji="1" lang="en-US" altLang="zh-CN" sz="2100" b="1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  <a:r>
              <a:rPr kumimoji="1" lang="en-US" altLang="zh-CN" sz="2100" b="1" dirty="0" err="1" smtClean="0">
                <a:ea typeface="宋体" charset="-122"/>
              </a:rPr>
              <a:t>chkconfig</a:t>
            </a:r>
            <a:r>
              <a:rPr kumimoji="1" lang="en-US" altLang="zh-CN" sz="2100" b="1" dirty="0" smtClean="0">
                <a:ea typeface="宋体" charset="-122"/>
              </a:rPr>
              <a:t>    --level     2345   </a:t>
            </a:r>
            <a:r>
              <a:rPr kumimoji="1" lang="en-US" altLang="zh-CN" sz="2100" b="1" dirty="0" err="1" smtClean="0">
                <a:ea typeface="宋体" charset="-122"/>
              </a:rPr>
              <a:t>httpd</a:t>
            </a:r>
            <a:r>
              <a:rPr kumimoji="1" lang="en-US" altLang="zh-CN" sz="2100" b="1" dirty="0" smtClean="0">
                <a:ea typeface="宋体" charset="-122"/>
              </a:rPr>
              <a:t>       on     </a:t>
            </a:r>
            <a:endParaRPr kumimoji="1" lang="en-US" altLang="zh-CN" sz="2100" b="1" dirty="0">
              <a:ea typeface="宋体" charset="-122"/>
            </a:endParaRPr>
          </a:p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  <a:r>
              <a:rPr kumimoji="1" lang="en-US" altLang="zh-CN" sz="2100" b="1" dirty="0" err="1">
                <a:ea typeface="宋体" charset="-122"/>
              </a:rPr>
              <a:t>chkconfig</a:t>
            </a:r>
            <a:r>
              <a:rPr kumimoji="1" lang="en-US" altLang="zh-CN" sz="2100" b="1" dirty="0">
                <a:ea typeface="宋体" charset="-122"/>
              </a:rPr>
              <a:t> </a:t>
            </a:r>
            <a:r>
              <a:rPr kumimoji="1" lang="en-US" altLang="zh-CN" sz="2100" b="1" dirty="0" smtClean="0">
                <a:ea typeface="宋体" charset="-122"/>
              </a:rPr>
              <a:t>   --level     2345  </a:t>
            </a:r>
            <a:r>
              <a:rPr kumimoji="1" lang="en-US" altLang="zh-CN" sz="2100" b="1" dirty="0" err="1" smtClean="0">
                <a:ea typeface="宋体" charset="-122"/>
              </a:rPr>
              <a:t>mysqld</a:t>
            </a:r>
            <a:r>
              <a:rPr kumimoji="1" lang="en-US" altLang="zh-CN" sz="2100" b="1" dirty="0" smtClean="0">
                <a:ea typeface="宋体" charset="-122"/>
              </a:rPr>
              <a:t>    on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 smtClean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3" name="Rectangle 15"/>
          <p:cNvSpPr>
            <a:spLocks noChangeArrowheads="1"/>
          </p:cNvSpPr>
          <p:nvPr/>
        </p:nvSpPr>
        <p:spPr bwMode="auto">
          <a:xfrm>
            <a:off x="620713" y="1428751"/>
            <a:ext cx="8523287" cy="507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 sz="2400" b="1" dirty="0" smtClean="0">
                <a:latin typeface="+mj-ea"/>
                <a:ea typeface="+mj-ea"/>
              </a:rPr>
              <a:t>yum</a:t>
            </a:r>
            <a:r>
              <a:rPr kumimoji="1" lang="zh-CN" altLang="en-US" sz="2400" b="1" dirty="0" smtClean="0">
                <a:latin typeface="+mj-ea"/>
                <a:ea typeface="+mj-ea"/>
              </a:rPr>
              <a:t>方式</a:t>
            </a:r>
            <a:r>
              <a:rPr kumimoji="1" lang="zh-CN" altLang="en-US" sz="2400" b="1" dirty="0">
                <a:latin typeface="+mj-ea"/>
                <a:ea typeface="+mj-ea"/>
              </a:rPr>
              <a:t>安装搭建</a:t>
            </a:r>
            <a:r>
              <a:rPr kumimoji="1" lang="en-US" altLang="zh-CN" sz="2400" b="1" dirty="0" smtClean="0">
                <a:latin typeface="+mj-ea"/>
                <a:ea typeface="+mj-ea"/>
              </a:rPr>
              <a:t>LAMP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zh-CN" altLang="en-US" sz="2100" b="1" dirty="0" smtClean="0">
                <a:ea typeface="宋体" charset="-122"/>
              </a:rPr>
              <a:t>思考：如何使用</a:t>
            </a:r>
            <a:r>
              <a:rPr kumimoji="1" lang="en-US" altLang="zh-CN" sz="2100" b="1" dirty="0" smtClean="0">
                <a:ea typeface="宋体" charset="-122"/>
              </a:rPr>
              <a:t>yum</a:t>
            </a:r>
            <a:r>
              <a:rPr kumimoji="1" lang="zh-CN" altLang="en-US" sz="2100" b="1" dirty="0" smtClean="0">
                <a:ea typeface="宋体" charset="-122"/>
              </a:rPr>
              <a:t>方式安装搭建</a:t>
            </a: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 smtClean="0">
                <a:ea typeface="宋体" charset="-122"/>
              </a:rPr>
              <a:t>？</a:t>
            </a: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zh-CN" altLang="en-US" sz="2100" b="1" dirty="0" smtClean="0">
                <a:ea typeface="宋体" charset="-122"/>
              </a:rPr>
              <a:t>任务：恢复快照，使用</a:t>
            </a:r>
            <a:r>
              <a:rPr kumimoji="1" lang="en-US" altLang="zh-CN" sz="2100" b="1" dirty="0" smtClean="0">
                <a:ea typeface="宋体" charset="-122"/>
              </a:rPr>
              <a:t>yum</a:t>
            </a:r>
            <a:r>
              <a:rPr kumimoji="1" lang="zh-CN" altLang="en-US" sz="2100" b="1" dirty="0" smtClean="0">
                <a:ea typeface="宋体" charset="-122"/>
              </a:rPr>
              <a:t>搭建</a:t>
            </a:r>
            <a:r>
              <a:rPr kumimoji="1" lang="en-US" altLang="zh-CN" sz="2100" b="1" dirty="0" smtClean="0">
                <a:ea typeface="宋体" charset="-122"/>
              </a:rPr>
              <a:t>LAMP</a:t>
            </a: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 smtClean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2126" y="550847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3" name="Rectangle 15"/>
          <p:cNvSpPr>
            <a:spLocks noChangeArrowheads="1"/>
          </p:cNvSpPr>
          <p:nvPr/>
        </p:nvSpPr>
        <p:spPr bwMode="auto">
          <a:xfrm>
            <a:off x="142844" y="1214422"/>
            <a:ext cx="8523287" cy="507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 smtClean="0">
                <a:ea typeface="宋体" charset="-122"/>
              </a:rPr>
              <a:t>环境植入</a:t>
            </a:r>
            <a:r>
              <a:rPr kumimoji="1" lang="en-US" altLang="zh-CN" sz="2100" b="1" dirty="0" err="1" smtClean="0">
                <a:ea typeface="宋体" charset="-122"/>
              </a:rPr>
              <a:t>bugfree</a:t>
            </a:r>
            <a:endParaRPr kumimoji="1" lang="en-US" altLang="zh-CN" sz="2100" b="1" dirty="0" smtClean="0">
              <a:ea typeface="宋体" charset="-122"/>
            </a:endParaRPr>
          </a:p>
          <a:p>
            <a:pPr marL="1714500" lvl="3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zh-CN" altLang="en-US" sz="2100" b="1" dirty="0" smtClean="0">
                <a:ea typeface="宋体" charset="-122"/>
              </a:rPr>
              <a:t>什么是</a:t>
            </a:r>
            <a:r>
              <a:rPr kumimoji="1" lang="en-US" altLang="zh-CN" sz="2100" b="1" dirty="0" err="1" smtClean="0">
                <a:ea typeface="宋体" charset="-122"/>
              </a:rPr>
              <a:t>bugfree</a:t>
            </a:r>
            <a:endParaRPr kumimoji="1" lang="en-US" altLang="zh-CN" sz="2100" b="1" dirty="0" smtClean="0">
              <a:ea typeface="宋体" charset="-122"/>
            </a:endParaRPr>
          </a:p>
          <a:p>
            <a:pPr marL="1714500" lvl="3" indent="-3429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 smtClean="0">
                <a:ea typeface="宋体" charset="-122"/>
              </a:rPr>
              <a:t>     </a:t>
            </a:r>
            <a:r>
              <a:rPr kumimoji="1" lang="en-US" altLang="zh-CN" sz="2100" b="1" dirty="0" err="1" smtClean="0">
                <a:ea typeface="宋体" charset="-122"/>
              </a:rPr>
              <a:t>BugFree</a:t>
            </a:r>
            <a:r>
              <a:rPr kumimoji="1" lang="zh-CN" altLang="en-US" sz="2100" b="1" dirty="0" smtClean="0">
                <a:ea typeface="宋体" charset="-122"/>
              </a:rPr>
              <a:t>的来源 </a:t>
            </a:r>
            <a:r>
              <a:rPr kumimoji="1" lang="en-US" altLang="zh-CN" sz="2100" b="1" dirty="0" err="1" smtClean="0">
                <a:ea typeface="宋体" charset="-122"/>
              </a:rPr>
              <a:t>BugFree</a:t>
            </a:r>
            <a:r>
              <a:rPr kumimoji="1" lang="zh-CN" altLang="en-US" sz="2100" b="1" dirty="0" smtClean="0">
                <a:ea typeface="宋体" charset="-122"/>
              </a:rPr>
              <a:t>是借鉴微软的研发流程和</a:t>
            </a:r>
            <a:r>
              <a:rPr kumimoji="1" lang="en-US" altLang="zh-CN" sz="2100" b="1" dirty="0" smtClean="0">
                <a:ea typeface="宋体" charset="-122"/>
              </a:rPr>
              <a:t>Bug</a:t>
            </a:r>
            <a:r>
              <a:rPr kumimoji="1" lang="zh-CN" altLang="en-US" sz="2100" b="1" dirty="0" smtClean="0">
                <a:ea typeface="宋体" charset="-122"/>
              </a:rPr>
              <a:t>管理理念，使用</a:t>
            </a:r>
            <a:r>
              <a:rPr kumimoji="1" lang="en-US" altLang="zh-CN" sz="2100" b="1" dirty="0" err="1" smtClean="0">
                <a:ea typeface="宋体" charset="-122"/>
              </a:rPr>
              <a:t>PHP+MySQL</a:t>
            </a:r>
            <a:r>
              <a:rPr kumimoji="1" lang="zh-CN" altLang="en-US" sz="2100" b="1" dirty="0" smtClean="0">
                <a:ea typeface="宋体" charset="-122"/>
              </a:rPr>
              <a:t>独立写出的一个</a:t>
            </a:r>
            <a:r>
              <a:rPr kumimoji="1" lang="en-US" altLang="zh-CN" sz="2100" b="1" dirty="0" smtClean="0">
                <a:ea typeface="宋体" charset="-122"/>
              </a:rPr>
              <a:t>Bug</a:t>
            </a:r>
            <a:r>
              <a:rPr kumimoji="1" lang="zh-CN" altLang="en-US" sz="2100" b="1" dirty="0" smtClean="0">
                <a:ea typeface="宋体" charset="-122"/>
              </a:rPr>
              <a:t>管理 系统。简单实用、免费并且开放源代码</a:t>
            </a: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 smtClean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 smtClean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1"/>
            <a:ext cx="8166129" cy="507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1.</a:t>
            </a:r>
            <a:r>
              <a:rPr kumimoji="1" lang="zh-CN" altLang="en-US" sz="2100" dirty="0">
                <a:ea typeface="宋体" charset="-122"/>
              </a:rPr>
              <a:t>将</a:t>
            </a:r>
            <a:r>
              <a:rPr kumimoji="1" lang="en-US" altLang="zh-CN" sz="2100" dirty="0" smtClean="0">
                <a:ea typeface="宋体" charset="-122"/>
              </a:rPr>
              <a:t>bugfree_v3.0.4.zip</a:t>
            </a:r>
            <a:r>
              <a:rPr kumimoji="1" lang="zh-CN" altLang="en-US" sz="2100" dirty="0">
                <a:ea typeface="宋体" charset="-122"/>
              </a:rPr>
              <a:t>放入</a:t>
            </a:r>
            <a:r>
              <a:rPr kumimoji="1" lang="en-US" altLang="zh-CN" sz="2100" dirty="0">
                <a:ea typeface="宋体" charset="-122"/>
              </a:rPr>
              <a:t>/root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2.cd /root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</a:t>
            </a:r>
            <a:r>
              <a:rPr kumimoji="1" lang="en-US" altLang="zh-CN" sz="2100" dirty="0" smtClean="0">
                <a:ea typeface="宋体" charset="-122"/>
              </a:rPr>
              <a:t>unzip   </a:t>
            </a:r>
            <a:r>
              <a:rPr kumimoji="1" lang="en-US" altLang="zh-CN" sz="2100" dirty="0">
                <a:ea typeface="宋体" charset="-122"/>
              </a:rPr>
              <a:t>bugfree_v3.0.4.zip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3.cp </a:t>
            </a:r>
            <a:r>
              <a:rPr kumimoji="1" lang="en-US" altLang="zh-CN" sz="2100" dirty="0" smtClean="0">
                <a:ea typeface="宋体" charset="-122"/>
              </a:rPr>
              <a:t>   –r   bugfree_v3.0.4    /</a:t>
            </a:r>
            <a:r>
              <a:rPr kumimoji="1" lang="en-US" altLang="zh-CN" sz="2100" dirty="0" err="1">
                <a:ea typeface="宋体" charset="-122"/>
              </a:rPr>
              <a:t>var</a:t>
            </a:r>
            <a:r>
              <a:rPr kumimoji="1" lang="en-US" altLang="zh-CN" sz="2100" dirty="0">
                <a:ea typeface="宋体" charset="-122"/>
              </a:rPr>
              <a:t>/www/html</a:t>
            </a:r>
            <a:r>
              <a:rPr kumimoji="1" lang="en-US" altLang="zh-CN" sz="2100" dirty="0" smtClean="0">
                <a:ea typeface="宋体" charset="-122"/>
              </a:rPr>
              <a:t>/</a:t>
            </a:r>
            <a:endParaRPr kumimoji="1" lang="en-US" altLang="zh-CN" sz="21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          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b="1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84169" y="1428751"/>
            <a:ext cx="8988425" cy="507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4.</a:t>
            </a:r>
            <a:r>
              <a:rPr kumimoji="1" lang="zh-CN" altLang="en-US" sz="2100" dirty="0">
                <a:ea typeface="宋体" charset="-122"/>
              </a:rPr>
              <a:t>在地址栏输入</a:t>
            </a:r>
            <a:r>
              <a:rPr kumimoji="1" lang="en-US" altLang="zh-CN" sz="2100" dirty="0" smtClean="0">
                <a:ea typeface="宋体" charset="-122"/>
              </a:rPr>
              <a:t>192.168.1.103/bugfree_v3.0.4</a:t>
            </a:r>
            <a:r>
              <a:rPr kumimoji="1" lang="zh-CN" altLang="en-US" sz="2100" dirty="0" smtClean="0">
                <a:ea typeface="宋体" charset="-122"/>
              </a:rPr>
              <a:t>进入</a:t>
            </a:r>
            <a:r>
              <a:rPr kumimoji="1" lang="zh-CN" altLang="en-US" sz="2100" dirty="0">
                <a:ea typeface="宋体" charset="-122"/>
              </a:rPr>
              <a:t>安装配置界面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857496"/>
            <a:ext cx="6572250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5.</a:t>
            </a:r>
            <a:r>
              <a:rPr kumimoji="1" lang="zh-CN" altLang="en-US" sz="2100" dirty="0">
                <a:ea typeface="宋体" charset="-122"/>
              </a:rPr>
              <a:t>按照页面提示，设置文件库读写权限</a:t>
            </a:r>
            <a:endParaRPr kumimoji="1" lang="en-US" altLang="zh-CN" sz="2100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dirty="0">
              <a:ea typeface="宋体" charset="-122"/>
            </a:endParaRPr>
          </a:p>
          <a:p>
            <a:pPr algn="l">
              <a:defRPr/>
            </a:pPr>
            <a:r>
              <a:rPr lang="en-US" sz="2000" dirty="0"/>
              <a:t>[</a:t>
            </a:r>
            <a:r>
              <a:rPr lang="en-US" sz="2000" dirty="0" err="1"/>
              <a:t>root@localhost</a:t>
            </a:r>
            <a:r>
              <a:rPr lang="en-US" sz="2000" dirty="0"/>
              <a:t> ~]# </a:t>
            </a:r>
            <a:r>
              <a:rPr lang="en-US" sz="2000" dirty="0" err="1"/>
              <a:t>cd</a:t>
            </a:r>
            <a:r>
              <a:rPr lang="en-US" sz="2000" dirty="0"/>
              <a:t> /</a:t>
            </a:r>
            <a:r>
              <a:rPr lang="en-US" sz="2000" dirty="0" err="1"/>
              <a:t>var</a:t>
            </a:r>
            <a:r>
              <a:rPr lang="en-US" sz="2000" dirty="0"/>
              <a:t>/www/html</a:t>
            </a:r>
            <a:endParaRPr lang="zh-CN" altLang="en-US" sz="2000" dirty="0"/>
          </a:p>
          <a:p>
            <a:pPr algn="l">
              <a:defRPr/>
            </a:pPr>
            <a:r>
              <a:rPr lang="en-US" sz="2000" dirty="0"/>
              <a:t>[</a:t>
            </a:r>
            <a:r>
              <a:rPr lang="en-US" sz="2000" dirty="0" err="1"/>
              <a:t>root@localhost</a:t>
            </a:r>
            <a:r>
              <a:rPr lang="en-US" sz="2000" dirty="0"/>
              <a:t> html]# </a:t>
            </a:r>
            <a:r>
              <a:rPr lang="en-US" sz="2000" dirty="0" err="1"/>
              <a:t>mkdir</a:t>
            </a:r>
            <a:r>
              <a:rPr lang="en-US" sz="2000" dirty="0"/>
              <a:t> </a:t>
            </a:r>
            <a:r>
              <a:rPr lang="en-US" sz="2000" dirty="0" err="1"/>
              <a:t>BugFile</a:t>
            </a:r>
            <a:endParaRPr lang="zh-CN" altLang="en-US" sz="2000" dirty="0"/>
          </a:p>
          <a:p>
            <a:pPr algn="l">
              <a:defRPr/>
            </a:pPr>
            <a:r>
              <a:rPr lang="en-US" sz="2000" dirty="0"/>
              <a:t>[</a:t>
            </a:r>
            <a:r>
              <a:rPr lang="en-US" sz="2000" dirty="0" err="1"/>
              <a:t>root@localhost</a:t>
            </a:r>
            <a:r>
              <a:rPr lang="en-US" sz="2000" dirty="0"/>
              <a:t> html]# </a:t>
            </a:r>
            <a:r>
              <a:rPr lang="en-US" sz="2000" dirty="0" err="1"/>
              <a:t>chmod</a:t>
            </a:r>
            <a:r>
              <a:rPr lang="en-US" sz="2000" dirty="0"/>
              <a:t> </a:t>
            </a:r>
            <a:r>
              <a:rPr lang="en-US" sz="2000" dirty="0" smtClean="0"/>
              <a:t>   -R    777    </a:t>
            </a:r>
            <a:r>
              <a:rPr lang="en-US" sz="2000" dirty="0" err="1" smtClean="0"/>
              <a:t>BugFile</a:t>
            </a:r>
            <a:endParaRPr lang="en-US" sz="2000" dirty="0" smtClean="0"/>
          </a:p>
          <a:p>
            <a:pPr>
              <a:defRPr/>
            </a:pPr>
            <a:r>
              <a:rPr lang="en-US" sz="2000" dirty="0" smtClean="0"/>
              <a:t>[</a:t>
            </a:r>
            <a:r>
              <a:rPr lang="en-US" sz="2000" dirty="0" err="1" smtClean="0"/>
              <a:t>root@localhost</a:t>
            </a:r>
            <a:r>
              <a:rPr lang="en-US" sz="2000" dirty="0" smtClean="0"/>
              <a:t> html]# </a:t>
            </a:r>
            <a:r>
              <a:rPr lang="en-US" sz="2000" dirty="0" err="1" smtClean="0"/>
              <a:t>chmod</a:t>
            </a:r>
            <a:r>
              <a:rPr lang="en-US" sz="2000" dirty="0" smtClean="0"/>
              <a:t>    -R    777 </a:t>
            </a:r>
            <a:r>
              <a:rPr lang="en-US" sz="2000" dirty="0" smtClean="0"/>
              <a:t>   </a:t>
            </a:r>
            <a:r>
              <a:rPr kumimoji="1" lang="en-US" altLang="zh-CN" sz="2000" b="1" dirty="0" smtClean="0">
                <a:ea typeface="宋体" charset="-122"/>
              </a:rPr>
              <a:t>bugfree_v3.0.4</a:t>
            </a:r>
            <a:endParaRPr lang="zh-CN" altLang="en-US" sz="2000" dirty="0" smtClean="0"/>
          </a:p>
          <a:p>
            <a:pPr algn="l">
              <a:defRPr/>
            </a:pPr>
            <a:endParaRPr lang="zh-CN" altLang="en-US" sz="2000" dirty="0" smtClean="0"/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zh-CN" altLang="en-US" sz="2100" dirty="0" smtClean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图片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857496"/>
            <a:ext cx="52736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6.</a:t>
            </a:r>
            <a:r>
              <a:rPr kumimoji="1" lang="zh-CN" altLang="en-US" sz="2100" dirty="0">
                <a:ea typeface="宋体" charset="-122"/>
              </a:rPr>
              <a:t>检查权限修改结果</a:t>
            </a:r>
            <a:endParaRPr kumimoji="1" lang="en-US" altLang="zh-CN" sz="2100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    </a:t>
            </a:r>
            <a:r>
              <a:rPr kumimoji="1" lang="zh-CN" altLang="en-US" sz="2100" dirty="0">
                <a:ea typeface="宋体" charset="-122"/>
              </a:rPr>
              <a:t>当信息如下时，表示权限设置成功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图片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3500438"/>
            <a:ext cx="54292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-32" y="1000108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7.</a:t>
            </a:r>
            <a:r>
              <a:rPr kumimoji="1" lang="zh-CN" altLang="en-US" sz="2100" dirty="0">
                <a:ea typeface="宋体" charset="-122"/>
              </a:rPr>
              <a:t>安装提示配置数据库参数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图片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405073"/>
            <a:ext cx="5273675" cy="245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857761"/>
            <a:ext cx="5273675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8.</a:t>
            </a:r>
            <a:r>
              <a:rPr kumimoji="1" lang="zh-CN" altLang="en-US" sz="2100" dirty="0">
                <a:ea typeface="宋体" charset="-122"/>
              </a:rPr>
              <a:t>安装成功，点击链接进入登陆页面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图片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9463" y="2928934"/>
            <a:ext cx="52736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9463" y="4214818"/>
            <a:ext cx="5273675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LAMP</a:t>
            </a: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环境安装实例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1257300" lvl="2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Ø"/>
              <a:defRPr/>
            </a:pPr>
            <a:r>
              <a:rPr kumimoji="1" lang="en-US" altLang="zh-CN" sz="2100" b="1" dirty="0" smtClean="0">
                <a:ea typeface="宋体" charset="-122"/>
              </a:rPr>
              <a:t>Lamp</a:t>
            </a:r>
            <a:r>
              <a:rPr kumimoji="1" lang="zh-CN" altLang="en-US" sz="2100" b="1" dirty="0">
                <a:ea typeface="宋体" charset="-122"/>
              </a:rPr>
              <a:t>环境植入</a:t>
            </a:r>
            <a:r>
              <a:rPr kumimoji="1" lang="en-US" altLang="zh-CN" sz="2100" b="1" dirty="0" err="1">
                <a:ea typeface="宋体" charset="-122"/>
              </a:rPr>
              <a:t>bugfree</a:t>
            </a:r>
            <a:r>
              <a:rPr kumimoji="1" lang="en-US" altLang="zh-CN" sz="2100" b="1" dirty="0">
                <a:ea typeface="宋体" charset="-122"/>
              </a:rPr>
              <a:t>      </a:t>
            </a: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ü"/>
              <a:defRPr/>
            </a:pPr>
            <a:r>
              <a:rPr kumimoji="1" lang="en-US" altLang="zh-CN" sz="2100" b="1" dirty="0">
                <a:ea typeface="宋体" charset="-122"/>
              </a:rPr>
              <a:t>bugfree_v3.0.4</a:t>
            </a:r>
            <a:r>
              <a:rPr kumimoji="1" lang="zh-CN" altLang="en-US" sz="2100" b="1" dirty="0">
                <a:ea typeface="宋体" charset="-122"/>
              </a:rPr>
              <a:t>的部署配置</a:t>
            </a:r>
            <a:endParaRPr kumimoji="1" lang="en-US" altLang="zh-CN" sz="2100" b="1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kumimoji="1" lang="en-US" altLang="zh-CN" sz="2100" dirty="0">
                <a:ea typeface="宋体" charset="-122"/>
              </a:rPr>
              <a:t>9.</a:t>
            </a:r>
            <a:r>
              <a:rPr kumimoji="1" lang="zh-CN" altLang="en-US" sz="2100" dirty="0">
                <a:ea typeface="宋体" charset="-122"/>
              </a:rPr>
              <a:t>登陆</a:t>
            </a:r>
            <a:r>
              <a:rPr kumimoji="1" lang="en-US" altLang="zh-CN" sz="2100" dirty="0" err="1">
                <a:ea typeface="宋体" charset="-122"/>
              </a:rPr>
              <a:t>bugfree</a:t>
            </a:r>
            <a:endParaRPr kumimoji="1" lang="zh-CN" altLang="en-US" sz="2100" dirty="0">
              <a:ea typeface="宋体" charset="-122"/>
            </a:endParaRPr>
          </a:p>
          <a:p>
            <a:pPr marL="1714500" lvl="3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kumimoji="1" lang="en-US" altLang="zh-CN" sz="2100" b="1" dirty="0">
              <a:ea typeface="宋体" charset="-122"/>
            </a:endParaRPr>
          </a:p>
          <a:p>
            <a:pPr lvl="1" algn="l">
              <a:lnSpc>
                <a:spcPct val="80000"/>
              </a:lnSpc>
              <a:buFont typeface="Wingdings" pitchFamily="2" charset="2"/>
              <a:buChar char="l"/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en-US" sz="16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pic>
        <p:nvPicPr>
          <p:cNvPr id="5" name="图片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928934"/>
            <a:ext cx="5273675" cy="183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/>
        </p:nvSpPr>
        <p:spPr bwMode="auto">
          <a:xfrm>
            <a:off x="2714612" y="2428868"/>
            <a:ext cx="2655887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9600" b="1" dirty="0"/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顶测科技课件模版2015-10-26 - 副本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顶测科技课件模版2015-10-26 - 副本</Template>
  <TotalTime>101</TotalTime>
  <Words>1243</Words>
  <Application>Microsoft Office PowerPoint</Application>
  <PresentationFormat>全屏显示(4:3)</PresentationFormat>
  <Paragraphs>531</Paragraphs>
  <Slides>32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3" baseType="lpstr">
      <vt:lpstr>顶测科技课件模版2015-10-26 - 副本</vt:lpstr>
      <vt:lpstr>幻灯片 1</vt:lpstr>
      <vt:lpstr>幻灯片 2</vt:lpstr>
      <vt:lpstr>软件安装方法概述</vt:lpstr>
      <vt:lpstr>软件包tar方法安装</vt:lpstr>
      <vt:lpstr>软件包tar方法安装</vt:lpstr>
      <vt:lpstr>软件包rpm方法安装</vt:lpstr>
      <vt:lpstr>软件包rpm方法安装</vt:lpstr>
      <vt:lpstr>软件包rpm方法安装</vt:lpstr>
      <vt:lpstr>软件包yum方法安装</vt:lpstr>
      <vt:lpstr>软件包yum方法安装</vt:lpstr>
      <vt:lpstr>软件包yum方法安装</vt:lpstr>
      <vt:lpstr>软件包yum方法安装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LAMP环境安装实例</vt:lpstr>
      <vt:lpstr>幻灯片 32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dingce</cp:lastModifiedBy>
  <cp:revision>1</cp:revision>
  <dcterms:created xsi:type="dcterms:W3CDTF">2016-06-06T01:13:47Z</dcterms:created>
  <dcterms:modified xsi:type="dcterms:W3CDTF">2016-06-06T02:55:30Z</dcterms:modified>
</cp:coreProperties>
</file>