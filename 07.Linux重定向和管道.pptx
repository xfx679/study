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0"/>
  </p:handout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15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-3360" y="-108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2C9511-43DC-4932-A7B3-F688C24993E3}" type="datetimeFigureOut">
              <a:rPr lang="zh-CN" altLang="en-US" smtClean="0"/>
              <a:pPr/>
              <a:t>2016/5/27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AA0E5F-8AC7-45F1-B505-037150F286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12" name="直接连接符 11"/>
          <p:cNvCxnSpPr/>
          <p:nvPr userDrawn="1"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3" name="矩形 12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6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7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" name="矩形 6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1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" name="矩形 4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9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" name="矩形 4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9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" name="矩形 4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9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logo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3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3"/>
          <p:cNvSpPr txBox="1">
            <a:spLocks noChangeArrowheads="1"/>
          </p:cNvSpPr>
          <p:nvPr/>
        </p:nvSpPr>
        <p:spPr>
          <a:xfrm>
            <a:off x="295275" y="1071546"/>
            <a:ext cx="7754938" cy="2289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altLang="zh-CN" sz="4400" dirty="0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zh-CN" altLang="en-US" sz="4400" dirty="0" smtClean="0">
                <a:latin typeface="Times New Roman" pitchFamily="18" charset="0"/>
                <a:cs typeface="Times New Roman" pitchFamily="18" charset="0"/>
              </a:rPr>
              <a:t>重定向和管道</a:t>
            </a:r>
            <a:r>
              <a:rPr kumimoji="0" lang="en-US" altLang="zh-CN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/>
            </a:r>
            <a:br>
              <a:rPr kumimoji="0" lang="en-US" altLang="zh-CN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</a:br>
            <a:endParaRPr kumimoji="0" lang="zh-CN" altLang="en-U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Times New Roman" pitchFamily="18" charset="0"/>
            </a:endParaRPr>
          </a:p>
        </p:txBody>
      </p:sp>
      <p:sp>
        <p:nvSpPr>
          <p:cNvPr id="5" name="Rectangle 44"/>
          <p:cNvSpPr txBox="1">
            <a:spLocks noChangeArrowheads="1"/>
          </p:cNvSpPr>
          <p:nvPr/>
        </p:nvSpPr>
        <p:spPr>
          <a:xfrm>
            <a:off x="533400" y="3548046"/>
            <a:ext cx="5780088" cy="204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74613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Georgia" pitchFamily="18" charset="0"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顶测科技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3"/>
          <p:cNvSpPr>
            <a:spLocks noChangeShapeType="1"/>
          </p:cNvSpPr>
          <p:nvPr/>
        </p:nvSpPr>
        <p:spPr bwMode="auto">
          <a:xfrm>
            <a:off x="9871075" y="2055813"/>
            <a:ext cx="0" cy="5067300"/>
          </a:xfrm>
          <a:prstGeom prst="line">
            <a:avLst/>
          </a:prstGeom>
          <a:noFill/>
          <a:ln w="9525">
            <a:solidFill>
              <a:srgbClr val="9999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WordArt 7"/>
          <p:cNvSpPr>
            <a:spLocks noChangeArrowheads="1" noChangeShapeType="1" noTextEdit="1"/>
          </p:cNvSpPr>
          <p:nvPr/>
        </p:nvSpPr>
        <p:spPr bwMode="auto">
          <a:xfrm>
            <a:off x="1519238" y="1839913"/>
            <a:ext cx="1638300" cy="4111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200" kern="10" dirty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</a:rPr>
              <a:t>内容介绍</a:t>
            </a:r>
          </a:p>
        </p:txBody>
      </p:sp>
      <p:sp>
        <p:nvSpPr>
          <p:cNvPr id="8" name="Rectangle 16"/>
          <p:cNvSpPr>
            <a:spLocks noChangeArrowheads="1"/>
          </p:cNvSpPr>
          <p:nvPr/>
        </p:nvSpPr>
        <p:spPr bwMode="gray">
          <a:xfrm>
            <a:off x="1978025" y="2714625"/>
            <a:ext cx="4786313" cy="235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34" tIns="45664" rIns="91334" bIns="45664">
            <a:spAutoFit/>
          </a:bodyPr>
          <a:lstStyle/>
          <a:p>
            <a:pPr algn="l">
              <a:spcBef>
                <a:spcPct val="50000"/>
              </a:spcBef>
              <a:spcAft>
                <a:spcPct val="50000"/>
              </a:spcAft>
            </a:pPr>
            <a:r>
              <a:rPr kumimoji="1" lang="en-US" altLang="zh-CN" sz="2100" b="1" dirty="0">
                <a:solidFill>
                  <a:srgbClr val="005C8A"/>
                </a:solidFill>
                <a:ea typeface="宋体" charset="-122"/>
              </a:rPr>
              <a:t>NO.1  </a:t>
            </a:r>
            <a:r>
              <a:rPr kumimoji="1" lang="zh-CN" altLang="en-US" sz="2100" b="1" dirty="0">
                <a:solidFill>
                  <a:srgbClr val="005C8A"/>
                </a:solidFill>
                <a:ea typeface="宋体" charset="-122"/>
              </a:rPr>
              <a:t>标准输入输出</a:t>
            </a:r>
          </a:p>
          <a:p>
            <a:pPr algn="l">
              <a:spcBef>
                <a:spcPct val="50000"/>
              </a:spcBef>
              <a:spcAft>
                <a:spcPct val="50000"/>
              </a:spcAft>
            </a:pPr>
            <a:r>
              <a:rPr kumimoji="1" lang="en-US" altLang="zh-CN" sz="2100" b="1" dirty="0">
                <a:solidFill>
                  <a:srgbClr val="005C8A"/>
                </a:solidFill>
                <a:ea typeface="宋体" charset="-122"/>
              </a:rPr>
              <a:t>NO.2  </a:t>
            </a:r>
            <a:r>
              <a:rPr kumimoji="1" lang="zh-CN" altLang="en-US" sz="2100" b="1" dirty="0">
                <a:solidFill>
                  <a:srgbClr val="005C8A"/>
                </a:solidFill>
                <a:ea typeface="宋体" charset="-122"/>
              </a:rPr>
              <a:t>输入、输出重定向的使用</a:t>
            </a:r>
            <a:endParaRPr kumimoji="1" lang="en-US" altLang="zh-CN" sz="2100" b="1" dirty="0">
              <a:solidFill>
                <a:srgbClr val="005C8A"/>
              </a:solidFill>
              <a:ea typeface="宋体" charset="-122"/>
            </a:endParaRPr>
          </a:p>
          <a:p>
            <a:pPr algn="l">
              <a:spcBef>
                <a:spcPct val="50000"/>
              </a:spcBef>
              <a:spcAft>
                <a:spcPct val="50000"/>
              </a:spcAft>
            </a:pPr>
            <a:r>
              <a:rPr kumimoji="1" lang="en-US" altLang="zh-CN" sz="2100" b="1" dirty="0">
                <a:solidFill>
                  <a:srgbClr val="005C8A"/>
                </a:solidFill>
                <a:ea typeface="宋体" charset="-122"/>
              </a:rPr>
              <a:t>NO.3  </a:t>
            </a:r>
            <a:r>
              <a:rPr kumimoji="1" lang="zh-CN" altLang="en-US" sz="2100" b="1" dirty="0">
                <a:solidFill>
                  <a:srgbClr val="005C8A"/>
                </a:solidFill>
                <a:ea typeface="宋体" charset="-122"/>
              </a:rPr>
              <a:t>什么是管道</a:t>
            </a:r>
            <a:endParaRPr kumimoji="1" lang="en-US" altLang="zh-CN" sz="2100" b="1" dirty="0">
              <a:solidFill>
                <a:srgbClr val="005C8A"/>
              </a:solidFill>
              <a:ea typeface="宋体" charset="-122"/>
            </a:endParaRPr>
          </a:p>
          <a:p>
            <a:pPr algn="l">
              <a:spcBef>
                <a:spcPct val="50000"/>
              </a:spcBef>
              <a:spcAft>
                <a:spcPct val="50000"/>
              </a:spcAft>
            </a:pPr>
            <a:r>
              <a:rPr kumimoji="1" lang="en-US" altLang="zh-CN" sz="2100" b="1" dirty="0">
                <a:solidFill>
                  <a:srgbClr val="005C8A"/>
                </a:solidFill>
                <a:ea typeface="宋体" charset="-122"/>
              </a:rPr>
              <a:t>NO.4  </a:t>
            </a:r>
            <a:r>
              <a:rPr kumimoji="1" lang="zh-CN" altLang="en-US" sz="2100" b="1" dirty="0">
                <a:solidFill>
                  <a:srgbClr val="005C8A"/>
                </a:solidFill>
                <a:ea typeface="宋体" charset="-122"/>
              </a:rPr>
              <a:t>管道实现文本过滤</a:t>
            </a:r>
            <a:endParaRPr kumimoji="1" lang="en-US" altLang="zh-CN" sz="2100" b="1" dirty="0">
              <a:solidFill>
                <a:srgbClr val="005C8A"/>
              </a:solidFill>
              <a:ea typeface="宋体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3"/>
          <p:cNvSpPr>
            <a:spLocks noChangeShapeType="1"/>
          </p:cNvSpPr>
          <p:nvPr/>
        </p:nvSpPr>
        <p:spPr bwMode="auto">
          <a:xfrm>
            <a:off x="9871075" y="2055813"/>
            <a:ext cx="0" cy="5067300"/>
          </a:xfrm>
          <a:prstGeom prst="line">
            <a:avLst/>
          </a:prstGeom>
          <a:noFill/>
          <a:ln w="9525">
            <a:solidFill>
              <a:srgbClr val="9999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WordArt 7"/>
          <p:cNvSpPr>
            <a:spLocks noChangeArrowheads="1" noChangeShapeType="1" noTextEdit="1"/>
          </p:cNvSpPr>
          <p:nvPr/>
        </p:nvSpPr>
        <p:spPr bwMode="auto">
          <a:xfrm>
            <a:off x="1519238" y="1839913"/>
            <a:ext cx="1638300" cy="4111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200" kern="1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</a:rPr>
              <a:t>导读</a:t>
            </a:r>
          </a:p>
        </p:txBody>
      </p:sp>
      <p:sp>
        <p:nvSpPr>
          <p:cNvPr id="8" name="Rectangle 16"/>
          <p:cNvSpPr>
            <a:spLocks noChangeArrowheads="1"/>
          </p:cNvSpPr>
          <p:nvPr/>
        </p:nvSpPr>
        <p:spPr bwMode="gray">
          <a:xfrm>
            <a:off x="1978025" y="2714625"/>
            <a:ext cx="4786313" cy="235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34" tIns="45664" rIns="91334" bIns="45664">
            <a:spAutoFit/>
          </a:bodyPr>
          <a:lstStyle/>
          <a:p>
            <a:pPr algn="l">
              <a:spcBef>
                <a:spcPct val="50000"/>
              </a:spcBef>
              <a:spcAft>
                <a:spcPct val="50000"/>
              </a:spcAft>
            </a:pPr>
            <a:r>
              <a:rPr kumimoji="1" lang="zh-CN" altLang="en-US" sz="2100" b="1">
                <a:solidFill>
                  <a:srgbClr val="005C8A"/>
                </a:solidFill>
                <a:ea typeface="宋体" charset="-122"/>
              </a:rPr>
              <a:t>！理解标准输入输出</a:t>
            </a:r>
            <a:endParaRPr kumimoji="1" lang="en-US" altLang="zh-CN" sz="2100" b="1">
              <a:solidFill>
                <a:srgbClr val="005C8A"/>
              </a:solidFill>
              <a:ea typeface="宋体" charset="-122"/>
            </a:endParaRPr>
          </a:p>
          <a:p>
            <a:pPr algn="l">
              <a:spcBef>
                <a:spcPct val="50000"/>
              </a:spcBef>
              <a:spcAft>
                <a:spcPct val="50000"/>
              </a:spcAft>
            </a:pPr>
            <a:r>
              <a:rPr kumimoji="1" lang="zh-CN" altLang="en-US" sz="2100" b="1">
                <a:solidFill>
                  <a:srgbClr val="005C8A"/>
                </a:solidFill>
                <a:ea typeface="宋体" charset="-122"/>
              </a:rPr>
              <a:t>！掌握输出重定向使用</a:t>
            </a:r>
            <a:endParaRPr kumimoji="1" lang="en-US" altLang="zh-CN" sz="2100" b="1">
              <a:solidFill>
                <a:srgbClr val="005C8A"/>
              </a:solidFill>
              <a:ea typeface="宋体" charset="-122"/>
            </a:endParaRPr>
          </a:p>
          <a:p>
            <a:pPr algn="l">
              <a:spcBef>
                <a:spcPct val="50000"/>
              </a:spcBef>
              <a:spcAft>
                <a:spcPct val="50000"/>
              </a:spcAft>
            </a:pPr>
            <a:r>
              <a:rPr kumimoji="1" lang="zh-CN" altLang="en-US" sz="2100" b="1">
                <a:solidFill>
                  <a:srgbClr val="005C8A"/>
                </a:solidFill>
                <a:ea typeface="宋体" charset="-122"/>
              </a:rPr>
              <a:t>！了解输入重定向使用</a:t>
            </a:r>
            <a:endParaRPr kumimoji="1" lang="en-US" altLang="zh-CN" sz="2100" b="1">
              <a:solidFill>
                <a:srgbClr val="005C8A"/>
              </a:solidFill>
              <a:ea typeface="宋体" charset="-122"/>
            </a:endParaRPr>
          </a:p>
          <a:p>
            <a:pPr algn="l">
              <a:spcBef>
                <a:spcPct val="50000"/>
              </a:spcBef>
              <a:spcAft>
                <a:spcPct val="50000"/>
              </a:spcAft>
            </a:pPr>
            <a:r>
              <a:rPr kumimoji="1" lang="zh-CN" altLang="en-US" sz="2100" b="1">
                <a:solidFill>
                  <a:srgbClr val="005C8A"/>
                </a:solidFill>
                <a:ea typeface="宋体" charset="-122"/>
              </a:rPr>
              <a:t>！学会使用管道实现文本过滤</a:t>
            </a:r>
            <a:endParaRPr kumimoji="1" lang="en-US" altLang="zh-CN" sz="2100" b="1">
              <a:solidFill>
                <a:srgbClr val="005C8A"/>
              </a:solidFill>
              <a:ea typeface="宋体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620713" y="1428750"/>
            <a:ext cx="8988425" cy="587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/>
            </a:pPr>
            <a:r>
              <a:rPr kumimoji="1" lang="zh-CN" altLang="en-US" sz="2400" b="1" dirty="0">
                <a:ea typeface="宋体" charset="-122"/>
              </a:rPr>
              <a:t>标准输入输出</a:t>
            </a:r>
            <a:endParaRPr kumimoji="1" lang="en-US" altLang="zh-CN" sz="2400" b="1" dirty="0">
              <a:ea typeface="宋体" charset="-122"/>
            </a:endParaRPr>
          </a:p>
          <a:p>
            <a:pPr marL="274320" indent="-274320" algn="l" fontAlgn="auto">
              <a:spcAft>
                <a:spcPts val="0"/>
              </a:spcAft>
              <a:defRPr/>
            </a:pPr>
            <a:r>
              <a:rPr lang="zh-CN" altLang="en-US" sz="1600" dirty="0">
                <a:ea typeface="宋体" charset="-122"/>
              </a:rPr>
              <a:t>     </a:t>
            </a:r>
            <a:r>
              <a:rPr lang="en-US" altLang="zh-CN" sz="2400" dirty="0" err="1">
                <a:ea typeface="宋体" charset="-122"/>
              </a:rPr>
              <a:t>linux</a:t>
            </a:r>
            <a:r>
              <a:rPr lang="zh-CN" altLang="en-US" sz="2400" dirty="0">
                <a:ea typeface="宋体" charset="-122"/>
              </a:rPr>
              <a:t>大部分命令都具有标准的输入</a:t>
            </a:r>
            <a:r>
              <a:rPr lang="en-US" altLang="zh-CN" sz="2400" dirty="0">
                <a:ea typeface="宋体" charset="-122"/>
              </a:rPr>
              <a:t>/</a:t>
            </a:r>
            <a:r>
              <a:rPr lang="zh-CN" altLang="en-US" sz="2400" dirty="0">
                <a:ea typeface="宋体" charset="-122"/>
              </a:rPr>
              <a:t>输出设备端口</a:t>
            </a:r>
            <a:endParaRPr lang="en-US" altLang="zh-CN" sz="2400" dirty="0">
              <a:ea typeface="宋体" charset="-122"/>
            </a:endParaRPr>
          </a:p>
          <a:p>
            <a:pPr marL="274320" indent="-274320" algn="l" fontAlgn="auto">
              <a:spcAft>
                <a:spcPts val="0"/>
              </a:spcAft>
              <a:defRPr/>
            </a:pPr>
            <a:endParaRPr lang="en-US" altLang="zh-CN" sz="2400" dirty="0">
              <a:ea typeface="宋体" charset="-122"/>
            </a:endParaRPr>
          </a:p>
          <a:p>
            <a:pPr marL="274320" indent="-274320" algn="l" fontAlgn="auto">
              <a:spcAft>
                <a:spcPts val="0"/>
              </a:spcAft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endParaRPr lang="en-US" altLang="en-US" sz="2400" dirty="0"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solidFill>
                <a:srgbClr val="FF0000"/>
              </a:solidFill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solidFill>
                <a:srgbClr val="FF0000"/>
              </a:solidFill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977900" y="2571750"/>
          <a:ext cx="7114115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8"/>
                <a:gridCol w="1571636"/>
                <a:gridCol w="1285884"/>
                <a:gridCol w="1000132"/>
                <a:gridCol w="2113455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名称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文件描述符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含义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设备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说明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STDIN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标准输入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键盘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命令在执行时所需要的输入数据通过它来取得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STDOUT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标准输出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显示器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命令在执行后的输出结果从该端口输出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STDERR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标准错误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显示器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命令执行时的错误信息通过该端口输出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4282" y="428604"/>
            <a:ext cx="7780368" cy="735013"/>
          </a:xfrm>
        </p:spPr>
        <p:txBody>
          <a:bodyPr rtlCol="0">
            <a:normAutofit/>
          </a:bodyPr>
          <a:lstStyle/>
          <a:p>
            <a:pPr defTabSz="1066741" eaLnBrk="1" fontAlgn="auto" hangingPunct="1">
              <a:spcAft>
                <a:spcPts val="0"/>
              </a:spcAft>
              <a:defRPr/>
            </a:pP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系统重定向</a:t>
            </a:r>
            <a:endParaRPr lang="en-US" altLang="zh-CN" sz="3200" kern="10" dirty="0" smtClean="0">
              <a:ln w="12700">
                <a:noFill/>
                <a:round/>
                <a:headEnd/>
                <a:tailEnd/>
              </a:ln>
              <a:solidFill>
                <a:srgbClr val="990000"/>
              </a:solidFill>
              <a:effectLst>
                <a:prstShdw prst="shdw17" dist="17961" dir="13500000">
                  <a:srgbClr val="5C0000"/>
                </a:prstShdw>
              </a:effectLst>
              <a:latin typeface="黑体"/>
              <a:ea typeface="黑体"/>
              <a:cs typeface="+mn-cs"/>
            </a:endParaRPr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620713" y="1028676"/>
            <a:ext cx="8988425" cy="657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342900" indent="-342900" algn="l">
              <a:buFont typeface="Wingdings" pitchFamily="2" charset="2"/>
              <a:buChar char="Ø"/>
              <a:defRPr/>
            </a:pPr>
            <a:r>
              <a:rPr lang="zh-CN" altLang="en-US" sz="2400" dirty="0">
                <a:ea typeface="宋体" charset="-122"/>
              </a:rPr>
              <a:t>系统重定向</a:t>
            </a:r>
            <a:endParaRPr lang="en-US" altLang="zh-CN" sz="2400" dirty="0">
              <a:ea typeface="宋体" charset="-122"/>
            </a:endParaRPr>
          </a:p>
          <a:p>
            <a:pPr marL="342900" indent="-342900" algn="l">
              <a:defRPr/>
            </a:pPr>
            <a:r>
              <a:rPr lang="en-US" altLang="zh-CN" sz="2400" dirty="0">
                <a:ea typeface="宋体" charset="-122"/>
              </a:rPr>
              <a:t>    </a:t>
            </a:r>
            <a:r>
              <a:rPr lang="zh-CN" altLang="en-US" sz="2400" dirty="0">
                <a:ea typeface="宋体" charset="-122"/>
              </a:rPr>
              <a:t>！重定向就是不使用系统的标准输入端口，标准输出端口，标准错误端口，而进行重新的指定，所以重定向分为输入，输出，错误重定向。</a:t>
            </a:r>
            <a:r>
              <a:rPr lang="zh-CN" altLang="en-US" sz="2400" dirty="0">
                <a:solidFill>
                  <a:srgbClr val="FF0000"/>
                </a:solidFill>
                <a:ea typeface="宋体" charset="-122"/>
              </a:rPr>
              <a:t>通常情况重定向到一个文件</a:t>
            </a:r>
            <a:endParaRPr lang="en-US" altLang="zh-CN" sz="2400" dirty="0">
              <a:solidFill>
                <a:srgbClr val="FF0000"/>
              </a:solidFill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2400" dirty="0">
              <a:solidFill>
                <a:srgbClr val="FF0000"/>
              </a:solidFill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2400" dirty="0">
              <a:solidFill>
                <a:srgbClr val="FF0000"/>
              </a:solidFill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2400" dirty="0">
              <a:solidFill>
                <a:srgbClr val="FF0000"/>
              </a:solidFill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2400" dirty="0">
              <a:solidFill>
                <a:srgbClr val="FF0000"/>
              </a:solidFill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2400" dirty="0">
              <a:solidFill>
                <a:srgbClr val="FF0000"/>
              </a:solidFill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2400" dirty="0">
              <a:solidFill>
                <a:srgbClr val="FF0000"/>
              </a:solidFill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2400" dirty="0">
              <a:solidFill>
                <a:srgbClr val="FF0000"/>
              </a:solidFill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2400" dirty="0">
              <a:solidFill>
                <a:srgbClr val="FF0000"/>
              </a:solidFill>
              <a:ea typeface="宋体" charset="-122"/>
            </a:endParaRPr>
          </a:p>
          <a:p>
            <a:pPr algn="l">
              <a:defRPr/>
            </a:pPr>
            <a:r>
              <a:rPr lang="en-US" altLang="zh-CN" sz="1600" dirty="0">
                <a:ea typeface="宋体" charset="-122"/>
              </a:rPr>
              <a:t>  </a:t>
            </a: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solidFill>
                <a:srgbClr val="FF0000"/>
              </a:solidFill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solidFill>
                <a:srgbClr val="FF0000"/>
              </a:solidFill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977900" y="2671739"/>
          <a:ext cx="7114116" cy="377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372"/>
                <a:gridCol w="2371372"/>
                <a:gridCol w="2371372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重定向符号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说明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举例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&lt;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实现输入重定向，不经常使用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/>
                        <a:t>例</a:t>
                      </a:r>
                      <a:r>
                        <a:rPr lang="en-US" altLang="zh-CN" sz="1100" dirty="0" smtClean="0"/>
                        <a:t>1#vi</a:t>
                      </a:r>
                      <a:r>
                        <a:rPr lang="en-US" altLang="zh-CN" sz="1100" baseline="0" dirty="0" smtClean="0"/>
                        <a:t> test1</a:t>
                      </a:r>
                    </a:p>
                    <a:p>
                      <a:r>
                        <a:rPr lang="en-US" altLang="zh-CN" sz="1100" baseline="0" dirty="0" smtClean="0"/>
                        <a:t>This is a test</a:t>
                      </a:r>
                    </a:p>
                    <a:p>
                      <a:r>
                        <a:rPr lang="en-US" altLang="zh-CN" sz="1100" baseline="0" dirty="0" smtClean="0"/>
                        <a:t>#touch test2</a:t>
                      </a:r>
                    </a:p>
                    <a:p>
                      <a:r>
                        <a:rPr lang="en-US" altLang="zh-CN" sz="1100" baseline="0" dirty="0" smtClean="0"/>
                        <a:t>#cat &lt;test1</a:t>
                      </a:r>
                    </a:p>
                    <a:p>
                      <a:r>
                        <a:rPr lang="zh-CN" altLang="en-US" sz="1100" baseline="0" dirty="0" smtClean="0"/>
                        <a:t>例</a:t>
                      </a:r>
                      <a:r>
                        <a:rPr lang="en-US" altLang="zh-CN" sz="1100" baseline="0" dirty="0" smtClean="0"/>
                        <a:t>2#cat &lt;test1&gt;test2</a:t>
                      </a:r>
                      <a:endParaRPr lang="zh-CN" altLang="en-US" sz="11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&gt;</a:t>
                      </a:r>
                      <a:r>
                        <a:rPr lang="zh-CN" altLang="en-US" dirty="0" smtClean="0"/>
                        <a:t>或</a:t>
                      </a:r>
                      <a:r>
                        <a:rPr lang="en-US" altLang="zh-CN" dirty="0" smtClean="0"/>
                        <a:t>&gt;&gt;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实现输出重定向，使用户能把一个命令的输出重定向到一个文件里。</a:t>
                      </a:r>
                      <a:r>
                        <a:rPr lang="en-US" altLang="zh-CN" dirty="0" smtClean="0"/>
                        <a:t>&gt;</a:t>
                      </a:r>
                      <a:r>
                        <a:rPr lang="zh-CN" altLang="en-US" dirty="0" smtClean="0"/>
                        <a:t>会覆盖原文件，</a:t>
                      </a:r>
                      <a:r>
                        <a:rPr lang="zh-CN" altLang="en-US" baseline="0" dirty="0" smtClean="0"/>
                        <a:t>而</a:t>
                      </a:r>
                      <a:r>
                        <a:rPr lang="en-US" altLang="zh-CN" baseline="0" dirty="0" smtClean="0"/>
                        <a:t>&gt;&gt;</a:t>
                      </a:r>
                      <a:r>
                        <a:rPr lang="zh-CN" altLang="en-US" baseline="0" dirty="0" smtClean="0"/>
                        <a:t>是追加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#</a:t>
                      </a:r>
                      <a:r>
                        <a:rPr lang="en-US" altLang="zh-CN" dirty="0" err="1" smtClean="0"/>
                        <a:t>ls</a:t>
                      </a:r>
                      <a:r>
                        <a:rPr lang="en-US" altLang="zh-CN" dirty="0" smtClean="0"/>
                        <a:t> /etc/</a:t>
                      </a:r>
                      <a:r>
                        <a:rPr lang="en-US" altLang="zh-CN" baseline="0" dirty="0" smtClean="0"/>
                        <a:t> &gt;test1</a:t>
                      </a:r>
                    </a:p>
                    <a:p>
                      <a:r>
                        <a:rPr lang="en-US" altLang="zh-CN" baseline="0" dirty="0" smtClean="0"/>
                        <a:t>#</a:t>
                      </a:r>
                      <a:r>
                        <a:rPr lang="en-US" altLang="zh-CN" baseline="0" dirty="0" err="1" smtClean="0"/>
                        <a:t>ls</a:t>
                      </a:r>
                      <a:r>
                        <a:rPr lang="en-US" altLang="zh-CN" baseline="0" dirty="0" smtClean="0"/>
                        <a:t> /home&gt;&gt;test1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2&gt;</a:t>
                      </a:r>
                      <a:r>
                        <a:rPr lang="zh-CN" altLang="en-US" dirty="0" smtClean="0"/>
                        <a:t>或</a:t>
                      </a:r>
                      <a:r>
                        <a:rPr lang="en-US" altLang="zh-CN" dirty="0" smtClean="0"/>
                        <a:t>2&gt;&gt;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实现错误重定向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#</a:t>
                      </a:r>
                      <a:r>
                        <a:rPr lang="en-US" altLang="zh-CN" dirty="0" err="1" smtClean="0"/>
                        <a:t>lss</a:t>
                      </a:r>
                      <a:r>
                        <a:rPr lang="en-US" altLang="zh-CN" dirty="0" smtClean="0"/>
                        <a:t> 2&gt;test3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&amp;&gt;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同时实现重定向和错误重定向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85720" y="428604"/>
            <a:ext cx="7780368" cy="735013"/>
          </a:xfrm>
        </p:spPr>
        <p:txBody>
          <a:bodyPr rtlCol="0">
            <a:normAutofit/>
          </a:bodyPr>
          <a:lstStyle/>
          <a:p>
            <a:pPr defTabSz="1066741" eaLnBrk="1" fontAlgn="auto" hangingPunct="1">
              <a:spcAft>
                <a:spcPts val="0"/>
              </a:spcAft>
              <a:defRPr/>
            </a:pP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管道</a:t>
            </a:r>
            <a:endParaRPr lang="en-US" altLang="zh-CN" sz="3200" kern="10" dirty="0" smtClean="0">
              <a:ln w="12700">
                <a:noFill/>
                <a:round/>
                <a:headEnd/>
                <a:tailEnd/>
              </a:ln>
              <a:solidFill>
                <a:srgbClr val="990000"/>
              </a:solidFill>
              <a:effectLst>
                <a:prstShdw prst="shdw17" dist="17961" dir="13500000">
                  <a:srgbClr val="5C0000"/>
                </a:prstShdw>
              </a:effectLst>
              <a:latin typeface="黑体"/>
              <a:ea typeface="黑体"/>
              <a:cs typeface="+mn-cs"/>
            </a:endParaRPr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620713" y="1428750"/>
            <a:ext cx="8988425" cy="657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342900" indent="-342900" algn="l">
              <a:buFont typeface="Wingdings" pitchFamily="2" charset="2"/>
              <a:buChar char="Ø"/>
              <a:defRPr/>
            </a:pPr>
            <a:r>
              <a:rPr lang="zh-CN" altLang="en-US" sz="2400" dirty="0">
                <a:ea typeface="宋体" charset="-122"/>
              </a:rPr>
              <a:t>什么是管道</a:t>
            </a:r>
            <a:endParaRPr lang="en-US" altLang="zh-CN" sz="2400" dirty="0">
              <a:solidFill>
                <a:srgbClr val="FF0000"/>
              </a:solidFill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2400" dirty="0">
              <a:solidFill>
                <a:srgbClr val="FF0000"/>
              </a:solidFill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2400" dirty="0">
              <a:solidFill>
                <a:srgbClr val="FF0000"/>
              </a:solidFill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2400" dirty="0">
              <a:solidFill>
                <a:srgbClr val="FF0000"/>
              </a:solidFill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2400" dirty="0">
              <a:solidFill>
                <a:srgbClr val="FF0000"/>
              </a:solidFill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2400" dirty="0">
              <a:solidFill>
                <a:srgbClr val="FF0000"/>
              </a:solidFill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2400" dirty="0">
              <a:solidFill>
                <a:srgbClr val="FF0000"/>
              </a:solidFill>
              <a:ea typeface="宋体" charset="-122"/>
            </a:endParaRPr>
          </a:p>
          <a:p>
            <a:pPr algn="l">
              <a:defRPr/>
            </a:pPr>
            <a:r>
              <a:rPr lang="en-US" altLang="zh-CN" sz="1600" dirty="0">
                <a:ea typeface="宋体" charset="-122"/>
              </a:rPr>
              <a:t>  </a:t>
            </a: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solidFill>
                <a:srgbClr val="FF0000"/>
              </a:solidFill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solidFill>
                <a:srgbClr val="FF0000"/>
              </a:solidFill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</p:txBody>
      </p:sp>
      <p:sp>
        <p:nvSpPr>
          <p:cNvPr id="5" name="TextBox 9"/>
          <p:cNvSpPr txBox="1">
            <a:spLocks noChangeArrowheads="1"/>
          </p:cNvSpPr>
          <p:nvPr/>
        </p:nvSpPr>
        <p:spPr bwMode="auto">
          <a:xfrm>
            <a:off x="1049338" y="2000250"/>
            <a:ext cx="8143875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000" dirty="0">
                <a:ea typeface="宋体" charset="-122"/>
              </a:rPr>
              <a:t>！许多</a:t>
            </a:r>
            <a:r>
              <a:rPr lang="en-US" altLang="zh-CN" sz="2000" dirty="0" err="1">
                <a:ea typeface="宋体" charset="-122"/>
              </a:rPr>
              <a:t>linux</a:t>
            </a:r>
            <a:r>
              <a:rPr lang="zh-CN" altLang="en-US" sz="2000" dirty="0">
                <a:ea typeface="宋体" charset="-122"/>
              </a:rPr>
              <a:t>命令具有过滤特性，即一条命令通过标准输入端口接受一个文件中的数据，命令执行后产生的结果数据又通过标准输出端口送给后一条命令，作为该命令的输入数据。后一条命令也是通过标准输入端口而接受输入数据</a:t>
            </a:r>
            <a:endParaRPr lang="en-US" altLang="zh-CN" sz="2000" dirty="0">
              <a:ea typeface="宋体" charset="-122"/>
            </a:endParaRPr>
          </a:p>
          <a:p>
            <a:pPr algn="l"/>
            <a:endParaRPr lang="en-US" altLang="zh-CN" sz="2000" dirty="0">
              <a:ea typeface="宋体" charset="-122"/>
            </a:endParaRPr>
          </a:p>
          <a:p>
            <a:pPr algn="l"/>
            <a:r>
              <a:rPr lang="zh-CN" altLang="en-US" sz="2000" dirty="0">
                <a:ea typeface="宋体" charset="-122"/>
              </a:rPr>
              <a:t>！管道命令“</a:t>
            </a:r>
            <a:r>
              <a:rPr lang="en-US" altLang="zh-CN" sz="2000" dirty="0">
                <a:ea typeface="宋体" charset="-122"/>
              </a:rPr>
              <a:t>|</a:t>
            </a:r>
            <a:r>
              <a:rPr lang="zh-CN" altLang="en-US" sz="2000" dirty="0">
                <a:ea typeface="宋体" charset="-122"/>
              </a:rPr>
              <a:t>”将这些命令前后连接起来，形成一条管道线</a:t>
            </a:r>
            <a:endParaRPr lang="en-US" altLang="zh-CN" sz="2000" dirty="0">
              <a:ea typeface="宋体" charset="-122"/>
            </a:endParaRPr>
          </a:p>
          <a:p>
            <a:pPr algn="l"/>
            <a:endParaRPr lang="en-US" altLang="zh-CN" sz="2000" dirty="0">
              <a:ea typeface="宋体" charset="-122"/>
            </a:endParaRPr>
          </a:p>
          <a:p>
            <a:pPr algn="l"/>
            <a:r>
              <a:rPr lang="en-US" altLang="zh-CN" sz="2000" dirty="0">
                <a:ea typeface="宋体" charset="-122"/>
              </a:rPr>
              <a:t>    </a:t>
            </a:r>
            <a:r>
              <a:rPr lang="zh-CN" altLang="en-US" sz="2000" dirty="0">
                <a:ea typeface="宋体" charset="-122"/>
              </a:rPr>
              <a:t>格式为</a:t>
            </a:r>
            <a:r>
              <a:rPr lang="en-US" altLang="zh-CN" sz="2000" dirty="0">
                <a:ea typeface="宋体" charset="-122"/>
              </a:rPr>
              <a:t>:</a:t>
            </a:r>
            <a:r>
              <a:rPr lang="zh-CN" altLang="en-US" sz="2000" dirty="0">
                <a:ea typeface="宋体" charset="-122"/>
              </a:rPr>
              <a:t>命令</a:t>
            </a:r>
            <a:r>
              <a:rPr lang="en-US" altLang="zh-CN" sz="2000" dirty="0">
                <a:ea typeface="宋体" charset="-122"/>
              </a:rPr>
              <a:t>1 | </a:t>
            </a:r>
            <a:r>
              <a:rPr lang="zh-CN" altLang="en-US" sz="2000" dirty="0">
                <a:ea typeface="宋体" charset="-122"/>
              </a:rPr>
              <a:t>命令</a:t>
            </a:r>
            <a:r>
              <a:rPr lang="en-US" altLang="zh-CN" sz="2000" dirty="0" smtClean="0">
                <a:ea typeface="宋体" charset="-122"/>
              </a:rPr>
              <a:t>2</a:t>
            </a:r>
            <a:endParaRPr lang="en-US" altLang="zh-CN" sz="2000" dirty="0">
              <a:ea typeface="宋体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00050"/>
            <a:ext cx="7994650" cy="735013"/>
          </a:xfrm>
        </p:spPr>
        <p:txBody>
          <a:bodyPr rtlCol="0">
            <a:normAutofit/>
          </a:bodyPr>
          <a:lstStyle/>
          <a:p>
            <a:pPr defTabSz="1066741" eaLnBrk="1" fontAlgn="auto" hangingPunct="1">
              <a:spcAft>
                <a:spcPts val="0"/>
              </a:spcAft>
              <a:defRPr/>
            </a:pPr>
            <a:r>
              <a:rPr lang="zh-CN" altLang="en-US" sz="3200" kern="10" dirty="0" smtClean="0">
                <a:ln w="12700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prstShdw prst="shdw17" dist="17961" dir="13500000">
                    <a:srgbClr val="5C0000"/>
                  </a:prstShdw>
                </a:effectLst>
                <a:latin typeface="黑体"/>
                <a:ea typeface="黑体"/>
                <a:cs typeface="+mn-cs"/>
              </a:rPr>
              <a:t>管道实例</a:t>
            </a:r>
            <a:endParaRPr lang="en-US" altLang="zh-CN" sz="3200" kern="10" dirty="0" smtClean="0">
              <a:ln w="12700">
                <a:noFill/>
                <a:round/>
                <a:headEnd/>
                <a:tailEnd/>
              </a:ln>
              <a:solidFill>
                <a:srgbClr val="990000"/>
              </a:solidFill>
              <a:effectLst>
                <a:prstShdw prst="shdw17" dist="17961" dir="13500000">
                  <a:srgbClr val="5C0000"/>
                </a:prstShdw>
              </a:effectLst>
              <a:latin typeface="黑体"/>
              <a:ea typeface="黑体"/>
              <a:cs typeface="+mn-cs"/>
            </a:endParaRPr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620713" y="1428750"/>
            <a:ext cx="8988425" cy="657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342900" indent="-342900" algn="l">
              <a:buFont typeface="Wingdings" pitchFamily="2" charset="2"/>
              <a:buChar char="Ø"/>
              <a:defRPr/>
            </a:pPr>
            <a:r>
              <a:rPr lang="zh-CN" altLang="en-US" sz="2400" dirty="0">
                <a:solidFill>
                  <a:srgbClr val="FF0000"/>
                </a:solidFill>
                <a:ea typeface="宋体" charset="-122"/>
              </a:rPr>
              <a:t>管道实例</a:t>
            </a:r>
            <a:endParaRPr lang="en-US" altLang="zh-CN" sz="2400" dirty="0">
              <a:solidFill>
                <a:srgbClr val="FF0000"/>
              </a:solidFill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2400" dirty="0">
              <a:solidFill>
                <a:srgbClr val="FF0000"/>
              </a:solidFill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2400" dirty="0">
              <a:solidFill>
                <a:srgbClr val="FF0000"/>
              </a:solidFill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2400" dirty="0">
              <a:solidFill>
                <a:srgbClr val="FF0000"/>
              </a:solidFill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2400" dirty="0">
              <a:solidFill>
                <a:srgbClr val="FF0000"/>
              </a:solidFill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2400" dirty="0">
              <a:solidFill>
                <a:srgbClr val="FF0000"/>
              </a:solidFill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2400" dirty="0">
              <a:solidFill>
                <a:srgbClr val="FF0000"/>
              </a:solidFill>
              <a:ea typeface="宋体" charset="-122"/>
            </a:endParaRPr>
          </a:p>
          <a:p>
            <a:pPr algn="l">
              <a:defRPr/>
            </a:pPr>
            <a:r>
              <a:rPr lang="en-US" altLang="zh-CN" sz="1600" dirty="0">
                <a:ea typeface="宋体" charset="-122"/>
              </a:rPr>
              <a:t>  </a:t>
            </a: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solidFill>
                <a:srgbClr val="FF0000"/>
              </a:solidFill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solidFill>
                <a:srgbClr val="FF0000"/>
              </a:solidFill>
              <a:ea typeface="宋体" charset="-122"/>
            </a:endParaRPr>
          </a:p>
          <a:p>
            <a:pPr lvl="1"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algn="l">
              <a:lnSpc>
                <a:spcPct val="80000"/>
              </a:lnSpc>
              <a:defRPr/>
            </a:pPr>
            <a:endParaRPr lang="en-US" altLang="zh-CN" sz="1600" dirty="0">
              <a:ea typeface="宋体" charset="-122"/>
            </a:endParaRPr>
          </a:p>
          <a:p>
            <a:pPr marL="800100" lvl="1" indent="-342900" algn="l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charset="-122"/>
              </a:rPr>
              <a:t>     </a:t>
            </a:r>
          </a:p>
        </p:txBody>
      </p:sp>
      <p:sp>
        <p:nvSpPr>
          <p:cNvPr id="5" name="TextBox 9"/>
          <p:cNvSpPr txBox="1">
            <a:spLocks noChangeArrowheads="1"/>
          </p:cNvSpPr>
          <p:nvPr/>
        </p:nvSpPr>
        <p:spPr bwMode="auto">
          <a:xfrm>
            <a:off x="1049338" y="2000250"/>
            <a:ext cx="8143875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000" dirty="0" smtClean="0">
                <a:ea typeface="宋体" charset="-122"/>
              </a:rPr>
              <a:t>举例</a:t>
            </a:r>
            <a:r>
              <a:rPr lang="en-US" altLang="zh-CN" sz="2000" dirty="0" smtClean="0">
                <a:ea typeface="宋体" charset="-122"/>
              </a:rPr>
              <a:t>1.</a:t>
            </a:r>
            <a:r>
              <a:rPr lang="zh-CN" altLang="en-US" sz="2000" dirty="0">
                <a:ea typeface="宋体" charset="-122"/>
              </a:rPr>
              <a:t>查找是否在</a:t>
            </a:r>
            <a:r>
              <a:rPr lang="en-US" altLang="zh-CN" sz="2000" dirty="0">
                <a:ea typeface="宋体" charset="-122"/>
              </a:rPr>
              <a:t>XX</a:t>
            </a:r>
            <a:r>
              <a:rPr lang="zh-CN" altLang="en-US" sz="2000" dirty="0">
                <a:ea typeface="宋体" charset="-122"/>
              </a:rPr>
              <a:t>用户账号</a:t>
            </a:r>
            <a:endParaRPr lang="en-US" altLang="zh-CN" sz="2000" dirty="0">
              <a:ea typeface="宋体" charset="-122"/>
            </a:endParaRPr>
          </a:p>
          <a:p>
            <a:pPr algn="l"/>
            <a:r>
              <a:rPr lang="en-US" altLang="zh-CN" sz="2000" dirty="0">
                <a:ea typeface="宋体" charset="-122"/>
              </a:rPr>
              <a:t>           #cat /etc/</a:t>
            </a:r>
            <a:r>
              <a:rPr lang="en-US" altLang="zh-CN" sz="2000" dirty="0" err="1">
                <a:ea typeface="宋体" charset="-122"/>
              </a:rPr>
              <a:t>passwd</a:t>
            </a:r>
            <a:r>
              <a:rPr lang="en-US" altLang="zh-CN" sz="2000" dirty="0">
                <a:ea typeface="宋体" charset="-122"/>
              </a:rPr>
              <a:t> | </a:t>
            </a:r>
            <a:r>
              <a:rPr lang="en-US" altLang="zh-CN" sz="2000" dirty="0" err="1">
                <a:ea typeface="宋体" charset="-122"/>
              </a:rPr>
              <a:t>grep</a:t>
            </a:r>
            <a:r>
              <a:rPr lang="en-US" altLang="zh-CN" sz="2000" dirty="0">
                <a:ea typeface="宋体" charset="-122"/>
              </a:rPr>
              <a:t> xx</a:t>
            </a:r>
          </a:p>
          <a:p>
            <a:pPr algn="l"/>
            <a:r>
              <a:rPr lang="zh-CN" altLang="en-US" sz="2000" dirty="0" smtClean="0">
                <a:ea typeface="宋体" charset="-122"/>
              </a:rPr>
              <a:t>举例</a:t>
            </a:r>
            <a:r>
              <a:rPr lang="en-US" altLang="zh-CN" sz="2000" dirty="0" smtClean="0">
                <a:ea typeface="宋体" charset="-122"/>
              </a:rPr>
              <a:t>2. </a:t>
            </a:r>
            <a:r>
              <a:rPr lang="zh-CN" altLang="en-US" sz="2000" dirty="0">
                <a:ea typeface="宋体" charset="-122"/>
              </a:rPr>
              <a:t>查看是否安装了</a:t>
            </a:r>
            <a:r>
              <a:rPr lang="en-US" altLang="zh-CN" sz="2000" dirty="0" err="1">
                <a:ea typeface="宋体" charset="-122"/>
              </a:rPr>
              <a:t>sshd</a:t>
            </a:r>
            <a:r>
              <a:rPr lang="zh-CN" altLang="en-US" sz="2000" dirty="0">
                <a:ea typeface="宋体" charset="-122"/>
              </a:rPr>
              <a:t>软件包</a:t>
            </a:r>
            <a:endParaRPr lang="en-US" altLang="zh-CN" sz="2000" dirty="0">
              <a:ea typeface="宋体" charset="-122"/>
            </a:endParaRPr>
          </a:p>
          <a:p>
            <a:pPr algn="l"/>
            <a:r>
              <a:rPr lang="en-US" altLang="zh-CN" sz="2000" dirty="0">
                <a:ea typeface="宋体" charset="-122"/>
              </a:rPr>
              <a:t>           #rpm –</a:t>
            </a:r>
            <a:r>
              <a:rPr lang="en-US" altLang="zh-CN" sz="2000" dirty="0" err="1">
                <a:ea typeface="宋体" charset="-122"/>
              </a:rPr>
              <a:t>qa</a:t>
            </a:r>
            <a:r>
              <a:rPr lang="en-US" altLang="zh-CN" sz="2000" dirty="0">
                <a:ea typeface="宋体" charset="-122"/>
              </a:rPr>
              <a:t> | </a:t>
            </a:r>
            <a:r>
              <a:rPr lang="en-US" altLang="zh-CN" sz="2000" dirty="0" err="1">
                <a:ea typeface="宋体" charset="-122"/>
              </a:rPr>
              <a:t>grep</a:t>
            </a:r>
            <a:r>
              <a:rPr lang="en-US" altLang="zh-CN" sz="2000" dirty="0">
                <a:ea typeface="宋体" charset="-122"/>
              </a:rPr>
              <a:t> </a:t>
            </a:r>
            <a:r>
              <a:rPr lang="en-US" altLang="zh-CN" sz="2000" dirty="0" err="1">
                <a:ea typeface="宋体" charset="-122"/>
              </a:rPr>
              <a:t>sshd</a:t>
            </a:r>
            <a:endParaRPr lang="en-US" altLang="zh-CN" sz="2000" dirty="0">
              <a:ea typeface="宋体" charset="-122"/>
            </a:endParaRPr>
          </a:p>
          <a:p>
            <a:pPr algn="l"/>
            <a:r>
              <a:rPr lang="zh-CN" altLang="en-US" sz="2000" dirty="0">
                <a:ea typeface="宋体" charset="-122"/>
              </a:rPr>
              <a:t>举例</a:t>
            </a:r>
            <a:r>
              <a:rPr lang="en-US" altLang="zh-CN" sz="2000" dirty="0">
                <a:ea typeface="宋体" charset="-122"/>
              </a:rPr>
              <a:t>4.</a:t>
            </a:r>
            <a:r>
              <a:rPr lang="zh-CN" altLang="en-US" sz="2000" dirty="0">
                <a:ea typeface="宋体" charset="-122"/>
              </a:rPr>
              <a:t>查看引导信息中关于第</a:t>
            </a:r>
            <a:r>
              <a:rPr lang="en-US" altLang="zh-CN" sz="2000" dirty="0">
                <a:ea typeface="宋体" charset="-122"/>
              </a:rPr>
              <a:t>1</a:t>
            </a:r>
            <a:r>
              <a:rPr lang="zh-CN" altLang="en-US" sz="2000" dirty="0">
                <a:ea typeface="宋体" charset="-122"/>
              </a:rPr>
              <a:t>块网卡的信息</a:t>
            </a:r>
            <a:endParaRPr lang="en-US" altLang="zh-CN" sz="2000" dirty="0">
              <a:ea typeface="宋体" charset="-122"/>
            </a:endParaRPr>
          </a:p>
          <a:p>
            <a:pPr algn="l"/>
            <a:r>
              <a:rPr lang="en-US" altLang="zh-CN" sz="2000" dirty="0">
                <a:ea typeface="宋体" charset="-122"/>
              </a:rPr>
              <a:t>           #</a:t>
            </a:r>
            <a:r>
              <a:rPr lang="en-US" altLang="zh-CN" sz="2000" dirty="0" err="1">
                <a:ea typeface="宋体" charset="-122"/>
              </a:rPr>
              <a:t>dmesg</a:t>
            </a:r>
            <a:endParaRPr lang="en-US" altLang="zh-CN" sz="2000" dirty="0">
              <a:ea typeface="宋体" charset="-122"/>
            </a:endParaRPr>
          </a:p>
          <a:p>
            <a:pPr algn="l"/>
            <a:r>
              <a:rPr lang="en-US" altLang="zh-CN" sz="2000" dirty="0">
                <a:ea typeface="宋体" charset="-122"/>
              </a:rPr>
              <a:t>           #</a:t>
            </a:r>
            <a:r>
              <a:rPr lang="en-US" altLang="zh-CN" sz="2000" dirty="0" err="1">
                <a:ea typeface="宋体" charset="-122"/>
              </a:rPr>
              <a:t>dmesg</a:t>
            </a:r>
            <a:r>
              <a:rPr lang="en-US" altLang="zh-CN" sz="2000" dirty="0">
                <a:ea typeface="宋体" charset="-122"/>
              </a:rPr>
              <a:t> | </a:t>
            </a:r>
            <a:r>
              <a:rPr lang="en-US" altLang="zh-CN" sz="2000" dirty="0" err="1">
                <a:ea typeface="宋体" charset="-122"/>
              </a:rPr>
              <a:t>grep</a:t>
            </a:r>
            <a:r>
              <a:rPr lang="en-US" altLang="zh-CN" sz="2000" dirty="0">
                <a:ea typeface="宋体" charset="-122"/>
              </a:rPr>
              <a:t> eth0</a:t>
            </a:r>
          </a:p>
          <a:p>
            <a:pPr algn="l"/>
            <a:endParaRPr lang="en-US" altLang="zh-CN" sz="2000" dirty="0">
              <a:ea typeface="宋体" charset="-122"/>
            </a:endParaRPr>
          </a:p>
          <a:p>
            <a:pPr algn="l"/>
            <a:r>
              <a:rPr lang="en-US" altLang="zh-CN" sz="2000" i="1" dirty="0" err="1">
                <a:latin typeface="华文新魏" pitchFamily="2" charset="-122"/>
                <a:ea typeface="华文新魏" pitchFamily="2" charset="-122"/>
              </a:rPr>
              <a:t>Grep</a:t>
            </a:r>
            <a:r>
              <a:rPr lang="en-US" altLang="zh-CN" sz="2000" i="1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zh-CN" altLang="en-US" sz="2000" i="1" dirty="0">
                <a:latin typeface="华文新魏" pitchFamily="2" charset="-122"/>
                <a:ea typeface="华文新魏" pitchFamily="2" charset="-122"/>
              </a:rPr>
              <a:t>是文本搜索</a:t>
            </a:r>
            <a:r>
              <a:rPr lang="zh-CN" altLang="en-US" sz="2000" i="1" dirty="0" smtClean="0">
                <a:latin typeface="华文新魏" pitchFamily="2" charset="-122"/>
                <a:ea typeface="华文新魏" pitchFamily="2" charset="-122"/>
              </a:rPr>
              <a:t>工具</a:t>
            </a:r>
            <a:r>
              <a:rPr lang="en-US" altLang="zh-CN" sz="2000" i="1" dirty="0" smtClean="0">
                <a:latin typeface="华文新魏" pitchFamily="2" charset="-122"/>
                <a:ea typeface="华文新魏" pitchFamily="2" charset="-122"/>
              </a:rPr>
              <a:t>(</a:t>
            </a:r>
            <a:r>
              <a:rPr lang="zh-CN" altLang="en-US" sz="2000" i="1" dirty="0" smtClean="0">
                <a:latin typeface="华文新魏" pitchFamily="2" charset="-122"/>
                <a:ea typeface="华文新魏" pitchFamily="2" charset="-122"/>
              </a:rPr>
              <a:t>命令）</a:t>
            </a:r>
            <a:endParaRPr lang="zh-CN" altLang="en-US" sz="2000" i="1" dirty="0"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00364" y="2786058"/>
            <a:ext cx="223651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8000" b="1" dirty="0" smtClean="0"/>
              <a:t>谢谢</a:t>
            </a:r>
            <a:endParaRPr lang="zh-CN" altLang="en-US" sz="80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顶测科技课件模版2015-10-26 - 副本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顶测科技课件模版2015-10-26 - 副本</Template>
  <TotalTime>110</TotalTime>
  <Words>428</Words>
  <Application>Microsoft Office PowerPoint</Application>
  <PresentationFormat>全屏显示(4:3)</PresentationFormat>
  <Paragraphs>121</Paragraphs>
  <Slides>8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9" baseType="lpstr">
      <vt:lpstr>顶测科技课件模版2015-10-26 - 副本</vt:lpstr>
      <vt:lpstr>幻灯片 1</vt:lpstr>
      <vt:lpstr>幻灯片 2</vt:lpstr>
      <vt:lpstr>幻灯片 3</vt:lpstr>
      <vt:lpstr>幻灯片 4</vt:lpstr>
      <vt:lpstr>系统重定向</vt:lpstr>
      <vt:lpstr>管道</vt:lpstr>
      <vt:lpstr>管道实例</vt:lpstr>
      <vt:lpstr>幻灯片 8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dingce</dc:creator>
  <cp:lastModifiedBy>dingce</cp:lastModifiedBy>
  <cp:revision>1</cp:revision>
  <dcterms:created xsi:type="dcterms:W3CDTF">2016-05-27T01:36:21Z</dcterms:created>
  <dcterms:modified xsi:type="dcterms:W3CDTF">2016-05-27T03:27:11Z</dcterms:modified>
</cp:coreProperties>
</file>